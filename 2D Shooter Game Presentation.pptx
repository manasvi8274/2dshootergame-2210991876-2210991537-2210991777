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1.xml"/><Relationship Id="rId10"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slideLayout" Target="../slideLayouts/slideLayout1.xml"/><Relationship Id="rId12" Type="http://schemas.openxmlformats.org/officeDocument/2006/relationships/notesSlide" Target="../notesSlides/notesSlide12.xml"/></Relationships>
</file>

<file path=ppt/slides/_rels/slide13.xml.rels><?xml version="1.0" encoding="UTF-8"?><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27"/>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FF2A6D"/>
          </a:solidFill>
          <a:ln/>
        </p:spPr>
      </p:sp>
      <p:sp>
        <p:nvSpPr>
          <p:cNvPr id="3" name="Shape 1"/>
          <p:cNvSpPr/>
          <p:nvPr/>
        </p:nvSpPr>
        <p:spPr>
          <a:xfrm>
            <a:off x="11871655" y="0"/>
            <a:ext cx="320040" cy="6858000"/>
          </a:xfrm>
          <a:prstGeom prst="rect">
            <a:avLst/>
          </a:prstGeom>
          <a:solidFill>
            <a:srgbClr val="00F0FF"/>
          </a:solidFill>
          <a:ln/>
        </p:spPr>
      </p:sp>
      <p:sp>
        <p:nvSpPr>
          <p:cNvPr id="4" name="Shape 2"/>
          <p:cNvSpPr/>
          <p:nvPr/>
        </p:nvSpPr>
        <p:spPr>
          <a:xfrm>
            <a:off x="8991295" y="548640"/>
            <a:ext cx="73152" cy="73152"/>
          </a:xfrm>
          <a:prstGeom prst="rect">
            <a:avLst/>
          </a:prstGeom>
          <a:solidFill>
            <a:srgbClr val="00F0FF">
              <a:alpha val="18000"/>
            </a:srgbClr>
          </a:solidFill>
          <a:ln/>
        </p:spPr>
      </p:sp>
      <p:sp>
        <p:nvSpPr>
          <p:cNvPr id="5" name="Shape 3"/>
          <p:cNvSpPr/>
          <p:nvPr/>
        </p:nvSpPr>
        <p:spPr>
          <a:xfrm>
            <a:off x="9192463" y="548640"/>
            <a:ext cx="73152" cy="73152"/>
          </a:xfrm>
          <a:prstGeom prst="rect">
            <a:avLst/>
          </a:prstGeom>
          <a:solidFill>
            <a:srgbClr val="00F0FF">
              <a:alpha val="10000"/>
            </a:srgbClr>
          </a:solidFill>
          <a:ln/>
        </p:spPr>
      </p:sp>
      <p:sp>
        <p:nvSpPr>
          <p:cNvPr id="6" name="Shape 4"/>
          <p:cNvSpPr/>
          <p:nvPr/>
        </p:nvSpPr>
        <p:spPr>
          <a:xfrm>
            <a:off x="9393631" y="548640"/>
            <a:ext cx="73152" cy="73152"/>
          </a:xfrm>
          <a:prstGeom prst="rect">
            <a:avLst/>
          </a:prstGeom>
          <a:solidFill>
            <a:srgbClr val="00F0FF">
              <a:alpha val="6000"/>
            </a:srgbClr>
          </a:solidFill>
          <a:ln/>
        </p:spPr>
      </p:sp>
      <p:sp>
        <p:nvSpPr>
          <p:cNvPr id="7" name="Shape 5"/>
          <p:cNvSpPr/>
          <p:nvPr/>
        </p:nvSpPr>
        <p:spPr>
          <a:xfrm>
            <a:off x="9594799" y="548640"/>
            <a:ext cx="73152" cy="73152"/>
          </a:xfrm>
          <a:prstGeom prst="rect">
            <a:avLst/>
          </a:prstGeom>
          <a:solidFill>
            <a:srgbClr val="00F0FF">
              <a:alpha val="18000"/>
            </a:srgbClr>
          </a:solidFill>
          <a:ln/>
        </p:spPr>
      </p:sp>
      <p:sp>
        <p:nvSpPr>
          <p:cNvPr id="8" name="Shape 6"/>
          <p:cNvSpPr/>
          <p:nvPr/>
        </p:nvSpPr>
        <p:spPr>
          <a:xfrm>
            <a:off x="9795967" y="548640"/>
            <a:ext cx="73152" cy="73152"/>
          </a:xfrm>
          <a:prstGeom prst="rect">
            <a:avLst/>
          </a:prstGeom>
          <a:solidFill>
            <a:srgbClr val="00F0FF">
              <a:alpha val="10000"/>
            </a:srgbClr>
          </a:solidFill>
          <a:ln/>
        </p:spPr>
      </p:sp>
      <p:sp>
        <p:nvSpPr>
          <p:cNvPr id="9" name="Shape 7"/>
          <p:cNvSpPr/>
          <p:nvPr/>
        </p:nvSpPr>
        <p:spPr>
          <a:xfrm>
            <a:off x="9997135" y="548640"/>
            <a:ext cx="73152" cy="73152"/>
          </a:xfrm>
          <a:prstGeom prst="rect">
            <a:avLst/>
          </a:prstGeom>
          <a:solidFill>
            <a:srgbClr val="00F0FF">
              <a:alpha val="6000"/>
            </a:srgbClr>
          </a:solidFill>
          <a:ln/>
        </p:spPr>
      </p:sp>
      <p:sp>
        <p:nvSpPr>
          <p:cNvPr id="10" name="Shape 8"/>
          <p:cNvSpPr/>
          <p:nvPr/>
        </p:nvSpPr>
        <p:spPr>
          <a:xfrm>
            <a:off x="10198303" y="548640"/>
            <a:ext cx="73152" cy="73152"/>
          </a:xfrm>
          <a:prstGeom prst="rect">
            <a:avLst/>
          </a:prstGeom>
          <a:solidFill>
            <a:srgbClr val="00F0FF">
              <a:alpha val="18000"/>
            </a:srgbClr>
          </a:solidFill>
          <a:ln/>
        </p:spPr>
      </p:sp>
      <p:sp>
        <p:nvSpPr>
          <p:cNvPr id="11" name="Shape 9"/>
          <p:cNvSpPr/>
          <p:nvPr/>
        </p:nvSpPr>
        <p:spPr>
          <a:xfrm>
            <a:off x="10399471" y="548640"/>
            <a:ext cx="73152" cy="73152"/>
          </a:xfrm>
          <a:prstGeom prst="rect">
            <a:avLst/>
          </a:prstGeom>
          <a:solidFill>
            <a:srgbClr val="00F0FF">
              <a:alpha val="10000"/>
            </a:srgbClr>
          </a:solidFill>
          <a:ln/>
        </p:spPr>
      </p:sp>
      <p:sp>
        <p:nvSpPr>
          <p:cNvPr id="12" name="Shape 10"/>
          <p:cNvSpPr/>
          <p:nvPr/>
        </p:nvSpPr>
        <p:spPr>
          <a:xfrm>
            <a:off x="10600639" y="548640"/>
            <a:ext cx="73152" cy="73152"/>
          </a:xfrm>
          <a:prstGeom prst="rect">
            <a:avLst/>
          </a:prstGeom>
          <a:solidFill>
            <a:srgbClr val="00F0FF">
              <a:alpha val="6000"/>
            </a:srgbClr>
          </a:solidFill>
          <a:ln/>
        </p:spPr>
      </p:sp>
      <p:sp>
        <p:nvSpPr>
          <p:cNvPr id="13" name="Shape 11"/>
          <p:cNvSpPr/>
          <p:nvPr/>
        </p:nvSpPr>
        <p:spPr>
          <a:xfrm>
            <a:off x="10801807" y="548640"/>
            <a:ext cx="73152" cy="73152"/>
          </a:xfrm>
          <a:prstGeom prst="rect">
            <a:avLst/>
          </a:prstGeom>
          <a:solidFill>
            <a:srgbClr val="00F0FF">
              <a:alpha val="18000"/>
            </a:srgbClr>
          </a:solidFill>
          <a:ln/>
        </p:spPr>
      </p:sp>
      <p:sp>
        <p:nvSpPr>
          <p:cNvPr id="14" name="Shape 12"/>
          <p:cNvSpPr/>
          <p:nvPr/>
        </p:nvSpPr>
        <p:spPr>
          <a:xfrm>
            <a:off x="11002975" y="548640"/>
            <a:ext cx="73152" cy="73152"/>
          </a:xfrm>
          <a:prstGeom prst="rect">
            <a:avLst/>
          </a:prstGeom>
          <a:solidFill>
            <a:srgbClr val="00F0FF">
              <a:alpha val="10000"/>
            </a:srgbClr>
          </a:solidFill>
          <a:ln/>
        </p:spPr>
      </p:sp>
      <p:sp>
        <p:nvSpPr>
          <p:cNvPr id="15" name="Shape 13"/>
          <p:cNvSpPr/>
          <p:nvPr/>
        </p:nvSpPr>
        <p:spPr>
          <a:xfrm>
            <a:off x="11204143" y="548640"/>
            <a:ext cx="73152" cy="73152"/>
          </a:xfrm>
          <a:prstGeom prst="rect">
            <a:avLst/>
          </a:prstGeom>
          <a:solidFill>
            <a:srgbClr val="00F0FF">
              <a:alpha val="6000"/>
            </a:srgbClr>
          </a:solidFill>
          <a:ln/>
        </p:spPr>
      </p:sp>
      <p:sp>
        <p:nvSpPr>
          <p:cNvPr id="16" name="Shape 14"/>
          <p:cNvSpPr/>
          <p:nvPr/>
        </p:nvSpPr>
        <p:spPr>
          <a:xfrm>
            <a:off x="8991295" y="749808"/>
            <a:ext cx="73152" cy="73152"/>
          </a:xfrm>
          <a:prstGeom prst="rect">
            <a:avLst/>
          </a:prstGeom>
          <a:solidFill>
            <a:srgbClr val="00F0FF">
              <a:alpha val="10000"/>
            </a:srgbClr>
          </a:solidFill>
          <a:ln/>
        </p:spPr>
      </p:sp>
      <p:sp>
        <p:nvSpPr>
          <p:cNvPr id="17" name="Shape 15"/>
          <p:cNvSpPr/>
          <p:nvPr/>
        </p:nvSpPr>
        <p:spPr>
          <a:xfrm>
            <a:off x="9192463" y="749808"/>
            <a:ext cx="73152" cy="73152"/>
          </a:xfrm>
          <a:prstGeom prst="rect">
            <a:avLst/>
          </a:prstGeom>
          <a:solidFill>
            <a:srgbClr val="00F0FF">
              <a:alpha val="6000"/>
            </a:srgbClr>
          </a:solidFill>
          <a:ln/>
        </p:spPr>
      </p:sp>
      <p:sp>
        <p:nvSpPr>
          <p:cNvPr id="18" name="Shape 16"/>
          <p:cNvSpPr/>
          <p:nvPr/>
        </p:nvSpPr>
        <p:spPr>
          <a:xfrm>
            <a:off x="9393631" y="749808"/>
            <a:ext cx="73152" cy="73152"/>
          </a:xfrm>
          <a:prstGeom prst="rect">
            <a:avLst/>
          </a:prstGeom>
          <a:solidFill>
            <a:srgbClr val="00F0FF">
              <a:alpha val="18000"/>
            </a:srgbClr>
          </a:solidFill>
          <a:ln/>
        </p:spPr>
      </p:sp>
      <p:sp>
        <p:nvSpPr>
          <p:cNvPr id="19" name="Shape 17"/>
          <p:cNvSpPr/>
          <p:nvPr/>
        </p:nvSpPr>
        <p:spPr>
          <a:xfrm>
            <a:off x="9594799" y="749808"/>
            <a:ext cx="73152" cy="73152"/>
          </a:xfrm>
          <a:prstGeom prst="rect">
            <a:avLst/>
          </a:prstGeom>
          <a:solidFill>
            <a:srgbClr val="00F0FF">
              <a:alpha val="10000"/>
            </a:srgbClr>
          </a:solidFill>
          <a:ln/>
        </p:spPr>
      </p:sp>
      <p:sp>
        <p:nvSpPr>
          <p:cNvPr id="20" name="Shape 18"/>
          <p:cNvSpPr/>
          <p:nvPr/>
        </p:nvSpPr>
        <p:spPr>
          <a:xfrm>
            <a:off x="9795967" y="749808"/>
            <a:ext cx="73152" cy="73152"/>
          </a:xfrm>
          <a:prstGeom prst="rect">
            <a:avLst/>
          </a:prstGeom>
          <a:solidFill>
            <a:srgbClr val="00F0FF">
              <a:alpha val="6000"/>
            </a:srgbClr>
          </a:solidFill>
          <a:ln/>
        </p:spPr>
      </p:sp>
      <p:sp>
        <p:nvSpPr>
          <p:cNvPr id="21" name="Shape 19"/>
          <p:cNvSpPr/>
          <p:nvPr/>
        </p:nvSpPr>
        <p:spPr>
          <a:xfrm>
            <a:off x="9997135" y="749808"/>
            <a:ext cx="73152" cy="73152"/>
          </a:xfrm>
          <a:prstGeom prst="rect">
            <a:avLst/>
          </a:prstGeom>
          <a:solidFill>
            <a:srgbClr val="00F0FF">
              <a:alpha val="18000"/>
            </a:srgbClr>
          </a:solidFill>
          <a:ln/>
        </p:spPr>
      </p:sp>
      <p:sp>
        <p:nvSpPr>
          <p:cNvPr id="22" name="Shape 20"/>
          <p:cNvSpPr/>
          <p:nvPr/>
        </p:nvSpPr>
        <p:spPr>
          <a:xfrm>
            <a:off x="10198303" y="749808"/>
            <a:ext cx="73152" cy="73152"/>
          </a:xfrm>
          <a:prstGeom prst="rect">
            <a:avLst/>
          </a:prstGeom>
          <a:solidFill>
            <a:srgbClr val="00F0FF">
              <a:alpha val="10000"/>
            </a:srgbClr>
          </a:solidFill>
          <a:ln/>
        </p:spPr>
      </p:sp>
      <p:sp>
        <p:nvSpPr>
          <p:cNvPr id="23" name="Shape 21"/>
          <p:cNvSpPr/>
          <p:nvPr/>
        </p:nvSpPr>
        <p:spPr>
          <a:xfrm>
            <a:off x="10399471" y="749808"/>
            <a:ext cx="73152" cy="73152"/>
          </a:xfrm>
          <a:prstGeom prst="rect">
            <a:avLst/>
          </a:prstGeom>
          <a:solidFill>
            <a:srgbClr val="00F0FF">
              <a:alpha val="6000"/>
            </a:srgbClr>
          </a:solidFill>
          <a:ln/>
        </p:spPr>
      </p:sp>
      <p:sp>
        <p:nvSpPr>
          <p:cNvPr id="24" name="Shape 22"/>
          <p:cNvSpPr/>
          <p:nvPr/>
        </p:nvSpPr>
        <p:spPr>
          <a:xfrm>
            <a:off x="10600639" y="749808"/>
            <a:ext cx="73152" cy="73152"/>
          </a:xfrm>
          <a:prstGeom prst="rect">
            <a:avLst/>
          </a:prstGeom>
          <a:solidFill>
            <a:srgbClr val="00F0FF">
              <a:alpha val="18000"/>
            </a:srgbClr>
          </a:solidFill>
          <a:ln/>
        </p:spPr>
      </p:sp>
      <p:sp>
        <p:nvSpPr>
          <p:cNvPr id="25" name="Shape 23"/>
          <p:cNvSpPr/>
          <p:nvPr/>
        </p:nvSpPr>
        <p:spPr>
          <a:xfrm>
            <a:off x="10801807" y="749808"/>
            <a:ext cx="73152" cy="73152"/>
          </a:xfrm>
          <a:prstGeom prst="rect">
            <a:avLst/>
          </a:prstGeom>
          <a:solidFill>
            <a:srgbClr val="00F0FF">
              <a:alpha val="10000"/>
            </a:srgbClr>
          </a:solidFill>
          <a:ln/>
        </p:spPr>
      </p:sp>
      <p:sp>
        <p:nvSpPr>
          <p:cNvPr id="26" name="Shape 24"/>
          <p:cNvSpPr/>
          <p:nvPr/>
        </p:nvSpPr>
        <p:spPr>
          <a:xfrm>
            <a:off x="11002975" y="749808"/>
            <a:ext cx="73152" cy="73152"/>
          </a:xfrm>
          <a:prstGeom prst="rect">
            <a:avLst/>
          </a:prstGeom>
          <a:solidFill>
            <a:srgbClr val="00F0FF">
              <a:alpha val="6000"/>
            </a:srgbClr>
          </a:solidFill>
          <a:ln/>
        </p:spPr>
      </p:sp>
      <p:sp>
        <p:nvSpPr>
          <p:cNvPr id="27" name="Shape 25"/>
          <p:cNvSpPr/>
          <p:nvPr/>
        </p:nvSpPr>
        <p:spPr>
          <a:xfrm>
            <a:off x="11204143" y="749808"/>
            <a:ext cx="73152" cy="73152"/>
          </a:xfrm>
          <a:prstGeom prst="rect">
            <a:avLst/>
          </a:prstGeom>
          <a:solidFill>
            <a:srgbClr val="00F0FF">
              <a:alpha val="18000"/>
            </a:srgbClr>
          </a:solidFill>
          <a:ln/>
        </p:spPr>
      </p:sp>
      <p:sp>
        <p:nvSpPr>
          <p:cNvPr id="28" name="Shape 26"/>
          <p:cNvSpPr/>
          <p:nvPr/>
        </p:nvSpPr>
        <p:spPr>
          <a:xfrm>
            <a:off x="8991295" y="950976"/>
            <a:ext cx="73152" cy="73152"/>
          </a:xfrm>
          <a:prstGeom prst="rect">
            <a:avLst/>
          </a:prstGeom>
          <a:solidFill>
            <a:srgbClr val="00F0FF">
              <a:alpha val="6000"/>
            </a:srgbClr>
          </a:solidFill>
          <a:ln/>
        </p:spPr>
      </p:sp>
      <p:sp>
        <p:nvSpPr>
          <p:cNvPr id="29" name="Shape 27"/>
          <p:cNvSpPr/>
          <p:nvPr/>
        </p:nvSpPr>
        <p:spPr>
          <a:xfrm>
            <a:off x="9192463" y="950976"/>
            <a:ext cx="73152" cy="73152"/>
          </a:xfrm>
          <a:prstGeom prst="rect">
            <a:avLst/>
          </a:prstGeom>
          <a:solidFill>
            <a:srgbClr val="00F0FF">
              <a:alpha val="18000"/>
            </a:srgbClr>
          </a:solidFill>
          <a:ln/>
        </p:spPr>
      </p:sp>
      <p:sp>
        <p:nvSpPr>
          <p:cNvPr id="30" name="Shape 28"/>
          <p:cNvSpPr/>
          <p:nvPr/>
        </p:nvSpPr>
        <p:spPr>
          <a:xfrm>
            <a:off x="9393631" y="950976"/>
            <a:ext cx="73152" cy="73152"/>
          </a:xfrm>
          <a:prstGeom prst="rect">
            <a:avLst/>
          </a:prstGeom>
          <a:solidFill>
            <a:srgbClr val="00F0FF">
              <a:alpha val="10000"/>
            </a:srgbClr>
          </a:solidFill>
          <a:ln/>
        </p:spPr>
      </p:sp>
      <p:sp>
        <p:nvSpPr>
          <p:cNvPr id="31" name="Shape 29"/>
          <p:cNvSpPr/>
          <p:nvPr/>
        </p:nvSpPr>
        <p:spPr>
          <a:xfrm>
            <a:off x="9594799" y="950976"/>
            <a:ext cx="73152" cy="73152"/>
          </a:xfrm>
          <a:prstGeom prst="rect">
            <a:avLst/>
          </a:prstGeom>
          <a:solidFill>
            <a:srgbClr val="00F0FF">
              <a:alpha val="6000"/>
            </a:srgbClr>
          </a:solidFill>
          <a:ln/>
        </p:spPr>
      </p:sp>
      <p:sp>
        <p:nvSpPr>
          <p:cNvPr id="32" name="Shape 30"/>
          <p:cNvSpPr/>
          <p:nvPr/>
        </p:nvSpPr>
        <p:spPr>
          <a:xfrm>
            <a:off x="9795967" y="950976"/>
            <a:ext cx="73152" cy="73152"/>
          </a:xfrm>
          <a:prstGeom prst="rect">
            <a:avLst/>
          </a:prstGeom>
          <a:solidFill>
            <a:srgbClr val="00F0FF">
              <a:alpha val="18000"/>
            </a:srgbClr>
          </a:solidFill>
          <a:ln/>
        </p:spPr>
      </p:sp>
      <p:sp>
        <p:nvSpPr>
          <p:cNvPr id="33" name="Shape 31"/>
          <p:cNvSpPr/>
          <p:nvPr/>
        </p:nvSpPr>
        <p:spPr>
          <a:xfrm>
            <a:off x="9997135" y="950976"/>
            <a:ext cx="73152" cy="73152"/>
          </a:xfrm>
          <a:prstGeom prst="rect">
            <a:avLst/>
          </a:prstGeom>
          <a:solidFill>
            <a:srgbClr val="00F0FF">
              <a:alpha val="10000"/>
            </a:srgbClr>
          </a:solidFill>
          <a:ln/>
        </p:spPr>
      </p:sp>
      <p:sp>
        <p:nvSpPr>
          <p:cNvPr id="34" name="Shape 32"/>
          <p:cNvSpPr/>
          <p:nvPr/>
        </p:nvSpPr>
        <p:spPr>
          <a:xfrm>
            <a:off x="10198303" y="950976"/>
            <a:ext cx="73152" cy="73152"/>
          </a:xfrm>
          <a:prstGeom prst="rect">
            <a:avLst/>
          </a:prstGeom>
          <a:solidFill>
            <a:srgbClr val="00F0FF">
              <a:alpha val="6000"/>
            </a:srgbClr>
          </a:solidFill>
          <a:ln/>
        </p:spPr>
      </p:sp>
      <p:sp>
        <p:nvSpPr>
          <p:cNvPr id="35" name="Shape 33"/>
          <p:cNvSpPr/>
          <p:nvPr/>
        </p:nvSpPr>
        <p:spPr>
          <a:xfrm>
            <a:off x="10399471" y="950976"/>
            <a:ext cx="73152" cy="73152"/>
          </a:xfrm>
          <a:prstGeom prst="rect">
            <a:avLst/>
          </a:prstGeom>
          <a:solidFill>
            <a:srgbClr val="00F0FF">
              <a:alpha val="18000"/>
            </a:srgbClr>
          </a:solidFill>
          <a:ln/>
        </p:spPr>
      </p:sp>
      <p:sp>
        <p:nvSpPr>
          <p:cNvPr id="36" name="Shape 34"/>
          <p:cNvSpPr/>
          <p:nvPr/>
        </p:nvSpPr>
        <p:spPr>
          <a:xfrm>
            <a:off x="10600639" y="950976"/>
            <a:ext cx="73152" cy="73152"/>
          </a:xfrm>
          <a:prstGeom prst="rect">
            <a:avLst/>
          </a:prstGeom>
          <a:solidFill>
            <a:srgbClr val="00F0FF">
              <a:alpha val="10000"/>
            </a:srgbClr>
          </a:solidFill>
          <a:ln/>
        </p:spPr>
      </p:sp>
      <p:sp>
        <p:nvSpPr>
          <p:cNvPr id="37" name="Shape 35"/>
          <p:cNvSpPr/>
          <p:nvPr/>
        </p:nvSpPr>
        <p:spPr>
          <a:xfrm>
            <a:off x="10801807" y="950976"/>
            <a:ext cx="73152" cy="73152"/>
          </a:xfrm>
          <a:prstGeom prst="rect">
            <a:avLst/>
          </a:prstGeom>
          <a:solidFill>
            <a:srgbClr val="00F0FF">
              <a:alpha val="6000"/>
            </a:srgbClr>
          </a:solidFill>
          <a:ln/>
        </p:spPr>
      </p:sp>
      <p:sp>
        <p:nvSpPr>
          <p:cNvPr id="38" name="Shape 36"/>
          <p:cNvSpPr/>
          <p:nvPr/>
        </p:nvSpPr>
        <p:spPr>
          <a:xfrm>
            <a:off x="11002975" y="950976"/>
            <a:ext cx="73152" cy="73152"/>
          </a:xfrm>
          <a:prstGeom prst="rect">
            <a:avLst/>
          </a:prstGeom>
          <a:solidFill>
            <a:srgbClr val="00F0FF">
              <a:alpha val="18000"/>
            </a:srgbClr>
          </a:solidFill>
          <a:ln/>
        </p:spPr>
      </p:sp>
      <p:sp>
        <p:nvSpPr>
          <p:cNvPr id="39" name="Shape 37"/>
          <p:cNvSpPr/>
          <p:nvPr/>
        </p:nvSpPr>
        <p:spPr>
          <a:xfrm>
            <a:off x="11204143" y="950976"/>
            <a:ext cx="73152" cy="73152"/>
          </a:xfrm>
          <a:prstGeom prst="rect">
            <a:avLst/>
          </a:prstGeom>
          <a:solidFill>
            <a:srgbClr val="00F0FF">
              <a:alpha val="10000"/>
            </a:srgbClr>
          </a:solidFill>
          <a:ln/>
        </p:spPr>
      </p:sp>
      <p:sp>
        <p:nvSpPr>
          <p:cNvPr id="40" name="Shape 38"/>
          <p:cNvSpPr/>
          <p:nvPr/>
        </p:nvSpPr>
        <p:spPr>
          <a:xfrm>
            <a:off x="8991295" y="1152144"/>
            <a:ext cx="73152" cy="73152"/>
          </a:xfrm>
          <a:prstGeom prst="rect">
            <a:avLst/>
          </a:prstGeom>
          <a:solidFill>
            <a:srgbClr val="00F0FF">
              <a:alpha val="18000"/>
            </a:srgbClr>
          </a:solidFill>
          <a:ln/>
        </p:spPr>
      </p:sp>
      <p:sp>
        <p:nvSpPr>
          <p:cNvPr id="41" name="Shape 39"/>
          <p:cNvSpPr/>
          <p:nvPr/>
        </p:nvSpPr>
        <p:spPr>
          <a:xfrm>
            <a:off x="9192463" y="1152144"/>
            <a:ext cx="73152" cy="73152"/>
          </a:xfrm>
          <a:prstGeom prst="rect">
            <a:avLst/>
          </a:prstGeom>
          <a:solidFill>
            <a:srgbClr val="00F0FF">
              <a:alpha val="10000"/>
            </a:srgbClr>
          </a:solidFill>
          <a:ln/>
        </p:spPr>
      </p:sp>
      <p:sp>
        <p:nvSpPr>
          <p:cNvPr id="42" name="Shape 40"/>
          <p:cNvSpPr/>
          <p:nvPr/>
        </p:nvSpPr>
        <p:spPr>
          <a:xfrm>
            <a:off x="9393631" y="1152144"/>
            <a:ext cx="73152" cy="73152"/>
          </a:xfrm>
          <a:prstGeom prst="rect">
            <a:avLst/>
          </a:prstGeom>
          <a:solidFill>
            <a:srgbClr val="00F0FF">
              <a:alpha val="6000"/>
            </a:srgbClr>
          </a:solidFill>
          <a:ln/>
        </p:spPr>
      </p:sp>
      <p:sp>
        <p:nvSpPr>
          <p:cNvPr id="43" name="Shape 41"/>
          <p:cNvSpPr/>
          <p:nvPr/>
        </p:nvSpPr>
        <p:spPr>
          <a:xfrm>
            <a:off x="9594799" y="1152144"/>
            <a:ext cx="73152" cy="73152"/>
          </a:xfrm>
          <a:prstGeom prst="rect">
            <a:avLst/>
          </a:prstGeom>
          <a:solidFill>
            <a:srgbClr val="00F0FF">
              <a:alpha val="18000"/>
            </a:srgbClr>
          </a:solidFill>
          <a:ln/>
        </p:spPr>
      </p:sp>
      <p:sp>
        <p:nvSpPr>
          <p:cNvPr id="44" name="Shape 42"/>
          <p:cNvSpPr/>
          <p:nvPr/>
        </p:nvSpPr>
        <p:spPr>
          <a:xfrm>
            <a:off x="9795967" y="1152144"/>
            <a:ext cx="73152" cy="73152"/>
          </a:xfrm>
          <a:prstGeom prst="rect">
            <a:avLst/>
          </a:prstGeom>
          <a:solidFill>
            <a:srgbClr val="00F0FF">
              <a:alpha val="10000"/>
            </a:srgbClr>
          </a:solidFill>
          <a:ln/>
        </p:spPr>
      </p:sp>
      <p:sp>
        <p:nvSpPr>
          <p:cNvPr id="45" name="Shape 43"/>
          <p:cNvSpPr/>
          <p:nvPr/>
        </p:nvSpPr>
        <p:spPr>
          <a:xfrm>
            <a:off x="9997135" y="1152144"/>
            <a:ext cx="73152" cy="73152"/>
          </a:xfrm>
          <a:prstGeom prst="rect">
            <a:avLst/>
          </a:prstGeom>
          <a:solidFill>
            <a:srgbClr val="00F0FF">
              <a:alpha val="6000"/>
            </a:srgbClr>
          </a:solidFill>
          <a:ln/>
        </p:spPr>
      </p:sp>
      <p:sp>
        <p:nvSpPr>
          <p:cNvPr id="46" name="Shape 44"/>
          <p:cNvSpPr/>
          <p:nvPr/>
        </p:nvSpPr>
        <p:spPr>
          <a:xfrm>
            <a:off x="10198303" y="1152144"/>
            <a:ext cx="73152" cy="73152"/>
          </a:xfrm>
          <a:prstGeom prst="rect">
            <a:avLst/>
          </a:prstGeom>
          <a:solidFill>
            <a:srgbClr val="00F0FF">
              <a:alpha val="18000"/>
            </a:srgbClr>
          </a:solidFill>
          <a:ln/>
        </p:spPr>
      </p:sp>
      <p:sp>
        <p:nvSpPr>
          <p:cNvPr id="47" name="Shape 45"/>
          <p:cNvSpPr/>
          <p:nvPr/>
        </p:nvSpPr>
        <p:spPr>
          <a:xfrm>
            <a:off x="10399471" y="1152144"/>
            <a:ext cx="73152" cy="73152"/>
          </a:xfrm>
          <a:prstGeom prst="rect">
            <a:avLst/>
          </a:prstGeom>
          <a:solidFill>
            <a:srgbClr val="00F0FF">
              <a:alpha val="10000"/>
            </a:srgbClr>
          </a:solidFill>
          <a:ln/>
        </p:spPr>
      </p:sp>
      <p:sp>
        <p:nvSpPr>
          <p:cNvPr id="48" name="Shape 46"/>
          <p:cNvSpPr/>
          <p:nvPr/>
        </p:nvSpPr>
        <p:spPr>
          <a:xfrm>
            <a:off x="10600639" y="1152144"/>
            <a:ext cx="73152" cy="73152"/>
          </a:xfrm>
          <a:prstGeom prst="rect">
            <a:avLst/>
          </a:prstGeom>
          <a:solidFill>
            <a:srgbClr val="00F0FF">
              <a:alpha val="6000"/>
            </a:srgbClr>
          </a:solidFill>
          <a:ln/>
        </p:spPr>
      </p:sp>
      <p:sp>
        <p:nvSpPr>
          <p:cNvPr id="49" name="Shape 47"/>
          <p:cNvSpPr/>
          <p:nvPr/>
        </p:nvSpPr>
        <p:spPr>
          <a:xfrm>
            <a:off x="10801807" y="1152144"/>
            <a:ext cx="73152" cy="73152"/>
          </a:xfrm>
          <a:prstGeom prst="rect">
            <a:avLst/>
          </a:prstGeom>
          <a:solidFill>
            <a:srgbClr val="00F0FF">
              <a:alpha val="18000"/>
            </a:srgbClr>
          </a:solidFill>
          <a:ln/>
        </p:spPr>
      </p:sp>
      <p:sp>
        <p:nvSpPr>
          <p:cNvPr id="50" name="Shape 48"/>
          <p:cNvSpPr/>
          <p:nvPr/>
        </p:nvSpPr>
        <p:spPr>
          <a:xfrm>
            <a:off x="11002975" y="1152144"/>
            <a:ext cx="73152" cy="73152"/>
          </a:xfrm>
          <a:prstGeom prst="rect">
            <a:avLst/>
          </a:prstGeom>
          <a:solidFill>
            <a:srgbClr val="00F0FF">
              <a:alpha val="10000"/>
            </a:srgbClr>
          </a:solidFill>
          <a:ln/>
        </p:spPr>
      </p:sp>
      <p:sp>
        <p:nvSpPr>
          <p:cNvPr id="51" name="Shape 49"/>
          <p:cNvSpPr/>
          <p:nvPr/>
        </p:nvSpPr>
        <p:spPr>
          <a:xfrm>
            <a:off x="11204143" y="1152144"/>
            <a:ext cx="73152" cy="73152"/>
          </a:xfrm>
          <a:prstGeom prst="rect">
            <a:avLst/>
          </a:prstGeom>
          <a:solidFill>
            <a:srgbClr val="00F0FF">
              <a:alpha val="6000"/>
            </a:srgbClr>
          </a:solidFill>
          <a:ln/>
        </p:spPr>
      </p:sp>
      <p:sp>
        <p:nvSpPr>
          <p:cNvPr id="52" name="Shape 50"/>
          <p:cNvSpPr/>
          <p:nvPr/>
        </p:nvSpPr>
        <p:spPr>
          <a:xfrm>
            <a:off x="8991295" y="1353312"/>
            <a:ext cx="73152" cy="73152"/>
          </a:xfrm>
          <a:prstGeom prst="rect">
            <a:avLst/>
          </a:prstGeom>
          <a:solidFill>
            <a:srgbClr val="00F0FF">
              <a:alpha val="10000"/>
            </a:srgbClr>
          </a:solidFill>
          <a:ln/>
        </p:spPr>
      </p:sp>
      <p:sp>
        <p:nvSpPr>
          <p:cNvPr id="53" name="Shape 51"/>
          <p:cNvSpPr/>
          <p:nvPr/>
        </p:nvSpPr>
        <p:spPr>
          <a:xfrm>
            <a:off x="9192463" y="1353312"/>
            <a:ext cx="73152" cy="73152"/>
          </a:xfrm>
          <a:prstGeom prst="rect">
            <a:avLst/>
          </a:prstGeom>
          <a:solidFill>
            <a:srgbClr val="00F0FF">
              <a:alpha val="6000"/>
            </a:srgbClr>
          </a:solidFill>
          <a:ln/>
        </p:spPr>
      </p:sp>
      <p:sp>
        <p:nvSpPr>
          <p:cNvPr id="54" name="Shape 52"/>
          <p:cNvSpPr/>
          <p:nvPr/>
        </p:nvSpPr>
        <p:spPr>
          <a:xfrm>
            <a:off x="9393631" y="1353312"/>
            <a:ext cx="73152" cy="73152"/>
          </a:xfrm>
          <a:prstGeom prst="rect">
            <a:avLst/>
          </a:prstGeom>
          <a:solidFill>
            <a:srgbClr val="00F0FF">
              <a:alpha val="18000"/>
            </a:srgbClr>
          </a:solidFill>
          <a:ln/>
        </p:spPr>
      </p:sp>
      <p:sp>
        <p:nvSpPr>
          <p:cNvPr id="55" name="Shape 53"/>
          <p:cNvSpPr/>
          <p:nvPr/>
        </p:nvSpPr>
        <p:spPr>
          <a:xfrm>
            <a:off x="9594799" y="1353312"/>
            <a:ext cx="73152" cy="73152"/>
          </a:xfrm>
          <a:prstGeom prst="rect">
            <a:avLst/>
          </a:prstGeom>
          <a:solidFill>
            <a:srgbClr val="00F0FF">
              <a:alpha val="10000"/>
            </a:srgbClr>
          </a:solidFill>
          <a:ln/>
        </p:spPr>
      </p:sp>
      <p:sp>
        <p:nvSpPr>
          <p:cNvPr id="56" name="Shape 54"/>
          <p:cNvSpPr/>
          <p:nvPr/>
        </p:nvSpPr>
        <p:spPr>
          <a:xfrm>
            <a:off x="9795967" y="1353312"/>
            <a:ext cx="73152" cy="73152"/>
          </a:xfrm>
          <a:prstGeom prst="rect">
            <a:avLst/>
          </a:prstGeom>
          <a:solidFill>
            <a:srgbClr val="00F0FF">
              <a:alpha val="6000"/>
            </a:srgbClr>
          </a:solidFill>
          <a:ln/>
        </p:spPr>
      </p:sp>
      <p:sp>
        <p:nvSpPr>
          <p:cNvPr id="57" name="Shape 55"/>
          <p:cNvSpPr/>
          <p:nvPr/>
        </p:nvSpPr>
        <p:spPr>
          <a:xfrm>
            <a:off x="9997135" y="1353312"/>
            <a:ext cx="73152" cy="73152"/>
          </a:xfrm>
          <a:prstGeom prst="rect">
            <a:avLst/>
          </a:prstGeom>
          <a:solidFill>
            <a:srgbClr val="00F0FF">
              <a:alpha val="18000"/>
            </a:srgbClr>
          </a:solidFill>
          <a:ln/>
        </p:spPr>
      </p:sp>
      <p:sp>
        <p:nvSpPr>
          <p:cNvPr id="58" name="Shape 56"/>
          <p:cNvSpPr/>
          <p:nvPr/>
        </p:nvSpPr>
        <p:spPr>
          <a:xfrm>
            <a:off x="10198303" y="1353312"/>
            <a:ext cx="73152" cy="73152"/>
          </a:xfrm>
          <a:prstGeom prst="rect">
            <a:avLst/>
          </a:prstGeom>
          <a:solidFill>
            <a:srgbClr val="00F0FF">
              <a:alpha val="10000"/>
            </a:srgbClr>
          </a:solidFill>
          <a:ln/>
        </p:spPr>
      </p:sp>
      <p:sp>
        <p:nvSpPr>
          <p:cNvPr id="59" name="Shape 57"/>
          <p:cNvSpPr/>
          <p:nvPr/>
        </p:nvSpPr>
        <p:spPr>
          <a:xfrm>
            <a:off x="10399471" y="1353312"/>
            <a:ext cx="73152" cy="73152"/>
          </a:xfrm>
          <a:prstGeom prst="rect">
            <a:avLst/>
          </a:prstGeom>
          <a:solidFill>
            <a:srgbClr val="00F0FF">
              <a:alpha val="6000"/>
            </a:srgbClr>
          </a:solidFill>
          <a:ln/>
        </p:spPr>
      </p:sp>
      <p:sp>
        <p:nvSpPr>
          <p:cNvPr id="60" name="Shape 58"/>
          <p:cNvSpPr/>
          <p:nvPr/>
        </p:nvSpPr>
        <p:spPr>
          <a:xfrm>
            <a:off x="10600639" y="1353312"/>
            <a:ext cx="73152" cy="73152"/>
          </a:xfrm>
          <a:prstGeom prst="rect">
            <a:avLst/>
          </a:prstGeom>
          <a:solidFill>
            <a:srgbClr val="00F0FF">
              <a:alpha val="18000"/>
            </a:srgbClr>
          </a:solidFill>
          <a:ln/>
        </p:spPr>
      </p:sp>
      <p:sp>
        <p:nvSpPr>
          <p:cNvPr id="61" name="Shape 59"/>
          <p:cNvSpPr/>
          <p:nvPr/>
        </p:nvSpPr>
        <p:spPr>
          <a:xfrm>
            <a:off x="10801807" y="1353312"/>
            <a:ext cx="73152" cy="73152"/>
          </a:xfrm>
          <a:prstGeom prst="rect">
            <a:avLst/>
          </a:prstGeom>
          <a:solidFill>
            <a:srgbClr val="00F0FF">
              <a:alpha val="10000"/>
            </a:srgbClr>
          </a:solidFill>
          <a:ln/>
        </p:spPr>
      </p:sp>
      <p:sp>
        <p:nvSpPr>
          <p:cNvPr id="62" name="Shape 60"/>
          <p:cNvSpPr/>
          <p:nvPr/>
        </p:nvSpPr>
        <p:spPr>
          <a:xfrm>
            <a:off x="11002975" y="1353312"/>
            <a:ext cx="73152" cy="73152"/>
          </a:xfrm>
          <a:prstGeom prst="rect">
            <a:avLst/>
          </a:prstGeom>
          <a:solidFill>
            <a:srgbClr val="00F0FF">
              <a:alpha val="6000"/>
            </a:srgbClr>
          </a:solidFill>
          <a:ln/>
        </p:spPr>
      </p:sp>
      <p:sp>
        <p:nvSpPr>
          <p:cNvPr id="63" name="Shape 61"/>
          <p:cNvSpPr/>
          <p:nvPr/>
        </p:nvSpPr>
        <p:spPr>
          <a:xfrm>
            <a:off x="11204143" y="1353312"/>
            <a:ext cx="73152" cy="73152"/>
          </a:xfrm>
          <a:prstGeom prst="rect">
            <a:avLst/>
          </a:prstGeom>
          <a:solidFill>
            <a:srgbClr val="00F0FF">
              <a:alpha val="18000"/>
            </a:srgbClr>
          </a:solidFill>
          <a:ln/>
        </p:spPr>
      </p:sp>
      <p:sp>
        <p:nvSpPr>
          <p:cNvPr id="64" name="Shape 62"/>
          <p:cNvSpPr/>
          <p:nvPr/>
        </p:nvSpPr>
        <p:spPr>
          <a:xfrm>
            <a:off x="8991295" y="1554480"/>
            <a:ext cx="73152" cy="73152"/>
          </a:xfrm>
          <a:prstGeom prst="rect">
            <a:avLst/>
          </a:prstGeom>
          <a:solidFill>
            <a:srgbClr val="00F0FF">
              <a:alpha val="6000"/>
            </a:srgbClr>
          </a:solidFill>
          <a:ln/>
        </p:spPr>
      </p:sp>
      <p:sp>
        <p:nvSpPr>
          <p:cNvPr id="65" name="Shape 63"/>
          <p:cNvSpPr/>
          <p:nvPr/>
        </p:nvSpPr>
        <p:spPr>
          <a:xfrm>
            <a:off x="9192463" y="1554480"/>
            <a:ext cx="73152" cy="73152"/>
          </a:xfrm>
          <a:prstGeom prst="rect">
            <a:avLst/>
          </a:prstGeom>
          <a:solidFill>
            <a:srgbClr val="00F0FF">
              <a:alpha val="18000"/>
            </a:srgbClr>
          </a:solidFill>
          <a:ln/>
        </p:spPr>
      </p:sp>
      <p:sp>
        <p:nvSpPr>
          <p:cNvPr id="66" name="Shape 64"/>
          <p:cNvSpPr/>
          <p:nvPr/>
        </p:nvSpPr>
        <p:spPr>
          <a:xfrm>
            <a:off x="9393631" y="1554480"/>
            <a:ext cx="73152" cy="73152"/>
          </a:xfrm>
          <a:prstGeom prst="rect">
            <a:avLst/>
          </a:prstGeom>
          <a:solidFill>
            <a:srgbClr val="00F0FF">
              <a:alpha val="10000"/>
            </a:srgbClr>
          </a:solidFill>
          <a:ln/>
        </p:spPr>
      </p:sp>
      <p:sp>
        <p:nvSpPr>
          <p:cNvPr id="67" name="Shape 65"/>
          <p:cNvSpPr/>
          <p:nvPr/>
        </p:nvSpPr>
        <p:spPr>
          <a:xfrm>
            <a:off x="9594799" y="1554480"/>
            <a:ext cx="73152" cy="73152"/>
          </a:xfrm>
          <a:prstGeom prst="rect">
            <a:avLst/>
          </a:prstGeom>
          <a:solidFill>
            <a:srgbClr val="00F0FF">
              <a:alpha val="6000"/>
            </a:srgbClr>
          </a:solidFill>
          <a:ln/>
        </p:spPr>
      </p:sp>
      <p:sp>
        <p:nvSpPr>
          <p:cNvPr id="68" name="Shape 66"/>
          <p:cNvSpPr/>
          <p:nvPr/>
        </p:nvSpPr>
        <p:spPr>
          <a:xfrm>
            <a:off x="9795967" y="1554480"/>
            <a:ext cx="73152" cy="73152"/>
          </a:xfrm>
          <a:prstGeom prst="rect">
            <a:avLst/>
          </a:prstGeom>
          <a:solidFill>
            <a:srgbClr val="00F0FF">
              <a:alpha val="18000"/>
            </a:srgbClr>
          </a:solidFill>
          <a:ln/>
        </p:spPr>
      </p:sp>
      <p:sp>
        <p:nvSpPr>
          <p:cNvPr id="69" name="Shape 67"/>
          <p:cNvSpPr/>
          <p:nvPr/>
        </p:nvSpPr>
        <p:spPr>
          <a:xfrm>
            <a:off x="9997135" y="1554480"/>
            <a:ext cx="73152" cy="73152"/>
          </a:xfrm>
          <a:prstGeom prst="rect">
            <a:avLst/>
          </a:prstGeom>
          <a:solidFill>
            <a:srgbClr val="00F0FF">
              <a:alpha val="10000"/>
            </a:srgbClr>
          </a:solidFill>
          <a:ln/>
        </p:spPr>
      </p:sp>
      <p:sp>
        <p:nvSpPr>
          <p:cNvPr id="70" name="Shape 68"/>
          <p:cNvSpPr/>
          <p:nvPr/>
        </p:nvSpPr>
        <p:spPr>
          <a:xfrm>
            <a:off x="10198303" y="1554480"/>
            <a:ext cx="73152" cy="73152"/>
          </a:xfrm>
          <a:prstGeom prst="rect">
            <a:avLst/>
          </a:prstGeom>
          <a:solidFill>
            <a:srgbClr val="00F0FF">
              <a:alpha val="6000"/>
            </a:srgbClr>
          </a:solidFill>
          <a:ln/>
        </p:spPr>
      </p:sp>
      <p:sp>
        <p:nvSpPr>
          <p:cNvPr id="71" name="Shape 69"/>
          <p:cNvSpPr/>
          <p:nvPr/>
        </p:nvSpPr>
        <p:spPr>
          <a:xfrm>
            <a:off x="10399471" y="1554480"/>
            <a:ext cx="73152" cy="73152"/>
          </a:xfrm>
          <a:prstGeom prst="rect">
            <a:avLst/>
          </a:prstGeom>
          <a:solidFill>
            <a:srgbClr val="00F0FF">
              <a:alpha val="18000"/>
            </a:srgbClr>
          </a:solidFill>
          <a:ln/>
        </p:spPr>
      </p:sp>
      <p:sp>
        <p:nvSpPr>
          <p:cNvPr id="72" name="Shape 70"/>
          <p:cNvSpPr/>
          <p:nvPr/>
        </p:nvSpPr>
        <p:spPr>
          <a:xfrm>
            <a:off x="10600639" y="1554480"/>
            <a:ext cx="73152" cy="73152"/>
          </a:xfrm>
          <a:prstGeom prst="rect">
            <a:avLst/>
          </a:prstGeom>
          <a:solidFill>
            <a:srgbClr val="00F0FF">
              <a:alpha val="10000"/>
            </a:srgbClr>
          </a:solidFill>
          <a:ln/>
        </p:spPr>
      </p:sp>
      <p:sp>
        <p:nvSpPr>
          <p:cNvPr id="73" name="Shape 71"/>
          <p:cNvSpPr/>
          <p:nvPr/>
        </p:nvSpPr>
        <p:spPr>
          <a:xfrm>
            <a:off x="10801807" y="1554480"/>
            <a:ext cx="73152" cy="73152"/>
          </a:xfrm>
          <a:prstGeom prst="rect">
            <a:avLst/>
          </a:prstGeom>
          <a:solidFill>
            <a:srgbClr val="00F0FF">
              <a:alpha val="6000"/>
            </a:srgbClr>
          </a:solidFill>
          <a:ln/>
        </p:spPr>
      </p:sp>
      <p:sp>
        <p:nvSpPr>
          <p:cNvPr id="74" name="Shape 72"/>
          <p:cNvSpPr/>
          <p:nvPr/>
        </p:nvSpPr>
        <p:spPr>
          <a:xfrm>
            <a:off x="11002975" y="1554480"/>
            <a:ext cx="73152" cy="73152"/>
          </a:xfrm>
          <a:prstGeom prst="rect">
            <a:avLst/>
          </a:prstGeom>
          <a:solidFill>
            <a:srgbClr val="00F0FF">
              <a:alpha val="18000"/>
            </a:srgbClr>
          </a:solidFill>
          <a:ln/>
        </p:spPr>
      </p:sp>
      <p:sp>
        <p:nvSpPr>
          <p:cNvPr id="75" name="Shape 73"/>
          <p:cNvSpPr/>
          <p:nvPr/>
        </p:nvSpPr>
        <p:spPr>
          <a:xfrm>
            <a:off x="11204143" y="1554480"/>
            <a:ext cx="73152" cy="73152"/>
          </a:xfrm>
          <a:prstGeom prst="rect">
            <a:avLst/>
          </a:prstGeom>
          <a:solidFill>
            <a:srgbClr val="00F0FF">
              <a:alpha val="10000"/>
            </a:srgbClr>
          </a:solidFill>
          <a:ln/>
        </p:spPr>
      </p:sp>
      <p:sp>
        <p:nvSpPr>
          <p:cNvPr id="76" name="Shape 74"/>
          <p:cNvSpPr/>
          <p:nvPr/>
        </p:nvSpPr>
        <p:spPr>
          <a:xfrm>
            <a:off x="8991295" y="1755648"/>
            <a:ext cx="73152" cy="73152"/>
          </a:xfrm>
          <a:prstGeom prst="rect">
            <a:avLst/>
          </a:prstGeom>
          <a:solidFill>
            <a:srgbClr val="00F0FF">
              <a:alpha val="18000"/>
            </a:srgbClr>
          </a:solidFill>
          <a:ln/>
        </p:spPr>
      </p:sp>
      <p:sp>
        <p:nvSpPr>
          <p:cNvPr id="77" name="Shape 75"/>
          <p:cNvSpPr/>
          <p:nvPr/>
        </p:nvSpPr>
        <p:spPr>
          <a:xfrm>
            <a:off x="9192463" y="1755648"/>
            <a:ext cx="73152" cy="73152"/>
          </a:xfrm>
          <a:prstGeom prst="rect">
            <a:avLst/>
          </a:prstGeom>
          <a:solidFill>
            <a:srgbClr val="00F0FF">
              <a:alpha val="10000"/>
            </a:srgbClr>
          </a:solidFill>
          <a:ln/>
        </p:spPr>
      </p:sp>
      <p:sp>
        <p:nvSpPr>
          <p:cNvPr id="78" name="Shape 76"/>
          <p:cNvSpPr/>
          <p:nvPr/>
        </p:nvSpPr>
        <p:spPr>
          <a:xfrm>
            <a:off x="9393631" y="1755648"/>
            <a:ext cx="73152" cy="73152"/>
          </a:xfrm>
          <a:prstGeom prst="rect">
            <a:avLst/>
          </a:prstGeom>
          <a:solidFill>
            <a:srgbClr val="00F0FF">
              <a:alpha val="6000"/>
            </a:srgbClr>
          </a:solidFill>
          <a:ln/>
        </p:spPr>
      </p:sp>
      <p:sp>
        <p:nvSpPr>
          <p:cNvPr id="79" name="Shape 77"/>
          <p:cNvSpPr/>
          <p:nvPr/>
        </p:nvSpPr>
        <p:spPr>
          <a:xfrm>
            <a:off x="9594799" y="1755648"/>
            <a:ext cx="73152" cy="73152"/>
          </a:xfrm>
          <a:prstGeom prst="rect">
            <a:avLst/>
          </a:prstGeom>
          <a:solidFill>
            <a:srgbClr val="00F0FF">
              <a:alpha val="18000"/>
            </a:srgbClr>
          </a:solidFill>
          <a:ln/>
        </p:spPr>
      </p:sp>
      <p:sp>
        <p:nvSpPr>
          <p:cNvPr id="80" name="Shape 78"/>
          <p:cNvSpPr/>
          <p:nvPr/>
        </p:nvSpPr>
        <p:spPr>
          <a:xfrm>
            <a:off x="9795967" y="1755648"/>
            <a:ext cx="73152" cy="73152"/>
          </a:xfrm>
          <a:prstGeom prst="rect">
            <a:avLst/>
          </a:prstGeom>
          <a:solidFill>
            <a:srgbClr val="00F0FF">
              <a:alpha val="10000"/>
            </a:srgbClr>
          </a:solidFill>
          <a:ln/>
        </p:spPr>
      </p:sp>
      <p:sp>
        <p:nvSpPr>
          <p:cNvPr id="81" name="Shape 79"/>
          <p:cNvSpPr/>
          <p:nvPr/>
        </p:nvSpPr>
        <p:spPr>
          <a:xfrm>
            <a:off x="9997135" y="1755648"/>
            <a:ext cx="73152" cy="73152"/>
          </a:xfrm>
          <a:prstGeom prst="rect">
            <a:avLst/>
          </a:prstGeom>
          <a:solidFill>
            <a:srgbClr val="00F0FF">
              <a:alpha val="6000"/>
            </a:srgbClr>
          </a:solidFill>
          <a:ln/>
        </p:spPr>
      </p:sp>
      <p:sp>
        <p:nvSpPr>
          <p:cNvPr id="82" name="Shape 80"/>
          <p:cNvSpPr/>
          <p:nvPr/>
        </p:nvSpPr>
        <p:spPr>
          <a:xfrm>
            <a:off x="10198303" y="1755648"/>
            <a:ext cx="73152" cy="73152"/>
          </a:xfrm>
          <a:prstGeom prst="rect">
            <a:avLst/>
          </a:prstGeom>
          <a:solidFill>
            <a:srgbClr val="00F0FF">
              <a:alpha val="18000"/>
            </a:srgbClr>
          </a:solidFill>
          <a:ln/>
        </p:spPr>
      </p:sp>
      <p:sp>
        <p:nvSpPr>
          <p:cNvPr id="83" name="Shape 81"/>
          <p:cNvSpPr/>
          <p:nvPr/>
        </p:nvSpPr>
        <p:spPr>
          <a:xfrm>
            <a:off x="10399471" y="1755648"/>
            <a:ext cx="73152" cy="73152"/>
          </a:xfrm>
          <a:prstGeom prst="rect">
            <a:avLst/>
          </a:prstGeom>
          <a:solidFill>
            <a:srgbClr val="00F0FF">
              <a:alpha val="10000"/>
            </a:srgbClr>
          </a:solidFill>
          <a:ln/>
        </p:spPr>
      </p:sp>
      <p:sp>
        <p:nvSpPr>
          <p:cNvPr id="84" name="Shape 82"/>
          <p:cNvSpPr/>
          <p:nvPr/>
        </p:nvSpPr>
        <p:spPr>
          <a:xfrm>
            <a:off x="10600639" y="1755648"/>
            <a:ext cx="73152" cy="73152"/>
          </a:xfrm>
          <a:prstGeom prst="rect">
            <a:avLst/>
          </a:prstGeom>
          <a:solidFill>
            <a:srgbClr val="00F0FF">
              <a:alpha val="6000"/>
            </a:srgbClr>
          </a:solidFill>
          <a:ln/>
        </p:spPr>
      </p:sp>
      <p:sp>
        <p:nvSpPr>
          <p:cNvPr id="85" name="Shape 83"/>
          <p:cNvSpPr/>
          <p:nvPr/>
        </p:nvSpPr>
        <p:spPr>
          <a:xfrm>
            <a:off x="10801807" y="1755648"/>
            <a:ext cx="73152" cy="73152"/>
          </a:xfrm>
          <a:prstGeom prst="rect">
            <a:avLst/>
          </a:prstGeom>
          <a:solidFill>
            <a:srgbClr val="00F0FF">
              <a:alpha val="18000"/>
            </a:srgbClr>
          </a:solidFill>
          <a:ln/>
        </p:spPr>
      </p:sp>
      <p:sp>
        <p:nvSpPr>
          <p:cNvPr id="86" name="Shape 84"/>
          <p:cNvSpPr/>
          <p:nvPr/>
        </p:nvSpPr>
        <p:spPr>
          <a:xfrm>
            <a:off x="11002975" y="1755648"/>
            <a:ext cx="73152" cy="73152"/>
          </a:xfrm>
          <a:prstGeom prst="rect">
            <a:avLst/>
          </a:prstGeom>
          <a:solidFill>
            <a:srgbClr val="00F0FF">
              <a:alpha val="10000"/>
            </a:srgbClr>
          </a:solidFill>
          <a:ln/>
        </p:spPr>
      </p:sp>
      <p:sp>
        <p:nvSpPr>
          <p:cNvPr id="87" name="Shape 85"/>
          <p:cNvSpPr/>
          <p:nvPr/>
        </p:nvSpPr>
        <p:spPr>
          <a:xfrm>
            <a:off x="11204143" y="1755648"/>
            <a:ext cx="73152" cy="73152"/>
          </a:xfrm>
          <a:prstGeom prst="rect">
            <a:avLst/>
          </a:prstGeom>
          <a:solidFill>
            <a:srgbClr val="00F0FF">
              <a:alpha val="6000"/>
            </a:srgbClr>
          </a:solidFill>
          <a:ln/>
        </p:spPr>
      </p:sp>
      <p:sp>
        <p:nvSpPr>
          <p:cNvPr id="88" name="Shape 86"/>
          <p:cNvSpPr/>
          <p:nvPr/>
        </p:nvSpPr>
        <p:spPr>
          <a:xfrm>
            <a:off x="8991295" y="1956816"/>
            <a:ext cx="73152" cy="73152"/>
          </a:xfrm>
          <a:prstGeom prst="rect">
            <a:avLst/>
          </a:prstGeom>
          <a:solidFill>
            <a:srgbClr val="00F0FF">
              <a:alpha val="10000"/>
            </a:srgbClr>
          </a:solidFill>
          <a:ln/>
        </p:spPr>
      </p:sp>
      <p:sp>
        <p:nvSpPr>
          <p:cNvPr id="89" name="Shape 87"/>
          <p:cNvSpPr/>
          <p:nvPr/>
        </p:nvSpPr>
        <p:spPr>
          <a:xfrm>
            <a:off x="9192463" y="1956816"/>
            <a:ext cx="73152" cy="73152"/>
          </a:xfrm>
          <a:prstGeom prst="rect">
            <a:avLst/>
          </a:prstGeom>
          <a:solidFill>
            <a:srgbClr val="00F0FF">
              <a:alpha val="6000"/>
            </a:srgbClr>
          </a:solidFill>
          <a:ln/>
        </p:spPr>
      </p:sp>
      <p:sp>
        <p:nvSpPr>
          <p:cNvPr id="90" name="Shape 88"/>
          <p:cNvSpPr/>
          <p:nvPr/>
        </p:nvSpPr>
        <p:spPr>
          <a:xfrm>
            <a:off x="9393631" y="1956816"/>
            <a:ext cx="73152" cy="73152"/>
          </a:xfrm>
          <a:prstGeom prst="rect">
            <a:avLst/>
          </a:prstGeom>
          <a:solidFill>
            <a:srgbClr val="00F0FF">
              <a:alpha val="18000"/>
            </a:srgbClr>
          </a:solidFill>
          <a:ln/>
        </p:spPr>
      </p:sp>
      <p:sp>
        <p:nvSpPr>
          <p:cNvPr id="91" name="Shape 89"/>
          <p:cNvSpPr/>
          <p:nvPr/>
        </p:nvSpPr>
        <p:spPr>
          <a:xfrm>
            <a:off x="9594799" y="1956816"/>
            <a:ext cx="73152" cy="73152"/>
          </a:xfrm>
          <a:prstGeom prst="rect">
            <a:avLst/>
          </a:prstGeom>
          <a:solidFill>
            <a:srgbClr val="00F0FF">
              <a:alpha val="10000"/>
            </a:srgbClr>
          </a:solidFill>
          <a:ln/>
        </p:spPr>
      </p:sp>
      <p:sp>
        <p:nvSpPr>
          <p:cNvPr id="92" name="Shape 90"/>
          <p:cNvSpPr/>
          <p:nvPr/>
        </p:nvSpPr>
        <p:spPr>
          <a:xfrm>
            <a:off x="9795967" y="1956816"/>
            <a:ext cx="73152" cy="73152"/>
          </a:xfrm>
          <a:prstGeom prst="rect">
            <a:avLst/>
          </a:prstGeom>
          <a:solidFill>
            <a:srgbClr val="00F0FF">
              <a:alpha val="6000"/>
            </a:srgbClr>
          </a:solidFill>
          <a:ln/>
        </p:spPr>
      </p:sp>
      <p:sp>
        <p:nvSpPr>
          <p:cNvPr id="93" name="Shape 91"/>
          <p:cNvSpPr/>
          <p:nvPr/>
        </p:nvSpPr>
        <p:spPr>
          <a:xfrm>
            <a:off x="9997135" y="1956816"/>
            <a:ext cx="73152" cy="73152"/>
          </a:xfrm>
          <a:prstGeom prst="rect">
            <a:avLst/>
          </a:prstGeom>
          <a:solidFill>
            <a:srgbClr val="00F0FF">
              <a:alpha val="18000"/>
            </a:srgbClr>
          </a:solidFill>
          <a:ln/>
        </p:spPr>
      </p:sp>
      <p:sp>
        <p:nvSpPr>
          <p:cNvPr id="94" name="Shape 92"/>
          <p:cNvSpPr/>
          <p:nvPr/>
        </p:nvSpPr>
        <p:spPr>
          <a:xfrm>
            <a:off x="10198303" y="1956816"/>
            <a:ext cx="73152" cy="73152"/>
          </a:xfrm>
          <a:prstGeom prst="rect">
            <a:avLst/>
          </a:prstGeom>
          <a:solidFill>
            <a:srgbClr val="00F0FF">
              <a:alpha val="10000"/>
            </a:srgbClr>
          </a:solidFill>
          <a:ln/>
        </p:spPr>
      </p:sp>
      <p:sp>
        <p:nvSpPr>
          <p:cNvPr id="95" name="Shape 93"/>
          <p:cNvSpPr/>
          <p:nvPr/>
        </p:nvSpPr>
        <p:spPr>
          <a:xfrm>
            <a:off x="10399471" y="1956816"/>
            <a:ext cx="73152" cy="73152"/>
          </a:xfrm>
          <a:prstGeom prst="rect">
            <a:avLst/>
          </a:prstGeom>
          <a:solidFill>
            <a:srgbClr val="00F0FF">
              <a:alpha val="6000"/>
            </a:srgbClr>
          </a:solidFill>
          <a:ln/>
        </p:spPr>
      </p:sp>
      <p:sp>
        <p:nvSpPr>
          <p:cNvPr id="96" name="Shape 94"/>
          <p:cNvSpPr/>
          <p:nvPr/>
        </p:nvSpPr>
        <p:spPr>
          <a:xfrm>
            <a:off x="10600639" y="1956816"/>
            <a:ext cx="73152" cy="73152"/>
          </a:xfrm>
          <a:prstGeom prst="rect">
            <a:avLst/>
          </a:prstGeom>
          <a:solidFill>
            <a:srgbClr val="00F0FF">
              <a:alpha val="18000"/>
            </a:srgbClr>
          </a:solidFill>
          <a:ln/>
        </p:spPr>
      </p:sp>
      <p:sp>
        <p:nvSpPr>
          <p:cNvPr id="97" name="Shape 95"/>
          <p:cNvSpPr/>
          <p:nvPr/>
        </p:nvSpPr>
        <p:spPr>
          <a:xfrm>
            <a:off x="10801807" y="1956816"/>
            <a:ext cx="73152" cy="73152"/>
          </a:xfrm>
          <a:prstGeom prst="rect">
            <a:avLst/>
          </a:prstGeom>
          <a:solidFill>
            <a:srgbClr val="00F0FF">
              <a:alpha val="10000"/>
            </a:srgbClr>
          </a:solidFill>
          <a:ln/>
        </p:spPr>
      </p:sp>
      <p:sp>
        <p:nvSpPr>
          <p:cNvPr id="98" name="Shape 96"/>
          <p:cNvSpPr/>
          <p:nvPr/>
        </p:nvSpPr>
        <p:spPr>
          <a:xfrm>
            <a:off x="11002975" y="1956816"/>
            <a:ext cx="73152" cy="73152"/>
          </a:xfrm>
          <a:prstGeom prst="rect">
            <a:avLst/>
          </a:prstGeom>
          <a:solidFill>
            <a:srgbClr val="00F0FF">
              <a:alpha val="6000"/>
            </a:srgbClr>
          </a:solidFill>
          <a:ln/>
        </p:spPr>
      </p:sp>
      <p:sp>
        <p:nvSpPr>
          <p:cNvPr id="99" name="Shape 97"/>
          <p:cNvSpPr/>
          <p:nvPr/>
        </p:nvSpPr>
        <p:spPr>
          <a:xfrm>
            <a:off x="11204143" y="1956816"/>
            <a:ext cx="73152" cy="73152"/>
          </a:xfrm>
          <a:prstGeom prst="rect">
            <a:avLst/>
          </a:prstGeom>
          <a:solidFill>
            <a:srgbClr val="00F0FF">
              <a:alpha val="18000"/>
            </a:srgbClr>
          </a:solidFill>
          <a:ln/>
        </p:spPr>
      </p:sp>
      <p:sp>
        <p:nvSpPr>
          <p:cNvPr id="100" name="Text 98"/>
          <p:cNvSpPr/>
          <p:nvPr/>
        </p:nvSpPr>
        <p:spPr>
          <a:xfrm>
            <a:off x="1097280" y="914400"/>
            <a:ext cx="10058400" cy="365760"/>
          </a:xfrm>
          <a:prstGeom prst="rect">
            <a:avLst/>
          </a:prstGeom>
          <a:noFill/>
          <a:ln/>
        </p:spPr>
        <p:txBody>
          <a:bodyPr wrap="square" lIns="0" tIns="0" rIns="0" bIns="0" rtlCol="0" anchor="ctr"/>
          <a:lstStyle/>
          <a:p>
            <a:pPr indent="0" marL="0">
              <a:buNone/>
            </a:pPr>
            <a:r>
              <a:rPr lang="en-US" sz="1200" b="1" spc="600" kern="0" dirty="0">
                <a:solidFill>
                  <a:srgbClr val="00F0FF"/>
                </a:solidFill>
                <a:latin typeface="Consolas" pitchFamily="34" charset="0"/>
                <a:ea typeface="Consolas" pitchFamily="34" charset="-122"/>
                <a:cs typeface="Consolas" pitchFamily="34" charset="-120"/>
              </a:rPr>
              <a:t>PROJECT REPORT  •  CSE  •  CHITKARA UNIVERSITY</a:t>
            </a:r>
            <a:endParaRPr lang="en-US" sz="1200" dirty="0"/>
          </a:p>
        </p:txBody>
      </p:sp>
      <p:sp>
        <p:nvSpPr>
          <p:cNvPr id="101" name="Text 99"/>
          <p:cNvSpPr/>
          <p:nvPr/>
        </p:nvSpPr>
        <p:spPr>
          <a:xfrm>
            <a:off x="1097280" y="1463040"/>
            <a:ext cx="10058400" cy="1280160"/>
          </a:xfrm>
          <a:prstGeom prst="rect">
            <a:avLst/>
          </a:prstGeom>
          <a:noFill/>
          <a:ln/>
        </p:spPr>
        <p:txBody>
          <a:bodyPr wrap="square" lIns="0" tIns="0" rIns="0" bIns="0" rtlCol="0" anchor="ctr"/>
          <a:lstStyle/>
          <a:p>
            <a:pPr indent="0" marL="0">
              <a:buNone/>
            </a:pPr>
            <a:r>
              <a:rPr lang="en-US" sz="9600" b="1" spc="400" kern="0" dirty="0">
                <a:solidFill>
                  <a:srgbClr val="FFFFFF"/>
                </a:solidFill>
                <a:latin typeface="Impact" pitchFamily="34" charset="0"/>
                <a:ea typeface="Impact" pitchFamily="34" charset="-122"/>
                <a:cs typeface="Impact" pitchFamily="34" charset="-120"/>
              </a:rPr>
              <a:t>2D SHOOTER</a:t>
            </a:r>
            <a:endParaRPr lang="en-US" sz="9600" dirty="0"/>
          </a:p>
        </p:txBody>
      </p:sp>
      <p:sp>
        <p:nvSpPr>
          <p:cNvPr id="102" name="Text 100"/>
          <p:cNvSpPr/>
          <p:nvPr/>
        </p:nvSpPr>
        <p:spPr>
          <a:xfrm>
            <a:off x="1097280" y="2651760"/>
            <a:ext cx="10058400" cy="1097280"/>
          </a:xfrm>
          <a:prstGeom prst="rect">
            <a:avLst/>
          </a:prstGeom>
          <a:noFill/>
          <a:ln/>
        </p:spPr>
        <p:txBody>
          <a:bodyPr wrap="square" lIns="0" tIns="0" rIns="0" bIns="0" rtlCol="0" anchor="ctr"/>
          <a:lstStyle/>
          <a:p>
            <a:pPr indent="0" marL="0">
              <a:buNone/>
            </a:pPr>
            <a:r>
              <a:rPr lang="en-US" sz="9600" b="1" spc="400" kern="0" dirty="0">
                <a:solidFill>
                  <a:srgbClr val="00F0FF"/>
                </a:solidFill>
                <a:latin typeface="Impact" pitchFamily="34" charset="0"/>
                <a:ea typeface="Impact" pitchFamily="34" charset="-122"/>
                <a:cs typeface="Impact" pitchFamily="34" charset="-120"/>
              </a:rPr>
              <a:t>GAME</a:t>
            </a:r>
            <a:endParaRPr lang="en-US" sz="9600" dirty="0"/>
          </a:p>
        </p:txBody>
      </p:sp>
      <p:sp>
        <p:nvSpPr>
          <p:cNvPr id="103" name="Text 101"/>
          <p:cNvSpPr/>
          <p:nvPr/>
        </p:nvSpPr>
        <p:spPr>
          <a:xfrm>
            <a:off x="1097280" y="3886200"/>
            <a:ext cx="10058400" cy="457200"/>
          </a:xfrm>
          <a:prstGeom prst="rect">
            <a:avLst/>
          </a:prstGeom>
          <a:noFill/>
          <a:ln/>
        </p:spPr>
        <p:txBody>
          <a:bodyPr wrap="square" lIns="0" tIns="0" rIns="0" bIns="0" rtlCol="0" anchor="ctr"/>
          <a:lstStyle/>
          <a:p>
            <a:pPr indent="0" marL="0">
              <a:buNone/>
            </a:pPr>
            <a:r>
              <a:rPr lang="en-US" sz="2200" i="1" dirty="0">
                <a:solidFill>
                  <a:srgbClr val="A8B2D1"/>
                </a:solidFill>
                <a:latin typeface="Georgia" pitchFamily="34" charset="0"/>
                <a:ea typeface="Georgia" pitchFamily="34" charset="-122"/>
                <a:cs typeface="Georgia" pitchFamily="34" charset="-120"/>
              </a:rPr>
              <a:t>A Unity-Based 2D Space Shooter  •  Spacecraft vs Aliens</a:t>
            </a:r>
            <a:endParaRPr lang="en-US" sz="2200" dirty="0"/>
          </a:p>
        </p:txBody>
      </p:sp>
      <p:sp>
        <p:nvSpPr>
          <p:cNvPr id="104" name="Shape 102"/>
          <p:cNvSpPr/>
          <p:nvPr/>
        </p:nvSpPr>
        <p:spPr>
          <a:xfrm>
            <a:off x="1097280" y="4526280"/>
            <a:ext cx="731520" cy="36576"/>
          </a:xfrm>
          <a:prstGeom prst="rect">
            <a:avLst/>
          </a:prstGeom>
          <a:solidFill>
            <a:srgbClr val="FF2A6D"/>
          </a:solidFill>
          <a:ln/>
        </p:spPr>
      </p:sp>
      <p:sp>
        <p:nvSpPr>
          <p:cNvPr id="105" name="Text 103"/>
          <p:cNvSpPr/>
          <p:nvPr/>
        </p:nvSpPr>
        <p:spPr>
          <a:xfrm>
            <a:off x="1097280" y="4709160"/>
            <a:ext cx="3657600" cy="274320"/>
          </a:xfrm>
          <a:prstGeom prst="rect">
            <a:avLst/>
          </a:prstGeom>
          <a:noFill/>
          <a:ln/>
        </p:spPr>
        <p:txBody>
          <a:bodyPr wrap="square" lIns="0" tIns="0" rIns="0" bIns="0" rtlCol="0" anchor="ctr"/>
          <a:lstStyle/>
          <a:p>
            <a:pPr indent="0" marL="0">
              <a:buNone/>
            </a:pPr>
            <a:r>
              <a:rPr lang="en-US" sz="1100" b="1" spc="400" kern="0" dirty="0">
                <a:solidFill>
                  <a:srgbClr val="FF2A6D"/>
                </a:solidFill>
                <a:latin typeface="Consolas" pitchFamily="34" charset="0"/>
                <a:ea typeface="Consolas" pitchFamily="34" charset="-122"/>
                <a:cs typeface="Consolas" pitchFamily="34" charset="-120"/>
              </a:rPr>
              <a:t>DEVELOPED BY</a:t>
            </a:r>
            <a:endParaRPr lang="en-US" sz="1100" dirty="0"/>
          </a:p>
        </p:txBody>
      </p:sp>
      <p:sp>
        <p:nvSpPr>
          <p:cNvPr id="106" name="Text 104"/>
          <p:cNvSpPr/>
          <p:nvPr/>
        </p:nvSpPr>
        <p:spPr>
          <a:xfrm>
            <a:off x="1097280" y="5029200"/>
            <a:ext cx="3200400" cy="6400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Manasvi</a:t>
            </a:r>
            <a:endParaRPr lang="en-US" sz="1600" dirty="0"/>
          </a:p>
          <a:p>
            <a:pPr indent="0" marL="0">
              <a:buNone/>
            </a:pPr>
            <a:r>
              <a:rPr lang="en-US" sz="1200" dirty="0">
                <a:solidFill>
                  <a:srgbClr val="6B7494"/>
                </a:solidFill>
                <a:latin typeface="Calibri" pitchFamily="34" charset="0"/>
                <a:ea typeface="Calibri" pitchFamily="34" charset="-122"/>
                <a:cs typeface="Calibri" pitchFamily="34" charset="-120"/>
              </a:rPr>
              <a:t>2210991876</a:t>
            </a:r>
            <a:endParaRPr lang="en-US" sz="1600" dirty="0"/>
          </a:p>
        </p:txBody>
      </p:sp>
      <p:sp>
        <p:nvSpPr>
          <p:cNvPr id="107" name="Text 105"/>
          <p:cNvSpPr/>
          <p:nvPr/>
        </p:nvSpPr>
        <p:spPr>
          <a:xfrm>
            <a:off x="4389120" y="5029200"/>
            <a:ext cx="3200400" cy="6400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Kavya Mital</a:t>
            </a:r>
            <a:endParaRPr lang="en-US" sz="1600" dirty="0"/>
          </a:p>
          <a:p>
            <a:pPr indent="0" marL="0">
              <a:buNone/>
            </a:pPr>
            <a:r>
              <a:rPr lang="en-US" sz="1200" dirty="0">
                <a:solidFill>
                  <a:srgbClr val="6B7494"/>
                </a:solidFill>
                <a:latin typeface="Calibri" pitchFamily="34" charset="0"/>
                <a:ea typeface="Calibri" pitchFamily="34" charset="-122"/>
                <a:cs typeface="Calibri" pitchFamily="34" charset="-120"/>
              </a:rPr>
              <a:t>2210991777</a:t>
            </a:r>
            <a:endParaRPr lang="en-US" sz="1600" dirty="0"/>
          </a:p>
        </p:txBody>
      </p:sp>
      <p:sp>
        <p:nvSpPr>
          <p:cNvPr id="108" name="Text 106"/>
          <p:cNvSpPr/>
          <p:nvPr/>
        </p:nvSpPr>
        <p:spPr>
          <a:xfrm>
            <a:off x="7680960" y="5029200"/>
            <a:ext cx="3200400" cy="6400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Divyanshu Sharma</a:t>
            </a:r>
            <a:endParaRPr lang="en-US" sz="1600" dirty="0"/>
          </a:p>
          <a:p>
            <a:pPr indent="0" marL="0">
              <a:buNone/>
            </a:pPr>
            <a:r>
              <a:rPr lang="en-US" sz="1200" dirty="0">
                <a:solidFill>
                  <a:srgbClr val="6B7494"/>
                </a:solidFill>
                <a:latin typeface="Calibri" pitchFamily="34" charset="0"/>
                <a:ea typeface="Calibri" pitchFamily="34" charset="-122"/>
                <a:cs typeface="Calibri" pitchFamily="34" charset="-120"/>
              </a:rPr>
              <a:t>2210991537</a:t>
            </a:r>
            <a:endParaRPr lang="en-US" sz="1600" dirty="0"/>
          </a:p>
        </p:txBody>
      </p:sp>
      <p:pic>
        <p:nvPicPr>
          <p:cNvPr id="109" name="Image 0" descr="preencoded.png"/>
          <p:cNvPicPr>
            <a:picLocks noChangeAspect="1"/>
          </p:cNvPicPr>
          <p:nvPr/>
        </p:nvPicPr>
        <p:blipFill>
          <a:blip r:embed="rId1"/>
          <a:stretch>
            <a:fillRect/>
          </a:stretch>
        </p:blipFill>
        <p:spPr>
          <a:xfrm>
            <a:off x="1097280" y="5897880"/>
            <a:ext cx="292608" cy="292608"/>
          </a:xfrm>
          <a:prstGeom prst="rect">
            <a:avLst/>
          </a:prstGeom>
        </p:spPr>
      </p:pic>
      <p:sp>
        <p:nvSpPr>
          <p:cNvPr id="110" name="Text 107"/>
          <p:cNvSpPr/>
          <p:nvPr/>
        </p:nvSpPr>
        <p:spPr>
          <a:xfrm>
            <a:off x="1481328" y="5897880"/>
            <a:ext cx="10058400" cy="292608"/>
          </a:xfrm>
          <a:prstGeom prst="rect">
            <a:avLst/>
          </a:prstGeom>
          <a:noFill/>
          <a:ln/>
        </p:spPr>
        <p:txBody>
          <a:bodyPr wrap="square" lIns="0" tIns="0" rIns="0" bIns="0" rtlCol="0" anchor="ctr"/>
          <a:lstStyle/>
          <a:p>
            <a:pPr indent="0" marL="0">
              <a:buNone/>
            </a:pPr>
            <a:r>
              <a:rPr lang="en-US" sz="1200" b="1" spc="300" kern="0" dirty="0">
                <a:solidFill>
                  <a:srgbClr val="FF2A6D"/>
                </a:solidFill>
                <a:latin typeface="Consolas" pitchFamily="34" charset="0"/>
                <a:ea typeface="Consolas" pitchFamily="34" charset="-122"/>
                <a:cs typeface="Consolas" pitchFamily="34" charset="-120"/>
              </a:rPr>
              <a:t xml:space="preserve">PLAY NOW   </a:t>
            </a:r>
            <a:pPr indent="0" marL="0">
              <a:buNone/>
            </a:pPr>
            <a:r>
              <a:rPr lang="en-US" sz="1200" dirty="0">
                <a:solidFill>
                  <a:srgbClr val="00F0FF"/>
                </a:solidFill>
                <a:latin typeface="Consolas" pitchFamily="34" charset="0"/>
                <a:ea typeface="Consolas" pitchFamily="34" charset="-122"/>
                <a:cs typeface="Consolas" pitchFamily="34" charset="-120"/>
              </a:rPr>
              <a:t>manasvi8274.itch.io/2d-shooter-game</a:t>
            </a:r>
            <a:endParaRPr lang="en-US" sz="1200" dirty="0"/>
          </a:p>
        </p:txBody>
      </p:sp>
      <p:pic>
        <p:nvPicPr>
          <p:cNvPr id="111" name="Image 1" descr="preencoded.png"/>
          <p:cNvPicPr>
            <a:picLocks noChangeAspect="1"/>
          </p:cNvPicPr>
          <p:nvPr/>
        </p:nvPicPr>
        <p:blipFill>
          <a:blip r:embed="rId2"/>
          <a:stretch>
            <a:fillRect/>
          </a:stretch>
        </p:blipFill>
        <p:spPr>
          <a:xfrm>
            <a:off x="1097280" y="6263640"/>
            <a:ext cx="256032" cy="256032"/>
          </a:xfrm>
          <a:prstGeom prst="rect">
            <a:avLst/>
          </a:prstGeom>
        </p:spPr>
      </p:pic>
      <p:sp>
        <p:nvSpPr>
          <p:cNvPr id="112" name="Text 108"/>
          <p:cNvSpPr/>
          <p:nvPr/>
        </p:nvSpPr>
        <p:spPr>
          <a:xfrm>
            <a:off x="1481328" y="6263640"/>
            <a:ext cx="10058400" cy="274320"/>
          </a:xfrm>
          <a:prstGeom prst="rect">
            <a:avLst/>
          </a:prstGeom>
          <a:noFill/>
          <a:ln/>
        </p:spPr>
        <p:txBody>
          <a:bodyPr wrap="square" lIns="0" tIns="0" rIns="0" bIns="0" rtlCol="0" anchor="ctr"/>
          <a:lstStyle/>
          <a:p>
            <a:pPr indent="0" marL="0">
              <a:buNone/>
            </a:pPr>
            <a:r>
              <a:rPr lang="en-US" sz="1000" b="1" spc="300" kern="0" dirty="0">
                <a:solidFill>
                  <a:srgbClr val="6B7494"/>
                </a:solidFill>
                <a:latin typeface="Consolas" pitchFamily="34" charset="0"/>
                <a:ea typeface="Consolas" pitchFamily="34" charset="-122"/>
                <a:cs typeface="Consolas" pitchFamily="34" charset="-120"/>
              </a:rPr>
              <a:t xml:space="preserve">SOURCE     </a:t>
            </a:r>
            <a:pPr indent="0" marL="0">
              <a:buNone/>
            </a:pPr>
            <a:r>
              <a:rPr lang="en-US" sz="1000" dirty="0">
                <a:solidFill>
                  <a:srgbClr val="A8B2D1"/>
                </a:solidFill>
                <a:latin typeface="Consolas" pitchFamily="34" charset="0"/>
                <a:ea typeface="Consolas" pitchFamily="34" charset="-122"/>
                <a:cs typeface="Consolas" pitchFamily="34" charset="-120"/>
              </a:rPr>
              <a:t>github.com/Manasvi8274/2DshooterGame-2210991876-2210991537-2210991777</a:t>
            </a:r>
            <a:endParaRPr lang="en-US" sz="1000" dirty="0"/>
          </a:p>
        </p:txBody>
      </p:sp>
      <p:sp>
        <p:nvSpPr>
          <p:cNvPr id="113" name="Text 109"/>
          <p:cNvSpPr/>
          <p:nvPr/>
        </p:nvSpPr>
        <p:spPr>
          <a:xfrm>
            <a:off x="1097280" y="6601968"/>
            <a:ext cx="10058400" cy="228600"/>
          </a:xfrm>
          <a:prstGeom prst="rect">
            <a:avLst/>
          </a:prstGeom>
          <a:noFill/>
          <a:ln/>
        </p:spPr>
        <p:txBody>
          <a:bodyPr wrap="square" lIns="0" tIns="0" rIns="0" bIns="0" rtlCol="0" anchor="ctr"/>
          <a:lstStyle/>
          <a:p>
            <a:pPr indent="0" marL="0">
              <a:buNone/>
            </a:pPr>
            <a:r>
              <a:rPr lang="en-US" sz="900" i="1" dirty="0">
                <a:solidFill>
                  <a:srgbClr val="6B7494"/>
                </a:solidFill>
                <a:latin typeface="Calibri" pitchFamily="34" charset="0"/>
                <a:ea typeface="Calibri" pitchFamily="34" charset="-122"/>
                <a:cs typeface="Calibri" pitchFamily="34" charset="-120"/>
              </a:rPr>
              <a:t>Submitted in partial fulfilment of the Bachelor of Engineering — Computer Science and Engineering</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E27"/>
        </a:solidFill>
      </p:bgPr>
    </p:bg>
    <p:spTree>
      <p:nvGrpSpPr>
        <p:cNvPr id="1" name=""/>
        <p:cNvGrpSpPr/>
        <p:nvPr/>
      </p:nvGrpSpPr>
      <p:grpSpPr>
        <a:xfrm>
          <a:off x="0" y="0"/>
          <a:ext cx="0" cy="0"/>
          <a:chOff x="0" y="0"/>
          <a:chExt cx="0" cy="0"/>
        </a:xfrm>
      </p:grpSpPr>
      <p:sp>
        <p:nvSpPr>
          <p:cNvPr id="2" name="Shape 0"/>
          <p:cNvSpPr/>
          <p:nvPr/>
        </p:nvSpPr>
        <p:spPr>
          <a:xfrm>
            <a:off x="12027103" y="0"/>
            <a:ext cx="164592" cy="6858000"/>
          </a:xfrm>
          <a:prstGeom prst="rect">
            <a:avLst/>
          </a:prstGeom>
          <a:solidFill>
            <a:srgbClr val="FF2A6D"/>
          </a:solidFill>
          <a:ln/>
        </p:spPr>
      </p:sp>
      <p:sp>
        <p:nvSpPr>
          <p:cNvPr id="3" name="Shape 1"/>
          <p:cNvSpPr/>
          <p:nvPr/>
        </p:nvSpPr>
        <p:spPr>
          <a:xfrm>
            <a:off x="0" y="0"/>
            <a:ext cx="164592" cy="914400"/>
          </a:xfrm>
          <a:prstGeom prst="rect">
            <a:avLst/>
          </a:prstGeom>
          <a:solidFill>
            <a:srgbClr val="00F0FF"/>
          </a:solidFill>
          <a:ln/>
        </p:spPr>
      </p:sp>
      <p:sp>
        <p:nvSpPr>
          <p:cNvPr id="4" name="Text 2"/>
          <p:cNvSpPr/>
          <p:nvPr/>
        </p:nvSpPr>
        <p:spPr>
          <a:xfrm>
            <a:off x="548640" y="457200"/>
            <a:ext cx="1828800" cy="365760"/>
          </a:xfrm>
          <a:prstGeom prst="rect">
            <a:avLst/>
          </a:prstGeom>
          <a:noFill/>
          <a:ln/>
        </p:spPr>
        <p:txBody>
          <a:bodyPr wrap="square" lIns="0" tIns="0" rIns="0" bIns="0" rtlCol="0" anchor="ctr"/>
          <a:lstStyle/>
          <a:p>
            <a:pPr indent="0" marL="0">
              <a:buNone/>
            </a:pPr>
            <a:r>
              <a:rPr lang="en-US" sz="1400" b="1" dirty="0">
                <a:solidFill>
                  <a:srgbClr val="FF2A6D"/>
                </a:solidFill>
                <a:latin typeface="Consolas" pitchFamily="34" charset="0"/>
                <a:ea typeface="Consolas" pitchFamily="34" charset="-122"/>
                <a:cs typeface="Consolas" pitchFamily="34" charset="-120"/>
              </a:rPr>
              <a:t>// 01</a:t>
            </a:r>
            <a:endParaRPr lang="en-US" sz="1400" dirty="0"/>
          </a:p>
        </p:txBody>
      </p:sp>
      <p:sp>
        <p:nvSpPr>
          <p:cNvPr id="5" name="Text 3"/>
          <p:cNvSpPr/>
          <p:nvPr/>
        </p:nvSpPr>
        <p:spPr>
          <a:xfrm>
            <a:off x="548640" y="777240"/>
            <a:ext cx="9144000" cy="731520"/>
          </a:xfrm>
          <a:prstGeom prst="rect">
            <a:avLst/>
          </a:prstGeom>
          <a:noFill/>
          <a:ln/>
        </p:spPr>
        <p:txBody>
          <a:bodyPr wrap="square" lIns="0" tIns="0" rIns="0" bIns="0" rtlCol="0" anchor="ctr"/>
          <a:lstStyle/>
          <a:p>
            <a:pPr indent="0" marL="0">
              <a:buNone/>
            </a:pPr>
            <a:r>
              <a:rPr lang="en-US" sz="4000" b="1" spc="200" kern="0" dirty="0">
                <a:solidFill>
                  <a:srgbClr val="FFFFFF"/>
                </a:solidFill>
                <a:latin typeface="Impact" pitchFamily="34" charset="0"/>
                <a:ea typeface="Impact" pitchFamily="34" charset="-122"/>
                <a:cs typeface="Impact" pitchFamily="34" charset="-120"/>
              </a:rPr>
              <a:t>INTRODUCTION</a:t>
            </a:r>
            <a:endParaRPr lang="en-US" sz="4000" dirty="0"/>
          </a:p>
        </p:txBody>
      </p:sp>
      <p:sp>
        <p:nvSpPr>
          <p:cNvPr id="6" name="Shape 4"/>
          <p:cNvSpPr/>
          <p:nvPr/>
        </p:nvSpPr>
        <p:spPr>
          <a:xfrm>
            <a:off x="548640" y="1554480"/>
            <a:ext cx="640080" cy="36576"/>
          </a:xfrm>
          <a:prstGeom prst="rect">
            <a:avLst/>
          </a:prstGeom>
          <a:solidFill>
            <a:srgbClr val="00F0FF"/>
          </a:solidFill>
          <a:ln/>
        </p:spPr>
      </p:sp>
      <p:sp>
        <p:nvSpPr>
          <p:cNvPr id="7" name="Text 5"/>
          <p:cNvSpPr/>
          <p:nvPr/>
        </p:nvSpPr>
        <p:spPr>
          <a:xfrm>
            <a:off x="548640" y="1920240"/>
            <a:ext cx="6217920" cy="1554480"/>
          </a:xfrm>
          <a:prstGeom prst="rect">
            <a:avLst/>
          </a:prstGeom>
          <a:noFill/>
          <a:ln/>
        </p:spPr>
        <p:txBody>
          <a:bodyPr wrap="square" lIns="0" tIns="0" rIns="0" bIns="0" rtlCol="0" anchor="ctr"/>
          <a:lstStyle/>
          <a:p>
            <a:pPr indent="0" marL="0">
              <a:spcAft>
                <a:spcPts val="600"/>
              </a:spcAft>
              <a:buNone/>
            </a:pPr>
            <a:r>
              <a:rPr lang="en-US" sz="1500" dirty="0">
                <a:solidFill>
                  <a:srgbClr val="A8B2D1"/>
                </a:solidFill>
                <a:latin typeface="Calibri" pitchFamily="34" charset="0"/>
                <a:ea typeface="Calibri" pitchFamily="34" charset="-122"/>
                <a:cs typeface="Calibri" pitchFamily="34" charset="-120"/>
              </a:rPr>
              <a:t>A top-down space shooting game in which the player commands a spacecraft against successive waves of alien foes across four distinct levels — comprising three progressively challenging stages alongside an Infinite Mode that tests how long a player can endure. Developed in Unity using C# and exported as a WebGL application that runs directly in any contemporary browser.</a:t>
            </a:r>
            <a:endParaRPr lang="en-US" sz="1500" dirty="0"/>
          </a:p>
        </p:txBody>
      </p:sp>
      <p:sp>
        <p:nvSpPr>
          <p:cNvPr id="8" name="Text 6"/>
          <p:cNvSpPr/>
          <p:nvPr/>
        </p:nvSpPr>
        <p:spPr>
          <a:xfrm>
            <a:off x="548640" y="3611880"/>
            <a:ext cx="6217920" cy="1554480"/>
          </a:xfrm>
          <a:prstGeom prst="rect">
            <a:avLst/>
          </a:prstGeom>
          <a:noFill/>
          <a:ln/>
        </p:spPr>
        <p:txBody>
          <a:bodyPr wrap="square" lIns="0" tIns="0" rIns="0" bIns="0" rtlCol="0" anchor="ctr"/>
          <a:lstStyle/>
          <a:p>
            <a:pPr indent="0" marL="0">
              <a:spcAft>
                <a:spcPts val="600"/>
              </a:spcAft>
              <a:buNone/>
            </a:pPr>
            <a:r>
              <a:rPr lang="en-US" sz="1500" dirty="0">
                <a:solidFill>
                  <a:srgbClr val="A8B2D1"/>
                </a:solidFill>
                <a:latin typeface="Calibri" pitchFamily="34" charset="0"/>
                <a:ea typeface="Calibri" pitchFamily="34" charset="-122"/>
                <a:cs typeface="Calibri" pitchFamily="34" charset="-120"/>
              </a:rPr>
              <a:t>Leveraging Unity's component-driven ECS paradigm, the game illustrates real-time physics through Rigidbody2D, employs the updated Input System for customisable control bindings, and uses modular C# code organised so each subsystem operates independently and can be tested in isolation.</a:t>
            </a:r>
            <a:endParaRPr lang="en-US" sz="1500" dirty="0"/>
          </a:p>
        </p:txBody>
      </p:sp>
      <p:sp>
        <p:nvSpPr>
          <p:cNvPr id="9" name="Shape 7"/>
          <p:cNvSpPr/>
          <p:nvPr/>
        </p:nvSpPr>
        <p:spPr>
          <a:xfrm>
            <a:off x="548640" y="5349240"/>
            <a:ext cx="45720" cy="822960"/>
          </a:xfrm>
          <a:prstGeom prst="rect">
            <a:avLst/>
          </a:prstGeom>
          <a:solidFill>
            <a:srgbClr val="FF2A6D"/>
          </a:solidFill>
          <a:ln/>
        </p:spPr>
      </p:sp>
      <p:sp>
        <p:nvSpPr>
          <p:cNvPr id="10" name="Text 8"/>
          <p:cNvSpPr/>
          <p:nvPr/>
        </p:nvSpPr>
        <p:spPr>
          <a:xfrm>
            <a:off x="777240" y="5349240"/>
            <a:ext cx="5943600" cy="822960"/>
          </a:xfrm>
          <a:prstGeom prst="rect">
            <a:avLst/>
          </a:prstGeom>
          <a:noFill/>
          <a:ln/>
        </p:spPr>
        <p:txBody>
          <a:bodyPr wrap="square" lIns="0" tIns="0" rIns="0" bIns="0" rtlCol="0" anchor="ctr"/>
          <a:lstStyle/>
          <a:p>
            <a:pPr indent="0" marL="0">
              <a:buNone/>
            </a:pPr>
            <a:r>
              <a:rPr lang="en-US" sz="1400" i="1" dirty="0">
                <a:solidFill>
                  <a:srgbClr val="FFFFFF"/>
                </a:solidFill>
                <a:latin typeface="Georgia" pitchFamily="34" charset="0"/>
                <a:ea typeface="Georgia" pitchFamily="34" charset="-122"/>
                <a:cs typeface="Georgia" pitchFamily="34" charset="-120"/>
              </a:rPr>
              <a:t>Entirely modular and component-driven — all scripts authored and assembled in-house by the development team.</a:t>
            </a:r>
            <a:endParaRPr lang="en-US" sz="1400" dirty="0"/>
          </a:p>
        </p:txBody>
      </p:sp>
      <p:sp>
        <p:nvSpPr>
          <p:cNvPr id="11" name="Shape 9"/>
          <p:cNvSpPr/>
          <p:nvPr/>
        </p:nvSpPr>
        <p:spPr>
          <a:xfrm>
            <a:off x="7132320" y="1920240"/>
            <a:ext cx="4480560" cy="1417320"/>
          </a:xfrm>
          <a:prstGeom prst="rect">
            <a:avLst/>
          </a:prstGeom>
          <a:solidFill>
            <a:srgbClr val="141938"/>
          </a:solidFill>
          <a:ln/>
        </p:spPr>
      </p:sp>
      <p:sp>
        <p:nvSpPr>
          <p:cNvPr id="12" name="Shape 10"/>
          <p:cNvSpPr/>
          <p:nvPr/>
        </p:nvSpPr>
        <p:spPr>
          <a:xfrm>
            <a:off x="7132320" y="1920240"/>
            <a:ext cx="73152" cy="1417320"/>
          </a:xfrm>
          <a:prstGeom prst="rect">
            <a:avLst/>
          </a:prstGeom>
          <a:solidFill>
            <a:srgbClr val="00F0FF"/>
          </a:solidFill>
          <a:ln/>
        </p:spPr>
      </p:sp>
      <p:pic>
        <p:nvPicPr>
          <p:cNvPr id="13" name="Image 0" descr="preencoded.png"/>
          <p:cNvPicPr>
            <a:picLocks noChangeAspect="1"/>
          </p:cNvPicPr>
          <p:nvPr/>
        </p:nvPicPr>
        <p:blipFill>
          <a:blip r:embed="rId1"/>
          <a:stretch>
            <a:fillRect/>
          </a:stretch>
        </p:blipFill>
        <p:spPr>
          <a:xfrm>
            <a:off x="7452360" y="2286000"/>
            <a:ext cx="685800" cy="685800"/>
          </a:xfrm>
          <a:prstGeom prst="rect">
            <a:avLst/>
          </a:prstGeom>
        </p:spPr>
      </p:pic>
      <p:sp>
        <p:nvSpPr>
          <p:cNvPr id="14" name="Text 11"/>
          <p:cNvSpPr/>
          <p:nvPr/>
        </p:nvSpPr>
        <p:spPr>
          <a:xfrm>
            <a:off x="8321040" y="2148840"/>
            <a:ext cx="3108960" cy="274320"/>
          </a:xfrm>
          <a:prstGeom prst="rect">
            <a:avLst/>
          </a:prstGeom>
          <a:noFill/>
          <a:ln/>
        </p:spPr>
        <p:txBody>
          <a:bodyPr wrap="square" lIns="0" tIns="0" rIns="0" bIns="0" rtlCol="0" anchor="ctr"/>
          <a:lstStyle/>
          <a:p>
            <a:pPr indent="0" marL="0">
              <a:buNone/>
            </a:pPr>
            <a:r>
              <a:rPr lang="en-US" sz="1100" b="1" spc="400" kern="0" dirty="0">
                <a:solidFill>
                  <a:srgbClr val="6B7494"/>
                </a:solidFill>
                <a:latin typeface="Consolas" pitchFamily="34" charset="0"/>
                <a:ea typeface="Consolas" pitchFamily="34" charset="-122"/>
                <a:cs typeface="Consolas" pitchFamily="34" charset="-120"/>
              </a:rPr>
              <a:t>GAME ENGINE</a:t>
            </a:r>
            <a:endParaRPr lang="en-US" sz="1100" dirty="0"/>
          </a:p>
        </p:txBody>
      </p:sp>
      <p:sp>
        <p:nvSpPr>
          <p:cNvPr id="15" name="Text 12"/>
          <p:cNvSpPr/>
          <p:nvPr/>
        </p:nvSpPr>
        <p:spPr>
          <a:xfrm>
            <a:off x="8321040" y="2423160"/>
            <a:ext cx="3108960" cy="548640"/>
          </a:xfrm>
          <a:prstGeom prst="rect">
            <a:avLst/>
          </a:prstGeom>
          <a:noFill/>
          <a:ln/>
        </p:spPr>
        <p:txBody>
          <a:bodyPr wrap="square" lIns="0" tIns="0" rIns="0" bIns="0" rtlCol="0" anchor="ctr"/>
          <a:lstStyle/>
          <a:p>
            <a:pPr indent="0" marL="0">
              <a:buNone/>
            </a:pPr>
            <a:r>
              <a:rPr lang="en-US" sz="3200" b="1" dirty="0">
                <a:solidFill>
                  <a:srgbClr val="FFFFFF"/>
                </a:solidFill>
                <a:latin typeface="Impact" pitchFamily="34" charset="0"/>
                <a:ea typeface="Impact" pitchFamily="34" charset="-122"/>
                <a:cs typeface="Impact" pitchFamily="34" charset="-120"/>
              </a:rPr>
              <a:t>Unity</a:t>
            </a:r>
            <a:endParaRPr lang="en-US" sz="3200" dirty="0"/>
          </a:p>
        </p:txBody>
      </p:sp>
      <p:sp>
        <p:nvSpPr>
          <p:cNvPr id="16" name="Text 13"/>
          <p:cNvSpPr/>
          <p:nvPr/>
        </p:nvSpPr>
        <p:spPr>
          <a:xfrm>
            <a:off x="8321040" y="2971800"/>
            <a:ext cx="3108960" cy="274320"/>
          </a:xfrm>
          <a:prstGeom prst="rect">
            <a:avLst/>
          </a:prstGeom>
          <a:noFill/>
          <a:ln/>
        </p:spPr>
        <p:txBody>
          <a:bodyPr wrap="square" lIns="0" tIns="0" rIns="0" bIns="0" rtlCol="0" anchor="ctr"/>
          <a:lstStyle/>
          <a:p>
            <a:pPr indent="0" marL="0">
              <a:buNone/>
            </a:pPr>
            <a:r>
              <a:rPr lang="en-US" sz="1200" i="1" dirty="0">
                <a:solidFill>
                  <a:srgbClr val="00F0FF"/>
                </a:solidFill>
                <a:latin typeface="Calibri" pitchFamily="34" charset="0"/>
                <a:ea typeface="Calibri" pitchFamily="34" charset="-122"/>
                <a:cs typeface="Calibri" pitchFamily="34" charset="-120"/>
              </a:rPr>
              <a:t>2021.3 LTS</a:t>
            </a:r>
            <a:endParaRPr lang="en-US" sz="1200" dirty="0"/>
          </a:p>
        </p:txBody>
      </p:sp>
      <p:sp>
        <p:nvSpPr>
          <p:cNvPr id="17" name="Shape 14"/>
          <p:cNvSpPr/>
          <p:nvPr/>
        </p:nvSpPr>
        <p:spPr>
          <a:xfrm>
            <a:off x="7132320" y="3502152"/>
            <a:ext cx="4480560" cy="1417320"/>
          </a:xfrm>
          <a:prstGeom prst="rect">
            <a:avLst/>
          </a:prstGeom>
          <a:solidFill>
            <a:srgbClr val="141938"/>
          </a:solidFill>
          <a:ln/>
        </p:spPr>
      </p:sp>
      <p:sp>
        <p:nvSpPr>
          <p:cNvPr id="18" name="Shape 15"/>
          <p:cNvSpPr/>
          <p:nvPr/>
        </p:nvSpPr>
        <p:spPr>
          <a:xfrm>
            <a:off x="7132320" y="3502152"/>
            <a:ext cx="73152" cy="1417320"/>
          </a:xfrm>
          <a:prstGeom prst="rect">
            <a:avLst/>
          </a:prstGeom>
          <a:solidFill>
            <a:srgbClr val="FF2A6D"/>
          </a:solidFill>
          <a:ln/>
        </p:spPr>
      </p:sp>
      <p:pic>
        <p:nvPicPr>
          <p:cNvPr id="19" name="Image 1" descr="preencoded.png"/>
          <p:cNvPicPr>
            <a:picLocks noChangeAspect="1"/>
          </p:cNvPicPr>
          <p:nvPr/>
        </p:nvPicPr>
        <p:blipFill>
          <a:blip r:embed="rId2"/>
          <a:stretch>
            <a:fillRect/>
          </a:stretch>
        </p:blipFill>
        <p:spPr>
          <a:xfrm>
            <a:off x="7452360" y="3867912"/>
            <a:ext cx="685800" cy="685800"/>
          </a:xfrm>
          <a:prstGeom prst="rect">
            <a:avLst/>
          </a:prstGeom>
        </p:spPr>
      </p:pic>
      <p:sp>
        <p:nvSpPr>
          <p:cNvPr id="20" name="Text 16"/>
          <p:cNvSpPr/>
          <p:nvPr/>
        </p:nvSpPr>
        <p:spPr>
          <a:xfrm>
            <a:off x="8321040" y="3730752"/>
            <a:ext cx="3108960" cy="274320"/>
          </a:xfrm>
          <a:prstGeom prst="rect">
            <a:avLst/>
          </a:prstGeom>
          <a:noFill/>
          <a:ln/>
        </p:spPr>
        <p:txBody>
          <a:bodyPr wrap="square" lIns="0" tIns="0" rIns="0" bIns="0" rtlCol="0" anchor="ctr"/>
          <a:lstStyle/>
          <a:p>
            <a:pPr indent="0" marL="0">
              <a:buNone/>
            </a:pPr>
            <a:r>
              <a:rPr lang="en-US" sz="1100" b="1" spc="400" kern="0" dirty="0">
                <a:solidFill>
                  <a:srgbClr val="6B7494"/>
                </a:solidFill>
                <a:latin typeface="Consolas" pitchFamily="34" charset="0"/>
                <a:ea typeface="Consolas" pitchFamily="34" charset="-122"/>
                <a:cs typeface="Consolas" pitchFamily="34" charset="-120"/>
              </a:rPr>
              <a:t>LANGUAGE</a:t>
            </a:r>
            <a:endParaRPr lang="en-US" sz="1100" dirty="0"/>
          </a:p>
        </p:txBody>
      </p:sp>
      <p:sp>
        <p:nvSpPr>
          <p:cNvPr id="21" name="Text 17"/>
          <p:cNvSpPr/>
          <p:nvPr/>
        </p:nvSpPr>
        <p:spPr>
          <a:xfrm>
            <a:off x="8321040" y="4005072"/>
            <a:ext cx="3108960" cy="548640"/>
          </a:xfrm>
          <a:prstGeom prst="rect">
            <a:avLst/>
          </a:prstGeom>
          <a:noFill/>
          <a:ln/>
        </p:spPr>
        <p:txBody>
          <a:bodyPr wrap="square" lIns="0" tIns="0" rIns="0" bIns="0" rtlCol="0" anchor="ctr"/>
          <a:lstStyle/>
          <a:p>
            <a:pPr indent="0" marL="0">
              <a:buNone/>
            </a:pPr>
            <a:r>
              <a:rPr lang="en-US" sz="3200" b="1" dirty="0">
                <a:solidFill>
                  <a:srgbClr val="FFFFFF"/>
                </a:solidFill>
                <a:latin typeface="Impact" pitchFamily="34" charset="0"/>
                <a:ea typeface="Impact" pitchFamily="34" charset="-122"/>
                <a:cs typeface="Impact" pitchFamily="34" charset="-120"/>
              </a:rPr>
              <a:t>C#</a:t>
            </a:r>
            <a:endParaRPr lang="en-US" sz="3200" dirty="0"/>
          </a:p>
        </p:txBody>
      </p:sp>
      <p:sp>
        <p:nvSpPr>
          <p:cNvPr id="22" name="Text 18"/>
          <p:cNvSpPr/>
          <p:nvPr/>
        </p:nvSpPr>
        <p:spPr>
          <a:xfrm>
            <a:off x="8321040" y="4553712"/>
            <a:ext cx="3108960" cy="274320"/>
          </a:xfrm>
          <a:prstGeom prst="rect">
            <a:avLst/>
          </a:prstGeom>
          <a:noFill/>
          <a:ln/>
        </p:spPr>
        <p:txBody>
          <a:bodyPr wrap="square" lIns="0" tIns="0" rIns="0" bIns="0" rtlCol="0" anchor="ctr"/>
          <a:lstStyle/>
          <a:p>
            <a:pPr indent="0" marL="0">
              <a:buNone/>
            </a:pPr>
            <a:r>
              <a:rPr lang="en-US" sz="1200" i="1" dirty="0">
                <a:solidFill>
                  <a:srgbClr val="FF2A6D"/>
                </a:solidFill>
                <a:latin typeface="Calibri" pitchFamily="34" charset="0"/>
                <a:ea typeface="Calibri" pitchFamily="34" charset="-122"/>
                <a:cs typeface="Calibri" pitchFamily="34" charset="-120"/>
              </a:rPr>
              <a:t>.NET Standard 2.1</a:t>
            </a:r>
            <a:endParaRPr lang="en-US" sz="1200" dirty="0"/>
          </a:p>
        </p:txBody>
      </p:sp>
      <p:sp>
        <p:nvSpPr>
          <p:cNvPr id="23" name="Shape 19"/>
          <p:cNvSpPr/>
          <p:nvPr/>
        </p:nvSpPr>
        <p:spPr>
          <a:xfrm>
            <a:off x="7132320" y="5084064"/>
            <a:ext cx="4480560" cy="1417320"/>
          </a:xfrm>
          <a:prstGeom prst="rect">
            <a:avLst/>
          </a:prstGeom>
          <a:solidFill>
            <a:srgbClr val="141938"/>
          </a:solidFill>
          <a:ln/>
        </p:spPr>
      </p:sp>
      <p:sp>
        <p:nvSpPr>
          <p:cNvPr id="24" name="Shape 20"/>
          <p:cNvSpPr/>
          <p:nvPr/>
        </p:nvSpPr>
        <p:spPr>
          <a:xfrm>
            <a:off x="7132320" y="5084064"/>
            <a:ext cx="73152" cy="1417320"/>
          </a:xfrm>
          <a:prstGeom prst="rect">
            <a:avLst/>
          </a:prstGeom>
          <a:solidFill>
            <a:srgbClr val="FFD60A"/>
          </a:solidFill>
          <a:ln/>
        </p:spPr>
      </p:sp>
      <p:pic>
        <p:nvPicPr>
          <p:cNvPr id="25" name="Image 2" descr="preencoded.png"/>
          <p:cNvPicPr>
            <a:picLocks noChangeAspect="1"/>
          </p:cNvPicPr>
          <p:nvPr/>
        </p:nvPicPr>
        <p:blipFill>
          <a:blip r:embed="rId3"/>
          <a:stretch>
            <a:fillRect/>
          </a:stretch>
        </p:blipFill>
        <p:spPr>
          <a:xfrm>
            <a:off x="7452360" y="5449824"/>
            <a:ext cx="685800" cy="685800"/>
          </a:xfrm>
          <a:prstGeom prst="rect">
            <a:avLst/>
          </a:prstGeom>
        </p:spPr>
      </p:pic>
      <p:sp>
        <p:nvSpPr>
          <p:cNvPr id="26" name="Text 21"/>
          <p:cNvSpPr/>
          <p:nvPr/>
        </p:nvSpPr>
        <p:spPr>
          <a:xfrm>
            <a:off x="8321040" y="5312664"/>
            <a:ext cx="3108960" cy="274320"/>
          </a:xfrm>
          <a:prstGeom prst="rect">
            <a:avLst/>
          </a:prstGeom>
          <a:noFill/>
          <a:ln/>
        </p:spPr>
        <p:txBody>
          <a:bodyPr wrap="square" lIns="0" tIns="0" rIns="0" bIns="0" rtlCol="0" anchor="ctr"/>
          <a:lstStyle/>
          <a:p>
            <a:pPr indent="0" marL="0">
              <a:buNone/>
            </a:pPr>
            <a:r>
              <a:rPr lang="en-US" sz="1100" b="1" spc="400" kern="0" dirty="0">
                <a:solidFill>
                  <a:srgbClr val="6B7494"/>
                </a:solidFill>
                <a:latin typeface="Consolas" pitchFamily="34" charset="0"/>
                <a:ea typeface="Consolas" pitchFamily="34" charset="-122"/>
                <a:cs typeface="Consolas" pitchFamily="34" charset="-120"/>
              </a:rPr>
              <a:t>ARCHITECTURE</a:t>
            </a:r>
            <a:endParaRPr lang="en-US" sz="1100" dirty="0"/>
          </a:p>
        </p:txBody>
      </p:sp>
      <p:sp>
        <p:nvSpPr>
          <p:cNvPr id="27" name="Text 22"/>
          <p:cNvSpPr/>
          <p:nvPr/>
        </p:nvSpPr>
        <p:spPr>
          <a:xfrm>
            <a:off x="8321040" y="5586984"/>
            <a:ext cx="3108960" cy="548640"/>
          </a:xfrm>
          <a:prstGeom prst="rect">
            <a:avLst/>
          </a:prstGeom>
          <a:noFill/>
          <a:ln/>
        </p:spPr>
        <p:txBody>
          <a:bodyPr wrap="square" lIns="0" tIns="0" rIns="0" bIns="0" rtlCol="0" anchor="ctr"/>
          <a:lstStyle/>
          <a:p>
            <a:pPr indent="0" marL="0">
              <a:buNone/>
            </a:pPr>
            <a:r>
              <a:rPr lang="en-US" sz="3200" b="1" dirty="0">
                <a:solidFill>
                  <a:srgbClr val="FFFFFF"/>
                </a:solidFill>
                <a:latin typeface="Impact" pitchFamily="34" charset="0"/>
                <a:ea typeface="Impact" pitchFamily="34" charset="-122"/>
                <a:cs typeface="Impact" pitchFamily="34" charset="-120"/>
              </a:rPr>
              <a:t>ECS</a:t>
            </a:r>
            <a:endParaRPr lang="en-US" sz="3200" dirty="0"/>
          </a:p>
        </p:txBody>
      </p:sp>
      <p:sp>
        <p:nvSpPr>
          <p:cNvPr id="28" name="Text 23"/>
          <p:cNvSpPr/>
          <p:nvPr/>
        </p:nvSpPr>
        <p:spPr>
          <a:xfrm>
            <a:off x="8321040" y="6135624"/>
            <a:ext cx="3108960" cy="274320"/>
          </a:xfrm>
          <a:prstGeom prst="rect">
            <a:avLst/>
          </a:prstGeom>
          <a:noFill/>
          <a:ln/>
        </p:spPr>
        <p:txBody>
          <a:bodyPr wrap="square" lIns="0" tIns="0" rIns="0" bIns="0" rtlCol="0" anchor="ctr"/>
          <a:lstStyle/>
          <a:p>
            <a:pPr indent="0" marL="0">
              <a:buNone/>
            </a:pPr>
            <a:r>
              <a:rPr lang="en-US" sz="1200" i="1" dirty="0">
                <a:solidFill>
                  <a:srgbClr val="FFD60A"/>
                </a:solidFill>
                <a:latin typeface="Calibri" pitchFamily="34" charset="0"/>
                <a:ea typeface="Calibri" pitchFamily="34" charset="-122"/>
                <a:cs typeface="Calibri" pitchFamily="34" charset="-120"/>
              </a:rPr>
              <a:t>Component-based</a:t>
            </a:r>
            <a:endParaRPr lang="en-US" sz="1200" dirty="0"/>
          </a:p>
        </p:txBody>
      </p:sp>
      <p:sp>
        <p:nvSpPr>
          <p:cNvPr id="29" name="Text 24"/>
          <p:cNvSpPr/>
          <p:nvPr/>
        </p:nvSpPr>
        <p:spPr>
          <a:xfrm>
            <a:off x="457200" y="6446520"/>
            <a:ext cx="5486400" cy="274320"/>
          </a:xfrm>
          <a:prstGeom prst="rect">
            <a:avLst/>
          </a:prstGeom>
          <a:noFill/>
          <a:ln/>
        </p:spPr>
        <p:txBody>
          <a:bodyPr wrap="square" lIns="0" tIns="0" rIns="0" bIns="0" rtlCol="0" anchor="ctr"/>
          <a:lstStyle/>
          <a:p>
            <a:pPr indent="0" marL="0">
              <a:buNone/>
            </a:pPr>
            <a:r>
              <a:rPr lang="en-US" sz="1000" spc="300" kern="0" dirty="0">
                <a:solidFill>
                  <a:srgbClr val="6B7494"/>
                </a:solidFill>
                <a:latin typeface="Consolas" pitchFamily="34" charset="0"/>
                <a:ea typeface="Consolas" pitchFamily="34" charset="-122"/>
                <a:cs typeface="Consolas" pitchFamily="34" charset="-120"/>
              </a:rPr>
              <a:t>INTRODUCTION</a:t>
            </a:r>
            <a:endParaRPr lang="en-US" sz="1000" dirty="0"/>
          </a:p>
        </p:txBody>
      </p:sp>
      <p:sp>
        <p:nvSpPr>
          <p:cNvPr id="30" name="Text 25"/>
          <p:cNvSpPr/>
          <p:nvPr/>
        </p:nvSpPr>
        <p:spPr>
          <a:xfrm>
            <a:off x="10362895" y="6446520"/>
            <a:ext cx="1371600" cy="274320"/>
          </a:xfrm>
          <a:prstGeom prst="rect">
            <a:avLst/>
          </a:prstGeom>
          <a:noFill/>
          <a:ln/>
        </p:spPr>
        <p:txBody>
          <a:bodyPr wrap="square" lIns="0" tIns="0" rIns="0" bIns="0" rtlCol="0" anchor="ctr"/>
          <a:lstStyle/>
          <a:p>
            <a:pPr algn="r" indent="0" marL="0">
              <a:buNone/>
            </a:pPr>
            <a:r>
              <a:rPr lang="en-US" sz="1000" spc="200" kern="0" dirty="0">
                <a:solidFill>
                  <a:srgbClr val="00F0FF"/>
                </a:solidFill>
                <a:latin typeface="Consolas" pitchFamily="34" charset="0"/>
                <a:ea typeface="Consolas" pitchFamily="34" charset="-122"/>
                <a:cs typeface="Consolas" pitchFamily="34" charset="-120"/>
              </a:rPr>
              <a:t>02 / 14</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E27"/>
        </a:solidFill>
      </p:bgPr>
    </p:bg>
    <p:spTree>
      <p:nvGrpSpPr>
        <p:cNvPr id="1" name=""/>
        <p:cNvGrpSpPr/>
        <p:nvPr/>
      </p:nvGrpSpPr>
      <p:grpSpPr>
        <a:xfrm>
          <a:off x="0" y="0"/>
          <a:ext cx="0" cy="0"/>
          <a:chOff x="0" y="0"/>
          <a:chExt cx="0" cy="0"/>
        </a:xfrm>
      </p:grpSpPr>
      <p:sp>
        <p:nvSpPr>
          <p:cNvPr id="2" name="Shape 0"/>
          <p:cNvSpPr/>
          <p:nvPr/>
        </p:nvSpPr>
        <p:spPr>
          <a:xfrm>
            <a:off x="12027103" y="0"/>
            <a:ext cx="164592" cy="6858000"/>
          </a:xfrm>
          <a:prstGeom prst="rect">
            <a:avLst/>
          </a:prstGeom>
          <a:solidFill>
            <a:srgbClr val="FF2A6D"/>
          </a:solidFill>
          <a:ln/>
        </p:spPr>
      </p:sp>
      <p:sp>
        <p:nvSpPr>
          <p:cNvPr id="3" name="Shape 1"/>
          <p:cNvSpPr/>
          <p:nvPr/>
        </p:nvSpPr>
        <p:spPr>
          <a:xfrm>
            <a:off x="0" y="0"/>
            <a:ext cx="164592" cy="914400"/>
          </a:xfrm>
          <a:prstGeom prst="rect">
            <a:avLst/>
          </a:prstGeom>
          <a:solidFill>
            <a:srgbClr val="00F0FF"/>
          </a:solidFill>
          <a:ln/>
        </p:spPr>
      </p:sp>
      <p:sp>
        <p:nvSpPr>
          <p:cNvPr id="4" name="Text 2"/>
          <p:cNvSpPr/>
          <p:nvPr/>
        </p:nvSpPr>
        <p:spPr>
          <a:xfrm>
            <a:off x="548640" y="457200"/>
            <a:ext cx="1828800" cy="365760"/>
          </a:xfrm>
          <a:prstGeom prst="rect">
            <a:avLst/>
          </a:prstGeom>
          <a:noFill/>
          <a:ln/>
        </p:spPr>
        <p:txBody>
          <a:bodyPr wrap="square" lIns="0" tIns="0" rIns="0" bIns="0" rtlCol="0" anchor="ctr"/>
          <a:lstStyle/>
          <a:p>
            <a:pPr indent="0" marL="0">
              <a:buNone/>
            </a:pPr>
            <a:r>
              <a:rPr lang="en-US" sz="1400" b="1" dirty="0">
                <a:solidFill>
                  <a:srgbClr val="FF2A6D"/>
                </a:solidFill>
                <a:latin typeface="Consolas" pitchFamily="34" charset="0"/>
                <a:ea typeface="Consolas" pitchFamily="34" charset="-122"/>
                <a:cs typeface="Consolas" pitchFamily="34" charset="-120"/>
              </a:rPr>
              <a:t>// 02</a:t>
            </a:r>
            <a:endParaRPr lang="en-US" sz="1400" dirty="0"/>
          </a:p>
        </p:txBody>
      </p:sp>
      <p:sp>
        <p:nvSpPr>
          <p:cNvPr id="5" name="Text 3"/>
          <p:cNvSpPr/>
          <p:nvPr/>
        </p:nvSpPr>
        <p:spPr>
          <a:xfrm>
            <a:off x="548640" y="777240"/>
            <a:ext cx="10972800" cy="731520"/>
          </a:xfrm>
          <a:prstGeom prst="rect">
            <a:avLst/>
          </a:prstGeom>
          <a:noFill/>
          <a:ln/>
        </p:spPr>
        <p:txBody>
          <a:bodyPr wrap="square" lIns="0" tIns="0" rIns="0" bIns="0" rtlCol="0" anchor="ctr"/>
          <a:lstStyle/>
          <a:p>
            <a:pPr indent="0" marL="0">
              <a:buNone/>
            </a:pPr>
            <a:r>
              <a:rPr lang="en-US" sz="4000" b="1" spc="200" kern="0" dirty="0">
                <a:solidFill>
                  <a:srgbClr val="FFFFFF"/>
                </a:solidFill>
                <a:latin typeface="Impact" pitchFamily="34" charset="0"/>
                <a:ea typeface="Impact" pitchFamily="34" charset="-122"/>
                <a:cs typeface="Impact" pitchFamily="34" charset="-120"/>
              </a:rPr>
              <a:t>GAME CONCEPT &amp; CORE FEATURES</a:t>
            </a:r>
            <a:endParaRPr lang="en-US" sz="4000" dirty="0"/>
          </a:p>
        </p:txBody>
      </p:sp>
      <p:sp>
        <p:nvSpPr>
          <p:cNvPr id="6" name="Shape 4"/>
          <p:cNvSpPr/>
          <p:nvPr/>
        </p:nvSpPr>
        <p:spPr>
          <a:xfrm>
            <a:off x="548640" y="1554480"/>
            <a:ext cx="640080" cy="36576"/>
          </a:xfrm>
          <a:prstGeom prst="rect">
            <a:avLst/>
          </a:prstGeom>
          <a:solidFill>
            <a:srgbClr val="00F0FF"/>
          </a:solidFill>
          <a:ln/>
        </p:spPr>
      </p:sp>
      <p:sp>
        <p:nvSpPr>
          <p:cNvPr id="7" name="Text 5"/>
          <p:cNvSpPr/>
          <p:nvPr/>
        </p:nvSpPr>
        <p:spPr>
          <a:xfrm>
            <a:off x="548640" y="1691640"/>
            <a:ext cx="10972800" cy="365760"/>
          </a:xfrm>
          <a:prstGeom prst="rect">
            <a:avLst/>
          </a:prstGeom>
          <a:noFill/>
          <a:ln/>
        </p:spPr>
        <p:txBody>
          <a:bodyPr wrap="square" lIns="0" tIns="0" rIns="0" bIns="0" rtlCol="0" anchor="ctr"/>
          <a:lstStyle/>
          <a:p>
            <a:pPr indent="0" marL="0">
              <a:buNone/>
            </a:pPr>
            <a:r>
              <a:rPr lang="en-US" sz="1500" i="1" dirty="0">
                <a:solidFill>
                  <a:srgbClr val="A8B2D1"/>
                </a:solidFill>
                <a:latin typeface="Georgia" pitchFamily="34" charset="0"/>
                <a:ea typeface="Georgia" pitchFamily="34" charset="-122"/>
                <a:cs typeface="Georgia" pitchFamily="34" charset="-120"/>
              </a:rPr>
              <a:t>Six primary systems work in tandem to produce a fully functional arcade gameplay loop.</a:t>
            </a:r>
            <a:endParaRPr lang="en-US" sz="1500" dirty="0"/>
          </a:p>
        </p:txBody>
      </p:sp>
      <p:sp>
        <p:nvSpPr>
          <p:cNvPr id="8" name="Shape 6"/>
          <p:cNvSpPr/>
          <p:nvPr/>
        </p:nvSpPr>
        <p:spPr>
          <a:xfrm>
            <a:off x="548640" y="2286000"/>
            <a:ext cx="3657600" cy="1920240"/>
          </a:xfrm>
          <a:prstGeom prst="rect">
            <a:avLst/>
          </a:prstGeom>
          <a:solidFill>
            <a:srgbClr val="141938"/>
          </a:solidFill>
          <a:ln/>
        </p:spPr>
      </p:sp>
      <p:sp>
        <p:nvSpPr>
          <p:cNvPr id="9" name="Shape 7"/>
          <p:cNvSpPr/>
          <p:nvPr/>
        </p:nvSpPr>
        <p:spPr>
          <a:xfrm>
            <a:off x="548640" y="2286000"/>
            <a:ext cx="3657600" cy="73152"/>
          </a:xfrm>
          <a:prstGeom prst="rect">
            <a:avLst/>
          </a:prstGeom>
          <a:solidFill>
            <a:srgbClr val="FF2A6D"/>
          </a:solidFill>
          <a:ln/>
        </p:spPr>
      </p:sp>
      <p:sp>
        <p:nvSpPr>
          <p:cNvPr id="10" name="Shape 8"/>
          <p:cNvSpPr/>
          <p:nvPr/>
        </p:nvSpPr>
        <p:spPr>
          <a:xfrm>
            <a:off x="822960" y="2560320"/>
            <a:ext cx="777240" cy="777240"/>
          </a:xfrm>
          <a:prstGeom prst="ellipse">
            <a:avLst/>
          </a:prstGeom>
          <a:solidFill>
            <a:srgbClr val="1C2347"/>
          </a:solidFill>
          <a:ln w="19050">
            <a:solidFill>
              <a:srgbClr val="FF2A6D"/>
            </a:solidFill>
            <a:prstDash val="solid"/>
          </a:ln>
        </p:spPr>
      </p:sp>
      <p:pic>
        <p:nvPicPr>
          <p:cNvPr id="11" name="Image 0" descr="preencoded.png"/>
          <p:cNvPicPr>
            <a:picLocks noChangeAspect="1"/>
          </p:cNvPicPr>
          <p:nvPr/>
        </p:nvPicPr>
        <p:blipFill>
          <a:blip r:embed="rId1"/>
          <a:stretch>
            <a:fillRect/>
          </a:stretch>
        </p:blipFill>
        <p:spPr>
          <a:xfrm>
            <a:off x="987552" y="2724912"/>
            <a:ext cx="448056" cy="448056"/>
          </a:xfrm>
          <a:prstGeom prst="rect">
            <a:avLst/>
          </a:prstGeom>
        </p:spPr>
      </p:pic>
      <p:sp>
        <p:nvSpPr>
          <p:cNvPr id="12" name="Text 9"/>
          <p:cNvSpPr/>
          <p:nvPr/>
        </p:nvSpPr>
        <p:spPr>
          <a:xfrm>
            <a:off x="1737360" y="2651760"/>
            <a:ext cx="2286000"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Mouse-Aimed Combat</a:t>
            </a:r>
            <a:endParaRPr lang="en-US" sz="1600" dirty="0"/>
          </a:p>
        </p:txBody>
      </p:sp>
      <p:sp>
        <p:nvSpPr>
          <p:cNvPr id="13" name="Text 10"/>
          <p:cNvSpPr/>
          <p:nvPr/>
        </p:nvSpPr>
        <p:spPr>
          <a:xfrm>
            <a:off x="822960" y="3474720"/>
            <a:ext cx="3200400" cy="640080"/>
          </a:xfrm>
          <a:prstGeom prst="rect">
            <a:avLst/>
          </a:prstGeom>
          <a:noFill/>
          <a:ln/>
        </p:spPr>
        <p:txBody>
          <a:bodyPr wrap="square" lIns="0" tIns="0" rIns="0" bIns="0" rtlCol="0" anchor="ctr"/>
          <a:lstStyle/>
          <a:p>
            <a:pPr indent="0" marL="0">
              <a:buNone/>
            </a:pPr>
            <a:r>
              <a:rPr lang="en-US" sz="1200" dirty="0">
                <a:solidFill>
                  <a:srgbClr val="A8B2D1"/>
                </a:solidFill>
                <a:latin typeface="Calibri" pitchFamily="34" charset="0"/>
                <a:ea typeface="Calibri" pitchFamily="34" charset="-122"/>
                <a:cs typeface="Calibri" pitchFamily="34" charset="-120"/>
              </a:rPr>
              <a:t>Target enemies by following the cursor position in world space; launch projectiles at an adjustable fire speed.</a:t>
            </a:r>
            <a:endParaRPr lang="en-US" sz="1200" dirty="0"/>
          </a:p>
        </p:txBody>
      </p:sp>
      <p:sp>
        <p:nvSpPr>
          <p:cNvPr id="14" name="Shape 11"/>
          <p:cNvSpPr/>
          <p:nvPr/>
        </p:nvSpPr>
        <p:spPr>
          <a:xfrm>
            <a:off x="4343400" y="2286000"/>
            <a:ext cx="3657600" cy="1920240"/>
          </a:xfrm>
          <a:prstGeom prst="rect">
            <a:avLst/>
          </a:prstGeom>
          <a:solidFill>
            <a:srgbClr val="141938"/>
          </a:solidFill>
          <a:ln/>
        </p:spPr>
      </p:sp>
      <p:sp>
        <p:nvSpPr>
          <p:cNvPr id="15" name="Shape 12"/>
          <p:cNvSpPr/>
          <p:nvPr/>
        </p:nvSpPr>
        <p:spPr>
          <a:xfrm>
            <a:off x="4343400" y="2286000"/>
            <a:ext cx="3657600" cy="73152"/>
          </a:xfrm>
          <a:prstGeom prst="rect">
            <a:avLst/>
          </a:prstGeom>
          <a:solidFill>
            <a:srgbClr val="00F0FF"/>
          </a:solidFill>
          <a:ln/>
        </p:spPr>
      </p:sp>
      <p:sp>
        <p:nvSpPr>
          <p:cNvPr id="16" name="Shape 13"/>
          <p:cNvSpPr/>
          <p:nvPr/>
        </p:nvSpPr>
        <p:spPr>
          <a:xfrm>
            <a:off x="4617720" y="2560320"/>
            <a:ext cx="777240" cy="777240"/>
          </a:xfrm>
          <a:prstGeom prst="ellipse">
            <a:avLst/>
          </a:prstGeom>
          <a:solidFill>
            <a:srgbClr val="1C2347"/>
          </a:solidFill>
          <a:ln w="19050">
            <a:solidFill>
              <a:srgbClr val="00F0FF"/>
            </a:solidFill>
            <a:prstDash val="solid"/>
          </a:ln>
        </p:spPr>
      </p:sp>
      <p:pic>
        <p:nvPicPr>
          <p:cNvPr id="17" name="Image 1" descr="preencoded.png"/>
          <p:cNvPicPr>
            <a:picLocks noChangeAspect="1"/>
          </p:cNvPicPr>
          <p:nvPr/>
        </p:nvPicPr>
        <p:blipFill>
          <a:blip r:embed="rId2"/>
          <a:stretch>
            <a:fillRect/>
          </a:stretch>
        </p:blipFill>
        <p:spPr>
          <a:xfrm>
            <a:off x="4782312" y="2724912"/>
            <a:ext cx="448056" cy="448056"/>
          </a:xfrm>
          <a:prstGeom prst="rect">
            <a:avLst/>
          </a:prstGeom>
        </p:spPr>
      </p:pic>
      <p:sp>
        <p:nvSpPr>
          <p:cNvPr id="18" name="Text 14"/>
          <p:cNvSpPr/>
          <p:nvPr/>
        </p:nvSpPr>
        <p:spPr>
          <a:xfrm>
            <a:off x="5532120" y="2651760"/>
            <a:ext cx="2286000"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Four Movement Modes</a:t>
            </a:r>
            <a:endParaRPr lang="en-US" sz="1600" dirty="0"/>
          </a:p>
        </p:txBody>
      </p:sp>
      <p:sp>
        <p:nvSpPr>
          <p:cNvPr id="19" name="Text 15"/>
          <p:cNvSpPr/>
          <p:nvPr/>
        </p:nvSpPr>
        <p:spPr>
          <a:xfrm>
            <a:off x="4617720" y="3474720"/>
            <a:ext cx="3200400" cy="640080"/>
          </a:xfrm>
          <a:prstGeom prst="rect">
            <a:avLst/>
          </a:prstGeom>
          <a:noFill/>
          <a:ln/>
        </p:spPr>
        <p:txBody>
          <a:bodyPr wrap="square" lIns="0" tIns="0" rIns="0" bIns="0" rtlCol="0" anchor="ctr"/>
          <a:lstStyle/>
          <a:p>
            <a:pPr indent="0" marL="0">
              <a:buNone/>
            </a:pPr>
            <a:r>
              <a:rPr lang="en-US" sz="1200" dirty="0">
                <a:solidFill>
                  <a:srgbClr val="A8B2D1"/>
                </a:solidFill>
                <a:latin typeface="Calibri" pitchFamily="34" charset="0"/>
                <a:ea typeface="Calibri" pitchFamily="34" charset="-122"/>
                <a:cs typeface="Calibri" pitchFamily="34" charset="-120"/>
              </a:rPr>
              <a:t>FreeRoam, Horizontal, Vertical, and the physics-driven Asteroids mode featuring thrust and rotation mechanics.</a:t>
            </a:r>
            <a:endParaRPr lang="en-US" sz="1200" dirty="0"/>
          </a:p>
        </p:txBody>
      </p:sp>
      <p:sp>
        <p:nvSpPr>
          <p:cNvPr id="20" name="Shape 16"/>
          <p:cNvSpPr/>
          <p:nvPr/>
        </p:nvSpPr>
        <p:spPr>
          <a:xfrm>
            <a:off x="8138160" y="2286000"/>
            <a:ext cx="3657600" cy="1920240"/>
          </a:xfrm>
          <a:prstGeom prst="rect">
            <a:avLst/>
          </a:prstGeom>
          <a:solidFill>
            <a:srgbClr val="141938"/>
          </a:solidFill>
          <a:ln/>
        </p:spPr>
      </p:sp>
      <p:sp>
        <p:nvSpPr>
          <p:cNvPr id="21" name="Shape 17"/>
          <p:cNvSpPr/>
          <p:nvPr/>
        </p:nvSpPr>
        <p:spPr>
          <a:xfrm>
            <a:off x="8138160" y="2286000"/>
            <a:ext cx="3657600" cy="73152"/>
          </a:xfrm>
          <a:prstGeom prst="rect">
            <a:avLst/>
          </a:prstGeom>
          <a:solidFill>
            <a:srgbClr val="FF2A6D"/>
          </a:solidFill>
          <a:ln/>
        </p:spPr>
      </p:sp>
      <p:sp>
        <p:nvSpPr>
          <p:cNvPr id="22" name="Shape 18"/>
          <p:cNvSpPr/>
          <p:nvPr/>
        </p:nvSpPr>
        <p:spPr>
          <a:xfrm>
            <a:off x="8412480" y="2560320"/>
            <a:ext cx="777240" cy="777240"/>
          </a:xfrm>
          <a:prstGeom prst="ellipse">
            <a:avLst/>
          </a:prstGeom>
          <a:solidFill>
            <a:srgbClr val="1C2347"/>
          </a:solidFill>
          <a:ln w="19050">
            <a:solidFill>
              <a:srgbClr val="FF2A6D"/>
            </a:solidFill>
            <a:prstDash val="solid"/>
          </a:ln>
        </p:spPr>
      </p:sp>
      <p:pic>
        <p:nvPicPr>
          <p:cNvPr id="23" name="Image 2" descr="preencoded.png"/>
          <p:cNvPicPr>
            <a:picLocks noChangeAspect="1"/>
          </p:cNvPicPr>
          <p:nvPr/>
        </p:nvPicPr>
        <p:blipFill>
          <a:blip r:embed="rId3"/>
          <a:stretch>
            <a:fillRect/>
          </a:stretch>
        </p:blipFill>
        <p:spPr>
          <a:xfrm>
            <a:off x="8577072" y="2724912"/>
            <a:ext cx="448056" cy="448056"/>
          </a:xfrm>
          <a:prstGeom prst="rect">
            <a:avLst/>
          </a:prstGeom>
        </p:spPr>
      </p:pic>
      <p:sp>
        <p:nvSpPr>
          <p:cNvPr id="24" name="Text 19"/>
          <p:cNvSpPr/>
          <p:nvPr/>
        </p:nvSpPr>
        <p:spPr>
          <a:xfrm>
            <a:off x="9326880" y="2651760"/>
            <a:ext cx="2286000"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Smart Enemy AI</a:t>
            </a:r>
            <a:endParaRPr lang="en-US" sz="1600" dirty="0"/>
          </a:p>
        </p:txBody>
      </p:sp>
      <p:sp>
        <p:nvSpPr>
          <p:cNvPr id="25" name="Text 20"/>
          <p:cNvSpPr/>
          <p:nvPr/>
        </p:nvSpPr>
        <p:spPr>
          <a:xfrm>
            <a:off x="8412480" y="3474720"/>
            <a:ext cx="3200400" cy="640080"/>
          </a:xfrm>
          <a:prstGeom prst="rect">
            <a:avLst/>
          </a:prstGeom>
          <a:noFill/>
          <a:ln/>
        </p:spPr>
        <p:txBody>
          <a:bodyPr wrap="square" lIns="0" tIns="0" rIns="0" bIns="0" rtlCol="0" anchor="ctr"/>
          <a:lstStyle/>
          <a:p>
            <a:pPr indent="0" marL="0">
              <a:buNone/>
            </a:pPr>
            <a:r>
              <a:rPr lang="en-US" sz="1200" dirty="0">
                <a:solidFill>
                  <a:srgbClr val="A8B2D1"/>
                </a:solidFill>
                <a:latin typeface="Calibri" pitchFamily="34" charset="0"/>
                <a:ea typeface="Calibri" pitchFamily="34" charset="-122"/>
                <a:cs typeface="Calibri" pitchFamily="34" charset="-120"/>
              </a:rPr>
              <a:t>Follow, Scroll, and Stationary patrol patterns, each capable of firing independently via built-in shooting logic.</a:t>
            </a:r>
            <a:endParaRPr lang="en-US" sz="1200" dirty="0"/>
          </a:p>
        </p:txBody>
      </p:sp>
      <p:sp>
        <p:nvSpPr>
          <p:cNvPr id="26" name="Shape 21"/>
          <p:cNvSpPr/>
          <p:nvPr/>
        </p:nvSpPr>
        <p:spPr>
          <a:xfrm>
            <a:off x="548640" y="4370832"/>
            <a:ext cx="3657600" cy="1920240"/>
          </a:xfrm>
          <a:prstGeom prst="rect">
            <a:avLst/>
          </a:prstGeom>
          <a:solidFill>
            <a:srgbClr val="141938"/>
          </a:solidFill>
          <a:ln/>
        </p:spPr>
      </p:sp>
      <p:sp>
        <p:nvSpPr>
          <p:cNvPr id="27" name="Shape 22"/>
          <p:cNvSpPr/>
          <p:nvPr/>
        </p:nvSpPr>
        <p:spPr>
          <a:xfrm>
            <a:off x="548640" y="4370832"/>
            <a:ext cx="3657600" cy="73152"/>
          </a:xfrm>
          <a:prstGeom prst="rect">
            <a:avLst/>
          </a:prstGeom>
          <a:solidFill>
            <a:srgbClr val="00F0FF"/>
          </a:solidFill>
          <a:ln/>
        </p:spPr>
      </p:sp>
      <p:sp>
        <p:nvSpPr>
          <p:cNvPr id="28" name="Shape 23"/>
          <p:cNvSpPr/>
          <p:nvPr/>
        </p:nvSpPr>
        <p:spPr>
          <a:xfrm>
            <a:off x="822960" y="4645152"/>
            <a:ext cx="777240" cy="777240"/>
          </a:xfrm>
          <a:prstGeom prst="ellipse">
            <a:avLst/>
          </a:prstGeom>
          <a:solidFill>
            <a:srgbClr val="1C2347"/>
          </a:solidFill>
          <a:ln w="19050">
            <a:solidFill>
              <a:srgbClr val="00F0FF"/>
            </a:solidFill>
            <a:prstDash val="solid"/>
          </a:ln>
        </p:spPr>
      </p:sp>
      <p:pic>
        <p:nvPicPr>
          <p:cNvPr id="29" name="Image 3" descr="preencoded.png"/>
          <p:cNvPicPr>
            <a:picLocks noChangeAspect="1"/>
          </p:cNvPicPr>
          <p:nvPr/>
        </p:nvPicPr>
        <p:blipFill>
          <a:blip r:embed="rId4"/>
          <a:stretch>
            <a:fillRect/>
          </a:stretch>
        </p:blipFill>
        <p:spPr>
          <a:xfrm>
            <a:off x="987552" y="4809744"/>
            <a:ext cx="448056" cy="448056"/>
          </a:xfrm>
          <a:prstGeom prst="rect">
            <a:avLst/>
          </a:prstGeom>
        </p:spPr>
      </p:pic>
      <p:sp>
        <p:nvSpPr>
          <p:cNvPr id="30" name="Text 24"/>
          <p:cNvSpPr/>
          <p:nvPr/>
        </p:nvSpPr>
        <p:spPr>
          <a:xfrm>
            <a:off x="1737360" y="4736592"/>
            <a:ext cx="2286000"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Health &amp; Lives</a:t>
            </a:r>
            <a:endParaRPr lang="en-US" sz="1600" dirty="0"/>
          </a:p>
        </p:txBody>
      </p:sp>
      <p:sp>
        <p:nvSpPr>
          <p:cNvPr id="31" name="Text 25"/>
          <p:cNvSpPr/>
          <p:nvPr/>
        </p:nvSpPr>
        <p:spPr>
          <a:xfrm>
            <a:off x="822960" y="5559552"/>
            <a:ext cx="3200400" cy="640080"/>
          </a:xfrm>
          <a:prstGeom prst="rect">
            <a:avLst/>
          </a:prstGeom>
          <a:noFill/>
          <a:ln/>
        </p:spPr>
        <p:txBody>
          <a:bodyPr wrap="square" lIns="0" tIns="0" rIns="0" bIns="0" rtlCol="0" anchor="ctr"/>
          <a:lstStyle/>
          <a:p>
            <a:pPr indent="0" marL="0">
              <a:buNone/>
            </a:pPr>
            <a:r>
              <a:rPr lang="en-US" sz="1200" dirty="0">
                <a:solidFill>
                  <a:srgbClr val="A8B2D1"/>
                </a:solidFill>
                <a:latin typeface="Calibri" pitchFamily="34" charset="0"/>
                <a:ea typeface="Calibri" pitchFamily="34" charset="-122"/>
                <a:cs typeface="Calibri" pitchFamily="34" charset="-120"/>
              </a:rPr>
              <a:t>Faction-based damage checks, temporary post-hit invincibility, player respawning, and structured death management.</a:t>
            </a:r>
            <a:endParaRPr lang="en-US" sz="1200" dirty="0"/>
          </a:p>
        </p:txBody>
      </p:sp>
      <p:sp>
        <p:nvSpPr>
          <p:cNvPr id="32" name="Shape 26"/>
          <p:cNvSpPr/>
          <p:nvPr/>
        </p:nvSpPr>
        <p:spPr>
          <a:xfrm>
            <a:off x="4343400" y="4370832"/>
            <a:ext cx="3657600" cy="1920240"/>
          </a:xfrm>
          <a:prstGeom prst="rect">
            <a:avLst/>
          </a:prstGeom>
          <a:solidFill>
            <a:srgbClr val="141938"/>
          </a:solidFill>
          <a:ln/>
        </p:spPr>
      </p:sp>
      <p:sp>
        <p:nvSpPr>
          <p:cNvPr id="33" name="Shape 27"/>
          <p:cNvSpPr/>
          <p:nvPr/>
        </p:nvSpPr>
        <p:spPr>
          <a:xfrm>
            <a:off x="4343400" y="4370832"/>
            <a:ext cx="3657600" cy="73152"/>
          </a:xfrm>
          <a:prstGeom prst="rect">
            <a:avLst/>
          </a:prstGeom>
          <a:solidFill>
            <a:srgbClr val="FFD60A"/>
          </a:solidFill>
          <a:ln/>
        </p:spPr>
      </p:sp>
      <p:sp>
        <p:nvSpPr>
          <p:cNvPr id="34" name="Shape 28"/>
          <p:cNvSpPr/>
          <p:nvPr/>
        </p:nvSpPr>
        <p:spPr>
          <a:xfrm>
            <a:off x="4617720" y="4645152"/>
            <a:ext cx="777240" cy="777240"/>
          </a:xfrm>
          <a:prstGeom prst="ellipse">
            <a:avLst/>
          </a:prstGeom>
          <a:solidFill>
            <a:srgbClr val="1C2347"/>
          </a:solidFill>
          <a:ln w="19050">
            <a:solidFill>
              <a:srgbClr val="FFD60A"/>
            </a:solidFill>
            <a:prstDash val="solid"/>
          </a:ln>
        </p:spPr>
      </p:sp>
      <p:pic>
        <p:nvPicPr>
          <p:cNvPr id="35" name="Image 4" descr="preencoded.png"/>
          <p:cNvPicPr>
            <a:picLocks noChangeAspect="1"/>
          </p:cNvPicPr>
          <p:nvPr/>
        </p:nvPicPr>
        <p:blipFill>
          <a:blip r:embed="rId5"/>
          <a:stretch>
            <a:fillRect/>
          </a:stretch>
        </p:blipFill>
        <p:spPr>
          <a:xfrm>
            <a:off x="4782312" y="4809744"/>
            <a:ext cx="448056" cy="448056"/>
          </a:xfrm>
          <a:prstGeom prst="rect">
            <a:avLst/>
          </a:prstGeom>
        </p:spPr>
      </p:pic>
      <p:sp>
        <p:nvSpPr>
          <p:cNvPr id="36" name="Text 29"/>
          <p:cNvSpPr/>
          <p:nvPr/>
        </p:nvSpPr>
        <p:spPr>
          <a:xfrm>
            <a:off x="5532120" y="4736592"/>
            <a:ext cx="2286000"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Score &amp; High Score</a:t>
            </a:r>
            <a:endParaRPr lang="en-US" sz="1600" dirty="0"/>
          </a:p>
        </p:txBody>
      </p:sp>
      <p:sp>
        <p:nvSpPr>
          <p:cNvPr id="37" name="Text 30"/>
          <p:cNvSpPr/>
          <p:nvPr/>
        </p:nvSpPr>
        <p:spPr>
          <a:xfrm>
            <a:off x="4617720" y="5559552"/>
            <a:ext cx="3200400" cy="640080"/>
          </a:xfrm>
          <a:prstGeom prst="rect">
            <a:avLst/>
          </a:prstGeom>
          <a:noFill/>
          <a:ln/>
        </p:spPr>
        <p:txBody>
          <a:bodyPr wrap="square" lIns="0" tIns="0" rIns="0" bIns="0" rtlCol="0" anchor="ctr"/>
          <a:lstStyle/>
          <a:p>
            <a:pPr indent="0" marL="0">
              <a:buNone/>
            </a:pPr>
            <a:r>
              <a:rPr lang="en-US" sz="1200" dirty="0">
                <a:solidFill>
                  <a:srgbClr val="A8B2D1"/>
                </a:solidFill>
                <a:latin typeface="Calibri" pitchFamily="34" charset="0"/>
                <a:ea typeface="Calibri" pitchFamily="34" charset="-122"/>
                <a:cs typeface="Calibri" pitchFamily="34" charset="-120"/>
              </a:rPr>
              <a:t>High score retained between sessions via PlayerPrefs; adjustable enemy-kill threshold determines level victory.</a:t>
            </a:r>
            <a:endParaRPr lang="en-US" sz="1200" dirty="0"/>
          </a:p>
        </p:txBody>
      </p:sp>
      <p:sp>
        <p:nvSpPr>
          <p:cNvPr id="38" name="Shape 31"/>
          <p:cNvSpPr/>
          <p:nvPr/>
        </p:nvSpPr>
        <p:spPr>
          <a:xfrm>
            <a:off x="8138160" y="4370832"/>
            <a:ext cx="3657600" cy="1920240"/>
          </a:xfrm>
          <a:prstGeom prst="rect">
            <a:avLst/>
          </a:prstGeom>
          <a:solidFill>
            <a:srgbClr val="141938"/>
          </a:solidFill>
          <a:ln/>
        </p:spPr>
      </p:sp>
      <p:sp>
        <p:nvSpPr>
          <p:cNvPr id="39" name="Shape 32"/>
          <p:cNvSpPr/>
          <p:nvPr/>
        </p:nvSpPr>
        <p:spPr>
          <a:xfrm>
            <a:off x="8138160" y="4370832"/>
            <a:ext cx="3657600" cy="73152"/>
          </a:xfrm>
          <a:prstGeom prst="rect">
            <a:avLst/>
          </a:prstGeom>
          <a:solidFill>
            <a:srgbClr val="9D4EDD"/>
          </a:solidFill>
          <a:ln/>
        </p:spPr>
      </p:sp>
      <p:sp>
        <p:nvSpPr>
          <p:cNvPr id="40" name="Shape 33"/>
          <p:cNvSpPr/>
          <p:nvPr/>
        </p:nvSpPr>
        <p:spPr>
          <a:xfrm>
            <a:off x="8412480" y="4645152"/>
            <a:ext cx="777240" cy="777240"/>
          </a:xfrm>
          <a:prstGeom prst="ellipse">
            <a:avLst/>
          </a:prstGeom>
          <a:solidFill>
            <a:srgbClr val="1C2347"/>
          </a:solidFill>
          <a:ln w="19050">
            <a:solidFill>
              <a:srgbClr val="9D4EDD"/>
            </a:solidFill>
            <a:prstDash val="solid"/>
          </a:ln>
        </p:spPr>
      </p:sp>
      <p:pic>
        <p:nvPicPr>
          <p:cNvPr id="41" name="Image 5" descr="preencoded.png"/>
          <p:cNvPicPr>
            <a:picLocks noChangeAspect="1"/>
          </p:cNvPicPr>
          <p:nvPr/>
        </p:nvPicPr>
        <p:blipFill>
          <a:blip r:embed="rId6"/>
          <a:stretch>
            <a:fillRect/>
          </a:stretch>
        </p:blipFill>
        <p:spPr>
          <a:xfrm>
            <a:off x="8577072" y="4809744"/>
            <a:ext cx="448056" cy="448056"/>
          </a:xfrm>
          <a:prstGeom prst="rect">
            <a:avLst/>
          </a:prstGeom>
        </p:spPr>
      </p:pic>
      <p:sp>
        <p:nvSpPr>
          <p:cNvPr id="42" name="Text 34"/>
          <p:cNvSpPr/>
          <p:nvPr/>
        </p:nvSpPr>
        <p:spPr>
          <a:xfrm>
            <a:off x="9326880" y="4736592"/>
            <a:ext cx="2286000"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Page-Based UI</a:t>
            </a:r>
            <a:endParaRPr lang="en-US" sz="1600" dirty="0"/>
          </a:p>
        </p:txBody>
      </p:sp>
      <p:sp>
        <p:nvSpPr>
          <p:cNvPr id="43" name="Text 35"/>
          <p:cNvSpPr/>
          <p:nvPr/>
        </p:nvSpPr>
        <p:spPr>
          <a:xfrm>
            <a:off x="8412480" y="5559552"/>
            <a:ext cx="3200400" cy="640080"/>
          </a:xfrm>
          <a:prstGeom prst="rect">
            <a:avLst/>
          </a:prstGeom>
          <a:noFill/>
          <a:ln/>
        </p:spPr>
        <p:txBody>
          <a:bodyPr wrap="square" lIns="0" tIns="0" rIns="0" bIns="0" rtlCol="0" anchor="ctr"/>
          <a:lstStyle/>
          <a:p>
            <a:pPr indent="0" marL="0">
              <a:buNone/>
            </a:pPr>
            <a:r>
              <a:rPr lang="en-US" sz="1200" dirty="0">
                <a:solidFill>
                  <a:srgbClr val="A8B2D1"/>
                </a:solidFill>
                <a:latin typeface="Calibri" pitchFamily="34" charset="0"/>
                <a:ea typeface="Calibri" pitchFamily="34" charset="-122"/>
                <a:cs typeface="Calibri" pitchFamily="34" charset="-120"/>
              </a:rPr>
              <a:t>A centralised UIManager governs all screen states: the heads-up display, pause menu, game-over screen, and win screen.</a:t>
            </a:r>
            <a:endParaRPr lang="en-US" sz="1200" dirty="0"/>
          </a:p>
        </p:txBody>
      </p:sp>
      <p:sp>
        <p:nvSpPr>
          <p:cNvPr id="44" name="Text 36"/>
          <p:cNvSpPr/>
          <p:nvPr/>
        </p:nvSpPr>
        <p:spPr>
          <a:xfrm>
            <a:off x="457200" y="6446520"/>
            <a:ext cx="5486400" cy="274320"/>
          </a:xfrm>
          <a:prstGeom prst="rect">
            <a:avLst/>
          </a:prstGeom>
          <a:noFill/>
          <a:ln/>
        </p:spPr>
        <p:txBody>
          <a:bodyPr wrap="square" lIns="0" tIns="0" rIns="0" bIns="0" rtlCol="0" anchor="ctr"/>
          <a:lstStyle/>
          <a:p>
            <a:pPr indent="0" marL="0">
              <a:buNone/>
            </a:pPr>
            <a:r>
              <a:rPr lang="en-US" sz="1000" spc="300" kern="0" dirty="0">
                <a:solidFill>
                  <a:srgbClr val="6B7494"/>
                </a:solidFill>
                <a:latin typeface="Consolas" pitchFamily="34" charset="0"/>
                <a:ea typeface="Consolas" pitchFamily="34" charset="-122"/>
                <a:cs typeface="Consolas" pitchFamily="34" charset="-120"/>
              </a:rPr>
              <a:t>GAME CONCEPT</a:t>
            </a:r>
            <a:endParaRPr lang="en-US" sz="1000" dirty="0"/>
          </a:p>
        </p:txBody>
      </p:sp>
      <p:sp>
        <p:nvSpPr>
          <p:cNvPr id="45" name="Text 37"/>
          <p:cNvSpPr/>
          <p:nvPr/>
        </p:nvSpPr>
        <p:spPr>
          <a:xfrm>
            <a:off x="10362895" y="6446520"/>
            <a:ext cx="1371600" cy="274320"/>
          </a:xfrm>
          <a:prstGeom prst="rect">
            <a:avLst/>
          </a:prstGeom>
          <a:noFill/>
          <a:ln/>
        </p:spPr>
        <p:txBody>
          <a:bodyPr wrap="square" lIns="0" tIns="0" rIns="0" bIns="0" rtlCol="0" anchor="ctr"/>
          <a:lstStyle/>
          <a:p>
            <a:pPr algn="r" indent="0" marL="0">
              <a:buNone/>
            </a:pPr>
            <a:r>
              <a:rPr lang="en-US" sz="1000" spc="200" kern="0" dirty="0">
                <a:solidFill>
                  <a:srgbClr val="00F0FF"/>
                </a:solidFill>
                <a:latin typeface="Consolas" pitchFamily="34" charset="0"/>
                <a:ea typeface="Consolas" pitchFamily="34" charset="-122"/>
                <a:cs typeface="Consolas" pitchFamily="34" charset="-120"/>
              </a:rPr>
              <a:t>03 / 14</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E27"/>
        </a:solidFill>
      </p:bgPr>
    </p:bg>
    <p:spTree>
      <p:nvGrpSpPr>
        <p:cNvPr id="1" name=""/>
        <p:cNvGrpSpPr/>
        <p:nvPr/>
      </p:nvGrpSpPr>
      <p:grpSpPr>
        <a:xfrm>
          <a:off x="0" y="0"/>
          <a:ext cx="0" cy="0"/>
          <a:chOff x="0" y="0"/>
          <a:chExt cx="0" cy="0"/>
        </a:xfrm>
      </p:grpSpPr>
      <p:sp>
        <p:nvSpPr>
          <p:cNvPr id="2" name="Shape 0"/>
          <p:cNvSpPr/>
          <p:nvPr/>
        </p:nvSpPr>
        <p:spPr>
          <a:xfrm>
            <a:off x="12027103" y="0"/>
            <a:ext cx="164592" cy="6858000"/>
          </a:xfrm>
          <a:prstGeom prst="rect">
            <a:avLst/>
          </a:prstGeom>
          <a:solidFill>
            <a:srgbClr val="FF2A6D"/>
          </a:solidFill>
          <a:ln/>
        </p:spPr>
      </p:sp>
      <p:sp>
        <p:nvSpPr>
          <p:cNvPr id="3" name="Shape 1"/>
          <p:cNvSpPr/>
          <p:nvPr/>
        </p:nvSpPr>
        <p:spPr>
          <a:xfrm>
            <a:off x="0" y="0"/>
            <a:ext cx="164592" cy="914400"/>
          </a:xfrm>
          <a:prstGeom prst="rect">
            <a:avLst/>
          </a:prstGeom>
          <a:solidFill>
            <a:srgbClr val="00F0FF"/>
          </a:solidFill>
          <a:ln/>
        </p:spPr>
      </p:sp>
      <p:sp>
        <p:nvSpPr>
          <p:cNvPr id="4" name="Text 2"/>
          <p:cNvSpPr/>
          <p:nvPr/>
        </p:nvSpPr>
        <p:spPr>
          <a:xfrm>
            <a:off x="548640" y="457200"/>
            <a:ext cx="1828800" cy="365760"/>
          </a:xfrm>
          <a:prstGeom prst="rect">
            <a:avLst/>
          </a:prstGeom>
          <a:noFill/>
          <a:ln/>
        </p:spPr>
        <p:txBody>
          <a:bodyPr wrap="square" lIns="0" tIns="0" rIns="0" bIns="0" rtlCol="0" anchor="ctr"/>
          <a:lstStyle/>
          <a:p>
            <a:pPr indent="0" marL="0">
              <a:buNone/>
            </a:pPr>
            <a:r>
              <a:rPr lang="en-US" sz="1400" b="1" dirty="0">
                <a:solidFill>
                  <a:srgbClr val="FF2A6D"/>
                </a:solidFill>
                <a:latin typeface="Consolas" pitchFamily="34" charset="0"/>
                <a:ea typeface="Consolas" pitchFamily="34" charset="-122"/>
                <a:cs typeface="Consolas" pitchFamily="34" charset="-120"/>
              </a:rPr>
              <a:t>// 03</a:t>
            </a:r>
            <a:endParaRPr lang="en-US" sz="1400" dirty="0"/>
          </a:p>
        </p:txBody>
      </p:sp>
      <p:sp>
        <p:nvSpPr>
          <p:cNvPr id="5" name="Text 3"/>
          <p:cNvSpPr/>
          <p:nvPr/>
        </p:nvSpPr>
        <p:spPr>
          <a:xfrm>
            <a:off x="548640" y="777240"/>
            <a:ext cx="10972800" cy="731520"/>
          </a:xfrm>
          <a:prstGeom prst="rect">
            <a:avLst/>
          </a:prstGeom>
          <a:noFill/>
          <a:ln/>
        </p:spPr>
        <p:txBody>
          <a:bodyPr wrap="square" lIns="0" tIns="0" rIns="0" bIns="0" rtlCol="0" anchor="ctr"/>
          <a:lstStyle/>
          <a:p>
            <a:pPr indent="0" marL="0">
              <a:buNone/>
            </a:pPr>
            <a:r>
              <a:rPr lang="en-US" sz="4000" b="1" spc="200" kern="0" dirty="0">
                <a:solidFill>
                  <a:srgbClr val="FFFFFF"/>
                </a:solidFill>
                <a:latin typeface="Impact" pitchFamily="34" charset="0"/>
                <a:ea typeface="Impact" pitchFamily="34" charset="-122"/>
                <a:cs typeface="Impact" pitchFamily="34" charset="-120"/>
              </a:rPr>
              <a:t>LEVELS &amp; LIVE BUILD</a:t>
            </a:r>
            <a:endParaRPr lang="en-US" sz="4000" dirty="0"/>
          </a:p>
        </p:txBody>
      </p:sp>
      <p:sp>
        <p:nvSpPr>
          <p:cNvPr id="6" name="Shape 4"/>
          <p:cNvSpPr/>
          <p:nvPr/>
        </p:nvSpPr>
        <p:spPr>
          <a:xfrm>
            <a:off x="548640" y="1554480"/>
            <a:ext cx="640080" cy="36576"/>
          </a:xfrm>
          <a:prstGeom prst="rect">
            <a:avLst/>
          </a:prstGeom>
          <a:solidFill>
            <a:srgbClr val="00F0FF"/>
          </a:solidFill>
          <a:ln/>
        </p:spPr>
      </p:sp>
      <p:sp>
        <p:nvSpPr>
          <p:cNvPr id="7" name="Text 5"/>
          <p:cNvSpPr/>
          <p:nvPr/>
        </p:nvSpPr>
        <p:spPr>
          <a:xfrm>
            <a:off x="548640" y="1691640"/>
            <a:ext cx="10972800" cy="365760"/>
          </a:xfrm>
          <a:prstGeom prst="rect">
            <a:avLst/>
          </a:prstGeom>
          <a:noFill/>
          <a:ln/>
        </p:spPr>
        <p:txBody>
          <a:bodyPr wrap="square" lIns="0" tIns="0" rIns="0" bIns="0" rtlCol="0" anchor="ctr"/>
          <a:lstStyle/>
          <a:p>
            <a:pPr indent="0" marL="0">
              <a:buNone/>
            </a:pPr>
            <a:r>
              <a:rPr lang="en-US" sz="1400" i="1" dirty="0">
                <a:solidFill>
                  <a:srgbClr val="A8B2D1"/>
                </a:solidFill>
                <a:latin typeface="Georgia" pitchFamily="34" charset="0"/>
                <a:ea typeface="Georgia" pitchFamily="34" charset="-122"/>
                <a:cs typeface="Georgia" pitchFamily="34" charset="-120"/>
              </a:rPr>
              <a:t>Four stages of spaceship-versus-alien action — accessible directly from your browser with no setup needed.</a:t>
            </a:r>
            <a:endParaRPr lang="en-US" sz="1400" dirty="0"/>
          </a:p>
        </p:txBody>
      </p:sp>
      <p:sp>
        <p:nvSpPr>
          <p:cNvPr id="8" name="Shape 6"/>
          <p:cNvSpPr/>
          <p:nvPr/>
        </p:nvSpPr>
        <p:spPr>
          <a:xfrm>
            <a:off x="548640" y="2240280"/>
            <a:ext cx="2679192" cy="2514600"/>
          </a:xfrm>
          <a:prstGeom prst="rect">
            <a:avLst/>
          </a:prstGeom>
          <a:solidFill>
            <a:srgbClr val="141938"/>
          </a:solidFill>
          <a:ln/>
        </p:spPr>
      </p:sp>
      <p:sp>
        <p:nvSpPr>
          <p:cNvPr id="9" name="Shape 7"/>
          <p:cNvSpPr/>
          <p:nvPr/>
        </p:nvSpPr>
        <p:spPr>
          <a:xfrm>
            <a:off x="548640" y="2240280"/>
            <a:ext cx="2679192" cy="73152"/>
          </a:xfrm>
          <a:prstGeom prst="rect">
            <a:avLst/>
          </a:prstGeom>
          <a:solidFill>
            <a:srgbClr val="00F0FF"/>
          </a:solidFill>
          <a:ln/>
        </p:spPr>
      </p:sp>
      <p:sp>
        <p:nvSpPr>
          <p:cNvPr id="10" name="Text 8"/>
          <p:cNvSpPr/>
          <p:nvPr/>
        </p:nvSpPr>
        <p:spPr>
          <a:xfrm>
            <a:off x="777240" y="2423160"/>
            <a:ext cx="2221992" cy="822960"/>
          </a:xfrm>
          <a:prstGeom prst="rect">
            <a:avLst/>
          </a:prstGeom>
          <a:noFill/>
          <a:ln/>
        </p:spPr>
        <p:txBody>
          <a:bodyPr wrap="square" lIns="0" tIns="0" rIns="0" bIns="0" rtlCol="0" anchor="ctr"/>
          <a:lstStyle/>
          <a:p>
            <a:pPr indent="0" marL="0">
              <a:buNone/>
            </a:pPr>
            <a:r>
              <a:rPr lang="en-US" sz="5600" b="1" dirty="0">
                <a:solidFill>
                  <a:srgbClr val="00F0FF"/>
                </a:solidFill>
                <a:latin typeface="Impact" pitchFamily="34" charset="0"/>
                <a:ea typeface="Impact" pitchFamily="34" charset="-122"/>
                <a:cs typeface="Impact" pitchFamily="34" charset="-120"/>
              </a:rPr>
              <a:t>01</a:t>
            </a:r>
            <a:endParaRPr lang="en-US" sz="5600" dirty="0"/>
          </a:p>
        </p:txBody>
      </p:sp>
      <p:sp>
        <p:nvSpPr>
          <p:cNvPr id="11" name="Text 9"/>
          <p:cNvSpPr/>
          <p:nvPr/>
        </p:nvSpPr>
        <p:spPr>
          <a:xfrm>
            <a:off x="777240" y="3291840"/>
            <a:ext cx="2221992" cy="228600"/>
          </a:xfrm>
          <a:prstGeom prst="rect">
            <a:avLst/>
          </a:prstGeom>
          <a:noFill/>
          <a:ln/>
        </p:spPr>
        <p:txBody>
          <a:bodyPr wrap="square" lIns="0" tIns="0" rIns="0" bIns="0" rtlCol="0" anchor="ctr"/>
          <a:lstStyle/>
          <a:p>
            <a:pPr indent="0" marL="0">
              <a:buNone/>
            </a:pPr>
            <a:r>
              <a:rPr lang="en-US" sz="900" b="1" spc="400" kern="0" dirty="0">
                <a:solidFill>
                  <a:srgbClr val="6B7494"/>
                </a:solidFill>
                <a:latin typeface="Consolas" pitchFamily="34" charset="0"/>
                <a:ea typeface="Consolas" pitchFamily="34" charset="-122"/>
                <a:cs typeface="Consolas" pitchFamily="34" charset="-120"/>
              </a:rPr>
              <a:t>LEVEL 01</a:t>
            </a:r>
            <a:endParaRPr lang="en-US" sz="900" dirty="0"/>
          </a:p>
        </p:txBody>
      </p:sp>
      <p:sp>
        <p:nvSpPr>
          <p:cNvPr id="12" name="Text 10"/>
          <p:cNvSpPr/>
          <p:nvPr/>
        </p:nvSpPr>
        <p:spPr>
          <a:xfrm>
            <a:off x="777240" y="3538728"/>
            <a:ext cx="2221992"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Starting Stage</a:t>
            </a:r>
            <a:endParaRPr lang="en-US" sz="1400" dirty="0"/>
          </a:p>
        </p:txBody>
      </p:sp>
      <p:sp>
        <p:nvSpPr>
          <p:cNvPr id="13" name="Text 11"/>
          <p:cNvSpPr/>
          <p:nvPr/>
        </p:nvSpPr>
        <p:spPr>
          <a:xfrm>
            <a:off x="777240" y="3840480"/>
            <a:ext cx="2221992" cy="502920"/>
          </a:xfrm>
          <a:prstGeom prst="rect">
            <a:avLst/>
          </a:prstGeom>
          <a:noFill/>
          <a:ln/>
        </p:spPr>
        <p:txBody>
          <a:bodyPr wrap="square" lIns="0" tIns="0" rIns="0" bIns="0" rtlCol="0" anchor="ctr"/>
          <a:lstStyle/>
          <a:p>
            <a:pPr indent="0" marL="0">
              <a:buNone/>
            </a:pPr>
            <a:r>
              <a:rPr lang="en-US" sz="1000" dirty="0">
                <a:solidFill>
                  <a:srgbClr val="A8B2D1"/>
                </a:solidFill>
                <a:latin typeface="Calibri" pitchFamily="34" charset="0"/>
                <a:ea typeface="Calibri" pitchFamily="34" charset="-122"/>
                <a:cs typeface="Calibri" pitchFamily="34" charset="-120"/>
              </a:rPr>
              <a:t>First-encounter wave with sparse enemy placement.</a:t>
            </a:r>
            <a:endParaRPr lang="en-US" sz="1000" dirty="0"/>
          </a:p>
        </p:txBody>
      </p:sp>
      <p:sp>
        <p:nvSpPr>
          <p:cNvPr id="14" name="Shape 12"/>
          <p:cNvSpPr/>
          <p:nvPr/>
        </p:nvSpPr>
        <p:spPr>
          <a:xfrm>
            <a:off x="777240" y="4389120"/>
            <a:ext cx="960120" cy="256032"/>
          </a:xfrm>
          <a:prstGeom prst="rect">
            <a:avLst/>
          </a:prstGeom>
          <a:solidFill>
            <a:srgbClr val="00F0FF"/>
          </a:solidFill>
          <a:ln/>
        </p:spPr>
      </p:sp>
      <p:sp>
        <p:nvSpPr>
          <p:cNvPr id="15" name="Text 13"/>
          <p:cNvSpPr/>
          <p:nvPr/>
        </p:nvSpPr>
        <p:spPr>
          <a:xfrm>
            <a:off x="777240" y="4389120"/>
            <a:ext cx="960120" cy="256032"/>
          </a:xfrm>
          <a:prstGeom prst="rect">
            <a:avLst/>
          </a:prstGeom>
          <a:noFill/>
          <a:ln/>
        </p:spPr>
        <p:txBody>
          <a:bodyPr wrap="square" lIns="0" tIns="0" rIns="0" bIns="0" rtlCol="0" anchor="ctr"/>
          <a:lstStyle/>
          <a:p>
            <a:pPr algn="ctr" indent="0" marL="0">
              <a:buNone/>
            </a:pPr>
            <a:r>
              <a:rPr lang="en-US" sz="900" b="1" spc="200" kern="0" dirty="0">
                <a:solidFill>
                  <a:srgbClr val="0A0E27"/>
                </a:solidFill>
                <a:latin typeface="Consolas" pitchFamily="34" charset="0"/>
                <a:ea typeface="Consolas" pitchFamily="34" charset="-122"/>
                <a:cs typeface="Consolas" pitchFamily="34" charset="-120"/>
              </a:rPr>
              <a:t>3 LIVES</a:t>
            </a:r>
            <a:endParaRPr lang="en-US" sz="900" dirty="0"/>
          </a:p>
        </p:txBody>
      </p:sp>
      <p:sp>
        <p:nvSpPr>
          <p:cNvPr id="16" name="Shape 14"/>
          <p:cNvSpPr/>
          <p:nvPr/>
        </p:nvSpPr>
        <p:spPr>
          <a:xfrm>
            <a:off x="3346704" y="2240280"/>
            <a:ext cx="2679192" cy="2514600"/>
          </a:xfrm>
          <a:prstGeom prst="rect">
            <a:avLst/>
          </a:prstGeom>
          <a:solidFill>
            <a:srgbClr val="141938"/>
          </a:solidFill>
          <a:ln/>
        </p:spPr>
      </p:sp>
      <p:sp>
        <p:nvSpPr>
          <p:cNvPr id="17" name="Shape 15"/>
          <p:cNvSpPr/>
          <p:nvPr/>
        </p:nvSpPr>
        <p:spPr>
          <a:xfrm>
            <a:off x="3346704" y="2240280"/>
            <a:ext cx="2679192" cy="73152"/>
          </a:xfrm>
          <a:prstGeom prst="rect">
            <a:avLst/>
          </a:prstGeom>
          <a:solidFill>
            <a:srgbClr val="FFD60A"/>
          </a:solidFill>
          <a:ln/>
        </p:spPr>
      </p:sp>
      <p:sp>
        <p:nvSpPr>
          <p:cNvPr id="18" name="Text 16"/>
          <p:cNvSpPr/>
          <p:nvPr/>
        </p:nvSpPr>
        <p:spPr>
          <a:xfrm>
            <a:off x="3575304" y="2423160"/>
            <a:ext cx="2221992" cy="822960"/>
          </a:xfrm>
          <a:prstGeom prst="rect">
            <a:avLst/>
          </a:prstGeom>
          <a:noFill/>
          <a:ln/>
        </p:spPr>
        <p:txBody>
          <a:bodyPr wrap="square" lIns="0" tIns="0" rIns="0" bIns="0" rtlCol="0" anchor="ctr"/>
          <a:lstStyle/>
          <a:p>
            <a:pPr indent="0" marL="0">
              <a:buNone/>
            </a:pPr>
            <a:r>
              <a:rPr lang="en-US" sz="5600" b="1" dirty="0">
                <a:solidFill>
                  <a:srgbClr val="FFD60A"/>
                </a:solidFill>
                <a:latin typeface="Impact" pitchFamily="34" charset="0"/>
                <a:ea typeface="Impact" pitchFamily="34" charset="-122"/>
                <a:cs typeface="Impact" pitchFamily="34" charset="-120"/>
              </a:rPr>
              <a:t>02</a:t>
            </a:r>
            <a:endParaRPr lang="en-US" sz="5600" dirty="0"/>
          </a:p>
        </p:txBody>
      </p:sp>
      <p:sp>
        <p:nvSpPr>
          <p:cNvPr id="19" name="Text 17"/>
          <p:cNvSpPr/>
          <p:nvPr/>
        </p:nvSpPr>
        <p:spPr>
          <a:xfrm>
            <a:off x="3575304" y="3291840"/>
            <a:ext cx="2221992" cy="228600"/>
          </a:xfrm>
          <a:prstGeom prst="rect">
            <a:avLst/>
          </a:prstGeom>
          <a:noFill/>
          <a:ln/>
        </p:spPr>
        <p:txBody>
          <a:bodyPr wrap="square" lIns="0" tIns="0" rIns="0" bIns="0" rtlCol="0" anchor="ctr"/>
          <a:lstStyle/>
          <a:p>
            <a:pPr indent="0" marL="0">
              <a:buNone/>
            </a:pPr>
            <a:r>
              <a:rPr lang="en-US" sz="900" b="1" spc="400" kern="0" dirty="0">
                <a:solidFill>
                  <a:srgbClr val="6B7494"/>
                </a:solidFill>
                <a:latin typeface="Consolas" pitchFamily="34" charset="0"/>
                <a:ea typeface="Consolas" pitchFamily="34" charset="-122"/>
                <a:cs typeface="Consolas" pitchFamily="34" charset="-120"/>
              </a:rPr>
              <a:t>LEVEL 02</a:t>
            </a:r>
            <a:endParaRPr lang="en-US" sz="900" dirty="0"/>
          </a:p>
        </p:txBody>
      </p:sp>
      <p:sp>
        <p:nvSpPr>
          <p:cNvPr id="20" name="Text 18"/>
          <p:cNvSpPr/>
          <p:nvPr/>
        </p:nvSpPr>
        <p:spPr>
          <a:xfrm>
            <a:off x="3575304" y="3538728"/>
            <a:ext cx="2221992"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Heightened Intensity</a:t>
            </a:r>
            <a:endParaRPr lang="en-US" sz="1400" dirty="0"/>
          </a:p>
        </p:txBody>
      </p:sp>
      <p:sp>
        <p:nvSpPr>
          <p:cNvPr id="21" name="Text 19"/>
          <p:cNvSpPr/>
          <p:nvPr/>
        </p:nvSpPr>
        <p:spPr>
          <a:xfrm>
            <a:off x="3575304" y="3840480"/>
            <a:ext cx="2221992" cy="502920"/>
          </a:xfrm>
          <a:prstGeom prst="rect">
            <a:avLst/>
          </a:prstGeom>
          <a:noFill/>
          <a:ln/>
        </p:spPr>
        <p:txBody>
          <a:bodyPr wrap="square" lIns="0" tIns="0" rIns="0" bIns="0" rtlCol="0" anchor="ctr"/>
          <a:lstStyle/>
          <a:p>
            <a:pPr indent="0" marL="0">
              <a:buNone/>
            </a:pPr>
            <a:r>
              <a:rPr lang="en-US" sz="1000" dirty="0">
                <a:solidFill>
                  <a:srgbClr val="A8B2D1"/>
                </a:solidFill>
                <a:latin typeface="Calibri" pitchFamily="34" charset="0"/>
                <a:ea typeface="Calibri" pitchFamily="34" charset="-122"/>
                <a:cs typeface="Calibri" pitchFamily="34" charset="-120"/>
              </a:rPr>
              <a:t>Tempo accelerates with quicker, more relentless adversaries.</a:t>
            </a:r>
            <a:endParaRPr lang="en-US" sz="1000" dirty="0"/>
          </a:p>
        </p:txBody>
      </p:sp>
      <p:sp>
        <p:nvSpPr>
          <p:cNvPr id="22" name="Shape 20"/>
          <p:cNvSpPr/>
          <p:nvPr/>
        </p:nvSpPr>
        <p:spPr>
          <a:xfrm>
            <a:off x="3575304" y="4389120"/>
            <a:ext cx="960120" cy="256032"/>
          </a:xfrm>
          <a:prstGeom prst="rect">
            <a:avLst/>
          </a:prstGeom>
          <a:solidFill>
            <a:srgbClr val="FFD60A"/>
          </a:solidFill>
          <a:ln/>
        </p:spPr>
      </p:sp>
      <p:sp>
        <p:nvSpPr>
          <p:cNvPr id="23" name="Text 21"/>
          <p:cNvSpPr/>
          <p:nvPr/>
        </p:nvSpPr>
        <p:spPr>
          <a:xfrm>
            <a:off x="3575304" y="4389120"/>
            <a:ext cx="960120" cy="256032"/>
          </a:xfrm>
          <a:prstGeom prst="rect">
            <a:avLst/>
          </a:prstGeom>
          <a:noFill/>
          <a:ln/>
        </p:spPr>
        <p:txBody>
          <a:bodyPr wrap="square" lIns="0" tIns="0" rIns="0" bIns="0" rtlCol="0" anchor="ctr"/>
          <a:lstStyle/>
          <a:p>
            <a:pPr algn="ctr" indent="0" marL="0">
              <a:buNone/>
            </a:pPr>
            <a:r>
              <a:rPr lang="en-US" sz="900" b="1" spc="200" kern="0" dirty="0">
                <a:solidFill>
                  <a:srgbClr val="0A0E27"/>
                </a:solidFill>
                <a:latin typeface="Consolas" pitchFamily="34" charset="0"/>
                <a:ea typeface="Consolas" pitchFamily="34" charset="-122"/>
                <a:cs typeface="Consolas" pitchFamily="34" charset="-120"/>
              </a:rPr>
              <a:t>3 LIVES</a:t>
            </a:r>
            <a:endParaRPr lang="en-US" sz="900" dirty="0"/>
          </a:p>
        </p:txBody>
      </p:sp>
      <p:sp>
        <p:nvSpPr>
          <p:cNvPr id="24" name="Shape 22"/>
          <p:cNvSpPr/>
          <p:nvPr/>
        </p:nvSpPr>
        <p:spPr>
          <a:xfrm>
            <a:off x="6144768" y="2240280"/>
            <a:ext cx="2679192" cy="2514600"/>
          </a:xfrm>
          <a:prstGeom prst="rect">
            <a:avLst/>
          </a:prstGeom>
          <a:solidFill>
            <a:srgbClr val="141938"/>
          </a:solidFill>
          <a:ln/>
        </p:spPr>
      </p:sp>
      <p:sp>
        <p:nvSpPr>
          <p:cNvPr id="25" name="Shape 23"/>
          <p:cNvSpPr/>
          <p:nvPr/>
        </p:nvSpPr>
        <p:spPr>
          <a:xfrm>
            <a:off x="6144768" y="2240280"/>
            <a:ext cx="2679192" cy="73152"/>
          </a:xfrm>
          <a:prstGeom prst="rect">
            <a:avLst/>
          </a:prstGeom>
          <a:solidFill>
            <a:srgbClr val="FF2A6D"/>
          </a:solidFill>
          <a:ln/>
        </p:spPr>
      </p:sp>
      <p:sp>
        <p:nvSpPr>
          <p:cNvPr id="26" name="Text 24"/>
          <p:cNvSpPr/>
          <p:nvPr/>
        </p:nvSpPr>
        <p:spPr>
          <a:xfrm>
            <a:off x="6373368" y="2423160"/>
            <a:ext cx="2221992" cy="822960"/>
          </a:xfrm>
          <a:prstGeom prst="rect">
            <a:avLst/>
          </a:prstGeom>
          <a:noFill/>
          <a:ln/>
        </p:spPr>
        <p:txBody>
          <a:bodyPr wrap="square" lIns="0" tIns="0" rIns="0" bIns="0" rtlCol="0" anchor="ctr"/>
          <a:lstStyle/>
          <a:p>
            <a:pPr indent="0" marL="0">
              <a:buNone/>
            </a:pPr>
            <a:r>
              <a:rPr lang="en-US" sz="5600" b="1" dirty="0">
                <a:solidFill>
                  <a:srgbClr val="FF2A6D"/>
                </a:solidFill>
                <a:latin typeface="Impact" pitchFamily="34" charset="0"/>
                <a:ea typeface="Impact" pitchFamily="34" charset="-122"/>
                <a:cs typeface="Impact" pitchFamily="34" charset="-120"/>
              </a:rPr>
              <a:t>03</a:t>
            </a:r>
            <a:endParaRPr lang="en-US" sz="5600" dirty="0"/>
          </a:p>
        </p:txBody>
      </p:sp>
      <p:sp>
        <p:nvSpPr>
          <p:cNvPr id="27" name="Text 25"/>
          <p:cNvSpPr/>
          <p:nvPr/>
        </p:nvSpPr>
        <p:spPr>
          <a:xfrm>
            <a:off x="6373368" y="3291840"/>
            <a:ext cx="2221992" cy="228600"/>
          </a:xfrm>
          <a:prstGeom prst="rect">
            <a:avLst/>
          </a:prstGeom>
          <a:noFill/>
          <a:ln/>
        </p:spPr>
        <p:txBody>
          <a:bodyPr wrap="square" lIns="0" tIns="0" rIns="0" bIns="0" rtlCol="0" anchor="ctr"/>
          <a:lstStyle/>
          <a:p>
            <a:pPr indent="0" marL="0">
              <a:buNone/>
            </a:pPr>
            <a:r>
              <a:rPr lang="en-US" sz="900" b="1" spc="400" kern="0" dirty="0">
                <a:solidFill>
                  <a:srgbClr val="6B7494"/>
                </a:solidFill>
                <a:latin typeface="Consolas" pitchFamily="34" charset="0"/>
                <a:ea typeface="Consolas" pitchFamily="34" charset="-122"/>
                <a:cs typeface="Consolas" pitchFamily="34" charset="-120"/>
              </a:rPr>
              <a:t>LEVEL 03</a:t>
            </a:r>
            <a:endParaRPr lang="en-US" sz="900" dirty="0"/>
          </a:p>
        </p:txBody>
      </p:sp>
      <p:sp>
        <p:nvSpPr>
          <p:cNvPr id="28" name="Text 26"/>
          <p:cNvSpPr/>
          <p:nvPr/>
        </p:nvSpPr>
        <p:spPr>
          <a:xfrm>
            <a:off x="6373368" y="3538728"/>
            <a:ext cx="2221992"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Ultimate Difficulty</a:t>
            </a:r>
            <a:endParaRPr lang="en-US" sz="1400" dirty="0"/>
          </a:p>
        </p:txBody>
      </p:sp>
      <p:sp>
        <p:nvSpPr>
          <p:cNvPr id="29" name="Text 27"/>
          <p:cNvSpPr/>
          <p:nvPr/>
        </p:nvSpPr>
        <p:spPr>
          <a:xfrm>
            <a:off x="6373368" y="3840480"/>
            <a:ext cx="2221992" cy="502920"/>
          </a:xfrm>
          <a:prstGeom prst="rect">
            <a:avLst/>
          </a:prstGeom>
          <a:noFill/>
          <a:ln/>
        </p:spPr>
        <p:txBody>
          <a:bodyPr wrap="square" lIns="0" tIns="0" rIns="0" bIns="0" rtlCol="0" anchor="ctr"/>
          <a:lstStyle/>
          <a:p>
            <a:pPr indent="0" marL="0">
              <a:buNone/>
            </a:pPr>
            <a:r>
              <a:rPr lang="en-US" sz="1000" dirty="0">
                <a:solidFill>
                  <a:srgbClr val="A8B2D1"/>
                </a:solidFill>
                <a:latin typeface="Calibri" pitchFamily="34" charset="0"/>
                <a:ea typeface="Calibri" pitchFamily="34" charset="-122"/>
                <a:cs typeface="Calibri" pitchFamily="34" charset="-120"/>
              </a:rPr>
              <a:t>The toughest designed stage, pushing players to their limit.</a:t>
            </a:r>
            <a:endParaRPr lang="en-US" sz="1000" dirty="0"/>
          </a:p>
        </p:txBody>
      </p:sp>
      <p:sp>
        <p:nvSpPr>
          <p:cNvPr id="30" name="Shape 28"/>
          <p:cNvSpPr/>
          <p:nvPr/>
        </p:nvSpPr>
        <p:spPr>
          <a:xfrm>
            <a:off x="6373368" y="4389120"/>
            <a:ext cx="960120" cy="256032"/>
          </a:xfrm>
          <a:prstGeom prst="rect">
            <a:avLst/>
          </a:prstGeom>
          <a:solidFill>
            <a:srgbClr val="FF2A6D"/>
          </a:solidFill>
          <a:ln/>
        </p:spPr>
      </p:sp>
      <p:sp>
        <p:nvSpPr>
          <p:cNvPr id="31" name="Text 29"/>
          <p:cNvSpPr/>
          <p:nvPr/>
        </p:nvSpPr>
        <p:spPr>
          <a:xfrm>
            <a:off x="6373368" y="4389120"/>
            <a:ext cx="960120" cy="256032"/>
          </a:xfrm>
          <a:prstGeom prst="rect">
            <a:avLst/>
          </a:prstGeom>
          <a:noFill/>
          <a:ln/>
        </p:spPr>
        <p:txBody>
          <a:bodyPr wrap="square" lIns="0" tIns="0" rIns="0" bIns="0" rtlCol="0" anchor="ctr"/>
          <a:lstStyle/>
          <a:p>
            <a:pPr algn="ctr" indent="0" marL="0">
              <a:buNone/>
            </a:pPr>
            <a:r>
              <a:rPr lang="en-US" sz="900" b="1" spc="200" kern="0" dirty="0">
                <a:solidFill>
                  <a:srgbClr val="0A0E27"/>
                </a:solidFill>
                <a:latin typeface="Consolas" pitchFamily="34" charset="0"/>
                <a:ea typeface="Consolas" pitchFamily="34" charset="-122"/>
                <a:cs typeface="Consolas" pitchFamily="34" charset="-120"/>
              </a:rPr>
              <a:t>3 LIVES</a:t>
            </a:r>
            <a:endParaRPr lang="en-US" sz="900" dirty="0"/>
          </a:p>
        </p:txBody>
      </p:sp>
      <p:sp>
        <p:nvSpPr>
          <p:cNvPr id="32" name="Shape 30"/>
          <p:cNvSpPr/>
          <p:nvPr/>
        </p:nvSpPr>
        <p:spPr>
          <a:xfrm>
            <a:off x="8942832" y="2240280"/>
            <a:ext cx="2679192" cy="2514600"/>
          </a:xfrm>
          <a:prstGeom prst="rect">
            <a:avLst/>
          </a:prstGeom>
          <a:solidFill>
            <a:srgbClr val="141938"/>
          </a:solidFill>
          <a:ln/>
        </p:spPr>
      </p:sp>
      <p:sp>
        <p:nvSpPr>
          <p:cNvPr id="33" name="Shape 31"/>
          <p:cNvSpPr/>
          <p:nvPr/>
        </p:nvSpPr>
        <p:spPr>
          <a:xfrm>
            <a:off x="8942832" y="2240280"/>
            <a:ext cx="2679192" cy="73152"/>
          </a:xfrm>
          <a:prstGeom prst="rect">
            <a:avLst/>
          </a:prstGeom>
          <a:solidFill>
            <a:srgbClr val="9D4EDD"/>
          </a:solidFill>
          <a:ln/>
        </p:spPr>
      </p:sp>
      <p:sp>
        <p:nvSpPr>
          <p:cNvPr id="34" name="Text 32"/>
          <p:cNvSpPr/>
          <p:nvPr/>
        </p:nvSpPr>
        <p:spPr>
          <a:xfrm>
            <a:off x="9171432" y="2423160"/>
            <a:ext cx="2221992" cy="822960"/>
          </a:xfrm>
          <a:prstGeom prst="rect">
            <a:avLst/>
          </a:prstGeom>
          <a:noFill/>
          <a:ln/>
        </p:spPr>
        <p:txBody>
          <a:bodyPr wrap="square" lIns="0" tIns="0" rIns="0" bIns="0" rtlCol="0" anchor="ctr"/>
          <a:lstStyle/>
          <a:p>
            <a:pPr indent="0" marL="0">
              <a:buNone/>
            </a:pPr>
            <a:r>
              <a:rPr lang="en-US" sz="7200" b="1" dirty="0">
                <a:solidFill>
                  <a:srgbClr val="9D4EDD"/>
                </a:solidFill>
                <a:latin typeface="Impact" pitchFamily="34" charset="0"/>
                <a:ea typeface="Impact" pitchFamily="34" charset="-122"/>
                <a:cs typeface="Impact" pitchFamily="34" charset="-120"/>
              </a:rPr>
              <a:t>∞</a:t>
            </a:r>
            <a:endParaRPr lang="en-US" sz="7200" dirty="0"/>
          </a:p>
        </p:txBody>
      </p:sp>
      <p:sp>
        <p:nvSpPr>
          <p:cNvPr id="35" name="Text 33"/>
          <p:cNvSpPr/>
          <p:nvPr/>
        </p:nvSpPr>
        <p:spPr>
          <a:xfrm>
            <a:off x="9171432" y="3291840"/>
            <a:ext cx="2221992" cy="228600"/>
          </a:xfrm>
          <a:prstGeom prst="rect">
            <a:avLst/>
          </a:prstGeom>
          <a:noFill/>
          <a:ln/>
        </p:spPr>
        <p:txBody>
          <a:bodyPr wrap="square" lIns="0" tIns="0" rIns="0" bIns="0" rtlCol="0" anchor="ctr"/>
          <a:lstStyle/>
          <a:p>
            <a:pPr indent="0" marL="0">
              <a:buNone/>
            </a:pPr>
            <a:r>
              <a:rPr lang="en-US" sz="900" b="1" spc="400" kern="0" dirty="0">
                <a:solidFill>
                  <a:srgbClr val="6B7494"/>
                </a:solidFill>
                <a:latin typeface="Consolas" pitchFamily="34" charset="0"/>
                <a:ea typeface="Consolas" pitchFamily="34" charset="-122"/>
                <a:cs typeface="Consolas" pitchFamily="34" charset="-120"/>
              </a:rPr>
              <a:t>MODE</a:t>
            </a:r>
            <a:endParaRPr lang="en-US" sz="900" dirty="0"/>
          </a:p>
        </p:txBody>
      </p:sp>
      <p:sp>
        <p:nvSpPr>
          <p:cNvPr id="36" name="Text 34"/>
          <p:cNvSpPr/>
          <p:nvPr/>
        </p:nvSpPr>
        <p:spPr>
          <a:xfrm>
            <a:off x="9171432" y="3538728"/>
            <a:ext cx="2221992"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Infinite Mode</a:t>
            </a:r>
            <a:endParaRPr lang="en-US" sz="1400" dirty="0"/>
          </a:p>
        </p:txBody>
      </p:sp>
      <p:sp>
        <p:nvSpPr>
          <p:cNvPr id="37" name="Text 35"/>
          <p:cNvSpPr/>
          <p:nvPr/>
        </p:nvSpPr>
        <p:spPr>
          <a:xfrm>
            <a:off x="9171432" y="3840480"/>
            <a:ext cx="2221992" cy="502920"/>
          </a:xfrm>
          <a:prstGeom prst="rect">
            <a:avLst/>
          </a:prstGeom>
          <a:noFill/>
          <a:ln/>
        </p:spPr>
        <p:txBody>
          <a:bodyPr wrap="square" lIns="0" tIns="0" rIns="0" bIns="0" rtlCol="0" anchor="ctr"/>
          <a:lstStyle/>
          <a:p>
            <a:pPr indent="0" marL="0">
              <a:buNone/>
            </a:pPr>
            <a:r>
              <a:rPr lang="en-US" sz="1000" dirty="0">
                <a:solidFill>
                  <a:srgbClr val="A8B2D1"/>
                </a:solidFill>
                <a:latin typeface="Calibri" pitchFamily="34" charset="0"/>
                <a:ea typeface="Calibri" pitchFamily="34" charset="-122"/>
                <a:cs typeface="Calibri" pitchFamily="34" charset="-120"/>
              </a:rPr>
              <a:t>Unending enemy waves in a score-driven survival challenge.</a:t>
            </a:r>
            <a:endParaRPr lang="en-US" sz="1000" dirty="0"/>
          </a:p>
        </p:txBody>
      </p:sp>
      <p:sp>
        <p:nvSpPr>
          <p:cNvPr id="38" name="Shape 36"/>
          <p:cNvSpPr/>
          <p:nvPr/>
        </p:nvSpPr>
        <p:spPr>
          <a:xfrm>
            <a:off x="9171432" y="4389120"/>
            <a:ext cx="960120" cy="256032"/>
          </a:xfrm>
          <a:prstGeom prst="rect">
            <a:avLst/>
          </a:prstGeom>
          <a:solidFill>
            <a:srgbClr val="9D4EDD"/>
          </a:solidFill>
          <a:ln/>
        </p:spPr>
      </p:sp>
      <p:sp>
        <p:nvSpPr>
          <p:cNvPr id="39" name="Text 37"/>
          <p:cNvSpPr/>
          <p:nvPr/>
        </p:nvSpPr>
        <p:spPr>
          <a:xfrm>
            <a:off x="9171432" y="4389120"/>
            <a:ext cx="960120" cy="256032"/>
          </a:xfrm>
          <a:prstGeom prst="rect">
            <a:avLst/>
          </a:prstGeom>
          <a:noFill/>
          <a:ln/>
        </p:spPr>
        <p:txBody>
          <a:bodyPr wrap="square" lIns="0" tIns="0" rIns="0" bIns="0" rtlCol="0" anchor="ctr"/>
          <a:lstStyle/>
          <a:p>
            <a:pPr algn="ctr" indent="0" marL="0">
              <a:buNone/>
            </a:pPr>
            <a:r>
              <a:rPr lang="en-US" sz="900" b="1" spc="200" kern="0" dirty="0">
                <a:solidFill>
                  <a:srgbClr val="0A0E27"/>
                </a:solidFill>
                <a:latin typeface="Consolas" pitchFamily="34" charset="0"/>
                <a:ea typeface="Consolas" pitchFamily="34" charset="-122"/>
                <a:cs typeface="Consolas" pitchFamily="34" charset="-120"/>
              </a:rPr>
              <a:t>ENDLESS</a:t>
            </a:r>
            <a:endParaRPr lang="en-US" sz="900" dirty="0"/>
          </a:p>
        </p:txBody>
      </p:sp>
      <p:sp>
        <p:nvSpPr>
          <p:cNvPr id="40" name="Shape 38"/>
          <p:cNvSpPr/>
          <p:nvPr/>
        </p:nvSpPr>
        <p:spPr>
          <a:xfrm>
            <a:off x="548640" y="4983480"/>
            <a:ext cx="4937760" cy="1371600"/>
          </a:xfrm>
          <a:prstGeom prst="rect">
            <a:avLst/>
          </a:prstGeom>
          <a:solidFill>
            <a:srgbClr val="141938"/>
          </a:solidFill>
          <a:ln/>
        </p:spPr>
      </p:sp>
      <p:sp>
        <p:nvSpPr>
          <p:cNvPr id="41" name="Shape 39"/>
          <p:cNvSpPr/>
          <p:nvPr/>
        </p:nvSpPr>
        <p:spPr>
          <a:xfrm>
            <a:off x="548640" y="4983480"/>
            <a:ext cx="54864" cy="1371600"/>
          </a:xfrm>
          <a:prstGeom prst="rect">
            <a:avLst/>
          </a:prstGeom>
          <a:solidFill>
            <a:srgbClr val="00F0FF"/>
          </a:solidFill>
          <a:ln/>
        </p:spPr>
      </p:sp>
      <p:sp>
        <p:nvSpPr>
          <p:cNvPr id="42" name="Text 40"/>
          <p:cNvSpPr/>
          <p:nvPr/>
        </p:nvSpPr>
        <p:spPr>
          <a:xfrm>
            <a:off x="822960" y="5166360"/>
            <a:ext cx="2743200" cy="274320"/>
          </a:xfrm>
          <a:prstGeom prst="rect">
            <a:avLst/>
          </a:prstGeom>
          <a:noFill/>
          <a:ln/>
        </p:spPr>
        <p:txBody>
          <a:bodyPr wrap="square" lIns="0" tIns="0" rIns="0" bIns="0" rtlCol="0" anchor="ctr"/>
          <a:lstStyle/>
          <a:p>
            <a:pPr indent="0" marL="0">
              <a:buNone/>
            </a:pPr>
            <a:r>
              <a:rPr lang="en-US" sz="1100" b="1" spc="400" kern="0" dirty="0">
                <a:solidFill>
                  <a:srgbClr val="00F0FF"/>
                </a:solidFill>
                <a:latin typeface="Consolas" pitchFamily="34" charset="0"/>
                <a:ea typeface="Consolas" pitchFamily="34" charset="-122"/>
                <a:cs typeface="Consolas" pitchFamily="34" charset="-120"/>
              </a:rPr>
              <a:t>CONTROLS</a:t>
            </a:r>
            <a:endParaRPr lang="en-US" sz="1100" dirty="0"/>
          </a:p>
        </p:txBody>
      </p:sp>
      <p:sp>
        <p:nvSpPr>
          <p:cNvPr id="43" name="Shape 41"/>
          <p:cNvSpPr/>
          <p:nvPr/>
        </p:nvSpPr>
        <p:spPr>
          <a:xfrm>
            <a:off x="822960" y="5486400"/>
            <a:ext cx="1097280" cy="246888"/>
          </a:xfrm>
          <a:prstGeom prst="rect">
            <a:avLst/>
          </a:prstGeom>
          <a:solidFill>
            <a:srgbClr val="1C2347"/>
          </a:solidFill>
          <a:ln w="9525">
            <a:solidFill>
              <a:srgbClr val="00F0FF"/>
            </a:solidFill>
            <a:prstDash val="solid"/>
          </a:ln>
        </p:spPr>
      </p:sp>
      <p:sp>
        <p:nvSpPr>
          <p:cNvPr id="44" name="Text 42"/>
          <p:cNvSpPr/>
          <p:nvPr/>
        </p:nvSpPr>
        <p:spPr>
          <a:xfrm>
            <a:off x="822960" y="5486400"/>
            <a:ext cx="1097280" cy="246888"/>
          </a:xfrm>
          <a:prstGeom prst="rect">
            <a:avLst/>
          </a:prstGeom>
          <a:noFill/>
          <a:ln/>
        </p:spPr>
        <p:txBody>
          <a:bodyPr wrap="square" lIns="0" tIns="0" rIns="0" bIns="0" rtlCol="0" anchor="ctr"/>
          <a:lstStyle/>
          <a:p>
            <a:pPr algn="ctr" indent="0" marL="0">
              <a:buNone/>
            </a:pPr>
            <a:r>
              <a:rPr lang="en-US" sz="1100" b="1" dirty="0">
                <a:solidFill>
                  <a:srgbClr val="00F0FF"/>
                </a:solidFill>
                <a:latin typeface="Consolas" pitchFamily="34" charset="0"/>
                <a:ea typeface="Consolas" pitchFamily="34" charset="-122"/>
                <a:cs typeface="Consolas" pitchFamily="34" charset="-120"/>
              </a:rPr>
              <a:t>← / A</a:t>
            </a:r>
            <a:endParaRPr lang="en-US" sz="1100" dirty="0"/>
          </a:p>
        </p:txBody>
      </p:sp>
      <p:sp>
        <p:nvSpPr>
          <p:cNvPr id="45" name="Text 43"/>
          <p:cNvSpPr/>
          <p:nvPr/>
        </p:nvSpPr>
        <p:spPr>
          <a:xfrm>
            <a:off x="2057400" y="5486400"/>
            <a:ext cx="320040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Move Left</a:t>
            </a:r>
            <a:endParaRPr lang="en-US" sz="1200" dirty="0"/>
          </a:p>
        </p:txBody>
      </p:sp>
      <p:sp>
        <p:nvSpPr>
          <p:cNvPr id="46" name="Shape 44"/>
          <p:cNvSpPr/>
          <p:nvPr/>
        </p:nvSpPr>
        <p:spPr>
          <a:xfrm>
            <a:off x="822960" y="5779008"/>
            <a:ext cx="1097280" cy="246888"/>
          </a:xfrm>
          <a:prstGeom prst="rect">
            <a:avLst/>
          </a:prstGeom>
          <a:solidFill>
            <a:srgbClr val="1C2347"/>
          </a:solidFill>
          <a:ln w="9525">
            <a:solidFill>
              <a:srgbClr val="00F0FF"/>
            </a:solidFill>
            <a:prstDash val="solid"/>
          </a:ln>
        </p:spPr>
      </p:sp>
      <p:sp>
        <p:nvSpPr>
          <p:cNvPr id="47" name="Text 45"/>
          <p:cNvSpPr/>
          <p:nvPr/>
        </p:nvSpPr>
        <p:spPr>
          <a:xfrm>
            <a:off x="822960" y="5779008"/>
            <a:ext cx="1097280" cy="246888"/>
          </a:xfrm>
          <a:prstGeom prst="rect">
            <a:avLst/>
          </a:prstGeom>
          <a:noFill/>
          <a:ln/>
        </p:spPr>
        <p:txBody>
          <a:bodyPr wrap="square" lIns="0" tIns="0" rIns="0" bIns="0" rtlCol="0" anchor="ctr"/>
          <a:lstStyle/>
          <a:p>
            <a:pPr algn="ctr" indent="0" marL="0">
              <a:buNone/>
            </a:pPr>
            <a:r>
              <a:rPr lang="en-US" sz="1100" b="1" dirty="0">
                <a:solidFill>
                  <a:srgbClr val="00F0FF"/>
                </a:solidFill>
                <a:latin typeface="Consolas" pitchFamily="34" charset="0"/>
                <a:ea typeface="Consolas" pitchFamily="34" charset="-122"/>
                <a:cs typeface="Consolas" pitchFamily="34" charset="-120"/>
              </a:rPr>
              <a:t>→ / D</a:t>
            </a:r>
            <a:endParaRPr lang="en-US" sz="1100" dirty="0"/>
          </a:p>
        </p:txBody>
      </p:sp>
      <p:sp>
        <p:nvSpPr>
          <p:cNvPr id="48" name="Text 46"/>
          <p:cNvSpPr/>
          <p:nvPr/>
        </p:nvSpPr>
        <p:spPr>
          <a:xfrm>
            <a:off x="2057400" y="5779008"/>
            <a:ext cx="320040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Move Right</a:t>
            </a:r>
            <a:endParaRPr lang="en-US" sz="1200" dirty="0"/>
          </a:p>
        </p:txBody>
      </p:sp>
      <p:sp>
        <p:nvSpPr>
          <p:cNvPr id="49" name="Shape 47"/>
          <p:cNvSpPr/>
          <p:nvPr/>
        </p:nvSpPr>
        <p:spPr>
          <a:xfrm>
            <a:off x="822960" y="6071616"/>
            <a:ext cx="1097280" cy="246888"/>
          </a:xfrm>
          <a:prstGeom prst="rect">
            <a:avLst/>
          </a:prstGeom>
          <a:solidFill>
            <a:srgbClr val="1C2347"/>
          </a:solidFill>
          <a:ln w="9525">
            <a:solidFill>
              <a:srgbClr val="00F0FF"/>
            </a:solidFill>
            <a:prstDash val="solid"/>
          </a:ln>
        </p:spPr>
      </p:sp>
      <p:sp>
        <p:nvSpPr>
          <p:cNvPr id="50" name="Text 48"/>
          <p:cNvSpPr/>
          <p:nvPr/>
        </p:nvSpPr>
        <p:spPr>
          <a:xfrm>
            <a:off x="822960" y="6071616"/>
            <a:ext cx="1097280" cy="246888"/>
          </a:xfrm>
          <a:prstGeom prst="rect">
            <a:avLst/>
          </a:prstGeom>
          <a:noFill/>
          <a:ln/>
        </p:spPr>
        <p:txBody>
          <a:bodyPr wrap="square" lIns="0" tIns="0" rIns="0" bIns="0" rtlCol="0" anchor="ctr"/>
          <a:lstStyle/>
          <a:p>
            <a:pPr algn="ctr" indent="0" marL="0">
              <a:buNone/>
            </a:pPr>
            <a:r>
              <a:rPr lang="en-US" sz="1100" b="1" dirty="0">
                <a:solidFill>
                  <a:srgbClr val="00F0FF"/>
                </a:solidFill>
                <a:latin typeface="Consolas" pitchFamily="34" charset="0"/>
                <a:ea typeface="Consolas" pitchFamily="34" charset="-122"/>
                <a:cs typeface="Consolas" pitchFamily="34" charset="-120"/>
              </a:rPr>
              <a:t>SPACE</a:t>
            </a:r>
            <a:endParaRPr lang="en-US" sz="1100" dirty="0"/>
          </a:p>
        </p:txBody>
      </p:sp>
      <p:sp>
        <p:nvSpPr>
          <p:cNvPr id="51" name="Text 49"/>
          <p:cNvSpPr/>
          <p:nvPr/>
        </p:nvSpPr>
        <p:spPr>
          <a:xfrm>
            <a:off x="2057400" y="6071616"/>
            <a:ext cx="320040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Shoot</a:t>
            </a:r>
            <a:endParaRPr lang="en-US" sz="1200" dirty="0"/>
          </a:p>
        </p:txBody>
      </p:sp>
      <p:sp>
        <p:nvSpPr>
          <p:cNvPr id="52" name="Shape 50"/>
          <p:cNvSpPr/>
          <p:nvPr/>
        </p:nvSpPr>
        <p:spPr>
          <a:xfrm>
            <a:off x="5623560" y="4983480"/>
            <a:ext cx="5989320" cy="1371600"/>
          </a:xfrm>
          <a:prstGeom prst="rect">
            <a:avLst/>
          </a:prstGeom>
          <a:solidFill>
            <a:srgbClr val="FF2A6D"/>
          </a:solidFill>
          <a:ln/>
        </p:spPr>
      </p:sp>
      <p:pic>
        <p:nvPicPr>
          <p:cNvPr id="53" name="Image 0" descr="preencoded.png"/>
          <p:cNvPicPr>
            <a:picLocks noChangeAspect="1"/>
          </p:cNvPicPr>
          <p:nvPr/>
        </p:nvPicPr>
        <p:blipFill>
          <a:blip r:embed="rId1"/>
          <a:stretch>
            <a:fillRect/>
          </a:stretch>
        </p:blipFill>
        <p:spPr>
          <a:xfrm>
            <a:off x="5897880" y="5349240"/>
            <a:ext cx="640080" cy="640080"/>
          </a:xfrm>
          <a:prstGeom prst="rect">
            <a:avLst/>
          </a:prstGeom>
        </p:spPr>
      </p:pic>
      <p:sp>
        <p:nvSpPr>
          <p:cNvPr id="54" name="Text 51"/>
          <p:cNvSpPr/>
          <p:nvPr/>
        </p:nvSpPr>
        <p:spPr>
          <a:xfrm>
            <a:off x="6675120" y="5148072"/>
            <a:ext cx="4800600" cy="457200"/>
          </a:xfrm>
          <a:prstGeom prst="rect">
            <a:avLst/>
          </a:prstGeom>
          <a:noFill/>
          <a:ln/>
        </p:spPr>
        <p:txBody>
          <a:bodyPr wrap="square" lIns="0" tIns="0" rIns="0" bIns="0" rtlCol="0" anchor="ctr"/>
          <a:lstStyle/>
          <a:p>
            <a:pPr indent="0" marL="0">
              <a:buNone/>
            </a:pPr>
            <a:r>
              <a:rPr lang="en-US" sz="2800" b="1" spc="400" kern="0" dirty="0">
                <a:solidFill>
                  <a:srgbClr val="FFFFFF"/>
                </a:solidFill>
                <a:latin typeface="Impact" pitchFamily="34" charset="0"/>
                <a:ea typeface="Impact" pitchFamily="34" charset="-122"/>
                <a:cs typeface="Impact" pitchFamily="34" charset="-120"/>
              </a:rPr>
              <a:t>PLAY NOW</a:t>
            </a:r>
            <a:endParaRPr lang="en-US" sz="2800" dirty="0"/>
          </a:p>
        </p:txBody>
      </p:sp>
      <p:sp>
        <p:nvSpPr>
          <p:cNvPr id="55" name="Text 52"/>
          <p:cNvSpPr/>
          <p:nvPr/>
        </p:nvSpPr>
        <p:spPr>
          <a:xfrm>
            <a:off x="6675120" y="5623560"/>
            <a:ext cx="4800600" cy="292608"/>
          </a:xfrm>
          <a:prstGeom prst="rect">
            <a:avLst/>
          </a:prstGeom>
          <a:noFill/>
          <a:ln/>
        </p:spPr>
        <p:txBody>
          <a:bodyPr wrap="square" lIns="0" tIns="0" rIns="0" bIns="0" rtlCol="0" anchor="ctr"/>
          <a:lstStyle/>
          <a:p>
            <a:pPr indent="0" marL="0">
              <a:buNone/>
            </a:pPr>
            <a:r>
              <a:rPr lang="en-US" sz="1300" b="1" dirty="0">
                <a:solidFill>
                  <a:srgbClr val="0A0E27"/>
                </a:solidFill>
                <a:latin typeface="Consolas" pitchFamily="34" charset="0"/>
                <a:ea typeface="Consolas" pitchFamily="34" charset="-122"/>
                <a:cs typeface="Consolas" pitchFamily="34" charset="-120"/>
              </a:rPr>
              <a:t>manasvi8274.itch.io/2d-shooter-game</a:t>
            </a:r>
            <a:endParaRPr lang="en-US" sz="1300" dirty="0"/>
          </a:p>
        </p:txBody>
      </p:sp>
      <p:sp>
        <p:nvSpPr>
          <p:cNvPr id="56" name="Text 53"/>
          <p:cNvSpPr/>
          <p:nvPr/>
        </p:nvSpPr>
        <p:spPr>
          <a:xfrm>
            <a:off x="6675120" y="5943600"/>
            <a:ext cx="4800600" cy="274320"/>
          </a:xfrm>
          <a:prstGeom prst="rect">
            <a:avLst/>
          </a:prstGeom>
          <a:noFill/>
          <a:ln/>
        </p:spPr>
        <p:txBody>
          <a:bodyPr wrap="square" lIns="0" tIns="0" rIns="0" bIns="0" rtlCol="0" anchor="ctr"/>
          <a:lstStyle/>
          <a:p>
            <a:pPr indent="0" marL="0">
              <a:buNone/>
            </a:pPr>
            <a:r>
              <a:rPr lang="en-US" sz="1000" i="1" dirty="0">
                <a:solidFill>
                  <a:srgbClr val="5C0524"/>
                </a:solidFill>
                <a:latin typeface="Consolas" pitchFamily="34" charset="0"/>
                <a:ea typeface="Consolas" pitchFamily="34" charset="-122"/>
                <a:cs typeface="Consolas" pitchFamily="34" charset="-120"/>
              </a:rPr>
              <a:t>WebGL build  •  browser-based  •  no install required  •  960×600</a:t>
            </a:r>
            <a:endParaRPr lang="en-US" sz="1000" dirty="0"/>
          </a:p>
        </p:txBody>
      </p:sp>
      <p:sp>
        <p:nvSpPr>
          <p:cNvPr id="57" name="Text 54"/>
          <p:cNvSpPr/>
          <p:nvPr/>
        </p:nvSpPr>
        <p:spPr>
          <a:xfrm>
            <a:off x="457200" y="6446520"/>
            <a:ext cx="5486400" cy="274320"/>
          </a:xfrm>
          <a:prstGeom prst="rect">
            <a:avLst/>
          </a:prstGeom>
          <a:noFill/>
          <a:ln/>
        </p:spPr>
        <p:txBody>
          <a:bodyPr wrap="square" lIns="0" tIns="0" rIns="0" bIns="0" rtlCol="0" anchor="ctr"/>
          <a:lstStyle/>
          <a:p>
            <a:pPr indent="0" marL="0">
              <a:buNone/>
            </a:pPr>
            <a:r>
              <a:rPr lang="en-US" sz="1000" spc="300" kern="0" dirty="0">
                <a:solidFill>
                  <a:srgbClr val="6B7494"/>
                </a:solidFill>
                <a:latin typeface="Consolas" pitchFamily="34" charset="0"/>
                <a:ea typeface="Consolas" pitchFamily="34" charset="-122"/>
                <a:cs typeface="Consolas" pitchFamily="34" charset="-120"/>
              </a:rPr>
              <a:t>LEVELS &amp; LIVE BUILD</a:t>
            </a:r>
            <a:endParaRPr lang="en-US" sz="1000" dirty="0"/>
          </a:p>
        </p:txBody>
      </p:sp>
      <p:sp>
        <p:nvSpPr>
          <p:cNvPr id="58" name="Text 55"/>
          <p:cNvSpPr/>
          <p:nvPr/>
        </p:nvSpPr>
        <p:spPr>
          <a:xfrm>
            <a:off x="10362895" y="6446520"/>
            <a:ext cx="1371600" cy="274320"/>
          </a:xfrm>
          <a:prstGeom prst="rect">
            <a:avLst/>
          </a:prstGeom>
          <a:noFill/>
          <a:ln/>
        </p:spPr>
        <p:txBody>
          <a:bodyPr wrap="square" lIns="0" tIns="0" rIns="0" bIns="0" rtlCol="0" anchor="ctr"/>
          <a:lstStyle/>
          <a:p>
            <a:pPr algn="r" indent="0" marL="0">
              <a:buNone/>
            </a:pPr>
            <a:r>
              <a:rPr lang="en-US" sz="1000" spc="200" kern="0" dirty="0">
                <a:solidFill>
                  <a:srgbClr val="00F0FF"/>
                </a:solidFill>
                <a:latin typeface="Consolas" pitchFamily="34" charset="0"/>
                <a:ea typeface="Consolas" pitchFamily="34" charset="-122"/>
                <a:cs typeface="Consolas" pitchFamily="34" charset="-120"/>
              </a:rPr>
              <a:t>04 / 14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E27"/>
        </a:solidFill>
      </p:bgPr>
    </p:bg>
    <p:spTree>
      <p:nvGrpSpPr>
        <p:cNvPr id="1" name=""/>
        <p:cNvGrpSpPr/>
        <p:nvPr/>
      </p:nvGrpSpPr>
      <p:grpSpPr>
        <a:xfrm>
          <a:off x="0" y="0"/>
          <a:ext cx="0" cy="0"/>
          <a:chOff x="0" y="0"/>
          <a:chExt cx="0" cy="0"/>
        </a:xfrm>
      </p:grpSpPr>
      <p:sp>
        <p:nvSpPr>
          <p:cNvPr id="2" name="Shape 0"/>
          <p:cNvSpPr/>
          <p:nvPr/>
        </p:nvSpPr>
        <p:spPr>
          <a:xfrm>
            <a:off x="12027103" y="0"/>
            <a:ext cx="164592" cy="6858000"/>
          </a:xfrm>
          <a:prstGeom prst="rect">
            <a:avLst/>
          </a:prstGeom>
          <a:solidFill>
            <a:srgbClr val="FF2A6D"/>
          </a:solidFill>
          <a:ln/>
        </p:spPr>
      </p:sp>
      <p:sp>
        <p:nvSpPr>
          <p:cNvPr id="3" name="Shape 1"/>
          <p:cNvSpPr/>
          <p:nvPr/>
        </p:nvSpPr>
        <p:spPr>
          <a:xfrm>
            <a:off x="0" y="0"/>
            <a:ext cx="164592" cy="914400"/>
          </a:xfrm>
          <a:prstGeom prst="rect">
            <a:avLst/>
          </a:prstGeom>
          <a:solidFill>
            <a:srgbClr val="00F0FF"/>
          </a:solidFill>
          <a:ln/>
        </p:spPr>
      </p:sp>
      <p:sp>
        <p:nvSpPr>
          <p:cNvPr id="4" name="Text 2"/>
          <p:cNvSpPr/>
          <p:nvPr/>
        </p:nvSpPr>
        <p:spPr>
          <a:xfrm>
            <a:off x="548640" y="457200"/>
            <a:ext cx="1828800" cy="365760"/>
          </a:xfrm>
          <a:prstGeom prst="rect">
            <a:avLst/>
          </a:prstGeom>
          <a:noFill/>
          <a:ln/>
        </p:spPr>
        <p:txBody>
          <a:bodyPr wrap="square" lIns="0" tIns="0" rIns="0" bIns="0" rtlCol="0" anchor="ctr"/>
          <a:lstStyle/>
          <a:p>
            <a:pPr indent="0" marL="0">
              <a:buNone/>
            </a:pPr>
            <a:r>
              <a:rPr lang="en-US" sz="1400" b="1" dirty="0">
                <a:solidFill>
                  <a:srgbClr val="FF2A6D"/>
                </a:solidFill>
                <a:latin typeface="Consolas" pitchFamily="34" charset="0"/>
                <a:ea typeface="Consolas" pitchFamily="34" charset="-122"/>
                <a:cs typeface="Consolas" pitchFamily="34" charset="-120"/>
              </a:rPr>
              <a:t>// 04</a:t>
            </a:r>
            <a:endParaRPr lang="en-US" sz="1400" dirty="0"/>
          </a:p>
        </p:txBody>
      </p:sp>
      <p:sp>
        <p:nvSpPr>
          <p:cNvPr id="5" name="Text 3"/>
          <p:cNvSpPr/>
          <p:nvPr/>
        </p:nvSpPr>
        <p:spPr>
          <a:xfrm>
            <a:off x="548640" y="777240"/>
            <a:ext cx="10972800" cy="731520"/>
          </a:xfrm>
          <a:prstGeom prst="rect">
            <a:avLst/>
          </a:prstGeom>
          <a:noFill/>
          <a:ln/>
        </p:spPr>
        <p:txBody>
          <a:bodyPr wrap="square" lIns="0" tIns="0" rIns="0" bIns="0" rtlCol="0" anchor="ctr"/>
          <a:lstStyle/>
          <a:p>
            <a:pPr indent="0" marL="0">
              <a:buNone/>
            </a:pPr>
            <a:r>
              <a:rPr lang="en-US" sz="4000" b="1" spc="200" kern="0" dirty="0">
                <a:solidFill>
                  <a:srgbClr val="FFFFFF"/>
                </a:solidFill>
                <a:latin typeface="Impact" pitchFamily="34" charset="0"/>
                <a:ea typeface="Impact" pitchFamily="34" charset="-122"/>
                <a:cs typeface="Impact" pitchFamily="34" charset="-120"/>
              </a:rPr>
              <a:t>SYSTEM REQUIREMENTS</a:t>
            </a:r>
            <a:endParaRPr lang="en-US" sz="4000" dirty="0"/>
          </a:p>
        </p:txBody>
      </p:sp>
      <p:sp>
        <p:nvSpPr>
          <p:cNvPr id="6" name="Shape 4"/>
          <p:cNvSpPr/>
          <p:nvPr/>
        </p:nvSpPr>
        <p:spPr>
          <a:xfrm>
            <a:off x="548640" y="1554480"/>
            <a:ext cx="640080" cy="36576"/>
          </a:xfrm>
          <a:prstGeom prst="rect">
            <a:avLst/>
          </a:prstGeom>
          <a:solidFill>
            <a:srgbClr val="00F0FF"/>
          </a:solidFill>
          <a:ln/>
        </p:spPr>
      </p:sp>
      <p:sp>
        <p:nvSpPr>
          <p:cNvPr id="7" name="Shape 5"/>
          <p:cNvSpPr/>
          <p:nvPr/>
        </p:nvSpPr>
        <p:spPr>
          <a:xfrm>
            <a:off x="548640" y="1828800"/>
            <a:ext cx="5486400" cy="4480560"/>
          </a:xfrm>
          <a:prstGeom prst="rect">
            <a:avLst/>
          </a:prstGeom>
          <a:solidFill>
            <a:srgbClr val="141938"/>
          </a:solidFill>
          <a:ln/>
        </p:spPr>
      </p:sp>
      <p:sp>
        <p:nvSpPr>
          <p:cNvPr id="8" name="Shape 6"/>
          <p:cNvSpPr/>
          <p:nvPr/>
        </p:nvSpPr>
        <p:spPr>
          <a:xfrm>
            <a:off x="548640" y="1828800"/>
            <a:ext cx="5486400" cy="73152"/>
          </a:xfrm>
          <a:prstGeom prst="rect">
            <a:avLst/>
          </a:prstGeom>
          <a:solidFill>
            <a:srgbClr val="00F0FF"/>
          </a:solidFill>
          <a:ln/>
        </p:spPr>
      </p:sp>
      <p:pic>
        <p:nvPicPr>
          <p:cNvPr id="9" name="Image 0" descr="preencoded.png"/>
          <p:cNvPicPr>
            <a:picLocks noChangeAspect="1"/>
          </p:cNvPicPr>
          <p:nvPr/>
        </p:nvPicPr>
        <p:blipFill>
          <a:blip r:embed="rId1"/>
          <a:stretch>
            <a:fillRect/>
          </a:stretch>
        </p:blipFill>
        <p:spPr>
          <a:xfrm>
            <a:off x="777240" y="2103120"/>
            <a:ext cx="384048" cy="384048"/>
          </a:xfrm>
          <a:prstGeom prst="rect">
            <a:avLst/>
          </a:prstGeom>
        </p:spPr>
      </p:pic>
      <p:sp>
        <p:nvSpPr>
          <p:cNvPr id="10" name="Text 7"/>
          <p:cNvSpPr/>
          <p:nvPr/>
        </p:nvSpPr>
        <p:spPr>
          <a:xfrm>
            <a:off x="1280160" y="2103120"/>
            <a:ext cx="3657600" cy="384048"/>
          </a:xfrm>
          <a:prstGeom prst="rect">
            <a:avLst/>
          </a:prstGeom>
          <a:noFill/>
          <a:ln/>
        </p:spPr>
        <p:txBody>
          <a:bodyPr wrap="square" lIns="0" tIns="0" rIns="0" bIns="0" rtlCol="0" anchor="ctr"/>
          <a:lstStyle/>
          <a:p>
            <a:pPr indent="0" marL="0">
              <a:buNone/>
            </a:pPr>
            <a:r>
              <a:rPr lang="en-US" sz="1800" b="1" spc="300" kern="0" dirty="0">
                <a:solidFill>
                  <a:srgbClr val="00F0FF"/>
                </a:solidFill>
                <a:latin typeface="Impact" pitchFamily="34" charset="0"/>
                <a:ea typeface="Impact" pitchFamily="34" charset="-122"/>
                <a:cs typeface="Impact" pitchFamily="34" charset="-120"/>
              </a:rPr>
              <a:t>HARDWARE</a:t>
            </a:r>
            <a:endParaRPr lang="en-US" sz="1800" dirty="0"/>
          </a:p>
        </p:txBody>
      </p:sp>
      <p:pic>
        <p:nvPicPr>
          <p:cNvPr id="11" name="Image 1" descr="preencoded.png"/>
          <p:cNvPicPr>
            <a:picLocks noChangeAspect="1"/>
          </p:cNvPicPr>
          <p:nvPr/>
        </p:nvPicPr>
        <p:blipFill>
          <a:blip r:embed="rId2"/>
          <a:stretch>
            <a:fillRect/>
          </a:stretch>
        </p:blipFill>
        <p:spPr>
          <a:xfrm>
            <a:off x="868680" y="2752344"/>
            <a:ext cx="292608" cy="292608"/>
          </a:xfrm>
          <a:prstGeom prst="rect">
            <a:avLst/>
          </a:prstGeom>
        </p:spPr>
      </p:pic>
      <p:sp>
        <p:nvSpPr>
          <p:cNvPr id="12" name="Text 8"/>
          <p:cNvSpPr/>
          <p:nvPr/>
        </p:nvSpPr>
        <p:spPr>
          <a:xfrm>
            <a:off x="1298448" y="2697480"/>
            <a:ext cx="1554480" cy="201168"/>
          </a:xfrm>
          <a:prstGeom prst="rect">
            <a:avLst/>
          </a:prstGeom>
          <a:noFill/>
          <a:ln/>
        </p:spPr>
        <p:txBody>
          <a:bodyPr wrap="square" lIns="0" tIns="0" rIns="0" bIns="0" rtlCol="0" anchor="ctr"/>
          <a:lstStyle/>
          <a:p>
            <a:pPr indent="0" marL="0">
              <a:buNone/>
            </a:pPr>
            <a:r>
              <a:rPr lang="en-US" sz="900" b="1" spc="200" kern="0" dirty="0">
                <a:solidFill>
                  <a:srgbClr val="00F0FF"/>
                </a:solidFill>
                <a:latin typeface="Consolas" pitchFamily="34" charset="0"/>
                <a:ea typeface="Consolas" pitchFamily="34" charset="-122"/>
                <a:cs typeface="Consolas" pitchFamily="34" charset="-120"/>
              </a:rPr>
              <a:t>PROCESSOR</a:t>
            </a:r>
            <a:endParaRPr lang="en-US" sz="900" dirty="0"/>
          </a:p>
        </p:txBody>
      </p:sp>
      <p:sp>
        <p:nvSpPr>
          <p:cNvPr id="13" name="Text 9"/>
          <p:cNvSpPr/>
          <p:nvPr/>
        </p:nvSpPr>
        <p:spPr>
          <a:xfrm>
            <a:off x="1298448" y="2898648"/>
            <a:ext cx="4572000" cy="27432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Intel Core i3 / AMD Ryzen 3 (2.0 GHz+)</a:t>
            </a:r>
            <a:endParaRPr lang="en-US" sz="1200" dirty="0"/>
          </a:p>
        </p:txBody>
      </p:sp>
      <p:pic>
        <p:nvPicPr>
          <p:cNvPr id="14" name="Image 2" descr="preencoded.png"/>
          <p:cNvPicPr>
            <a:picLocks noChangeAspect="1"/>
          </p:cNvPicPr>
          <p:nvPr/>
        </p:nvPicPr>
        <p:blipFill>
          <a:blip r:embed="rId3"/>
          <a:stretch>
            <a:fillRect/>
          </a:stretch>
        </p:blipFill>
        <p:spPr>
          <a:xfrm>
            <a:off x="868680" y="3319272"/>
            <a:ext cx="292608" cy="292608"/>
          </a:xfrm>
          <a:prstGeom prst="rect">
            <a:avLst/>
          </a:prstGeom>
        </p:spPr>
      </p:pic>
      <p:sp>
        <p:nvSpPr>
          <p:cNvPr id="15" name="Text 10"/>
          <p:cNvSpPr/>
          <p:nvPr/>
        </p:nvSpPr>
        <p:spPr>
          <a:xfrm>
            <a:off x="1298448" y="3264408"/>
            <a:ext cx="1554480" cy="201168"/>
          </a:xfrm>
          <a:prstGeom prst="rect">
            <a:avLst/>
          </a:prstGeom>
          <a:noFill/>
          <a:ln/>
        </p:spPr>
        <p:txBody>
          <a:bodyPr wrap="square" lIns="0" tIns="0" rIns="0" bIns="0" rtlCol="0" anchor="ctr"/>
          <a:lstStyle/>
          <a:p>
            <a:pPr indent="0" marL="0">
              <a:buNone/>
            </a:pPr>
            <a:r>
              <a:rPr lang="en-US" sz="900" b="1" spc="200" kern="0" dirty="0">
                <a:solidFill>
                  <a:srgbClr val="00F0FF"/>
                </a:solidFill>
                <a:latin typeface="Consolas" pitchFamily="34" charset="0"/>
                <a:ea typeface="Consolas" pitchFamily="34" charset="-122"/>
                <a:cs typeface="Consolas" pitchFamily="34" charset="-120"/>
              </a:rPr>
              <a:t>MEMORY</a:t>
            </a:r>
            <a:endParaRPr lang="en-US" sz="900" dirty="0"/>
          </a:p>
        </p:txBody>
      </p:sp>
      <p:sp>
        <p:nvSpPr>
          <p:cNvPr id="16" name="Text 11"/>
          <p:cNvSpPr/>
          <p:nvPr/>
        </p:nvSpPr>
        <p:spPr>
          <a:xfrm>
            <a:off x="1298448" y="3465576"/>
            <a:ext cx="4572000" cy="27432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4 GB RAM (8 GB recommended)</a:t>
            </a:r>
            <a:endParaRPr lang="en-US" sz="1200" dirty="0"/>
          </a:p>
        </p:txBody>
      </p:sp>
      <p:pic>
        <p:nvPicPr>
          <p:cNvPr id="17" name="Image 3" descr="preencoded.png"/>
          <p:cNvPicPr>
            <a:picLocks noChangeAspect="1"/>
          </p:cNvPicPr>
          <p:nvPr/>
        </p:nvPicPr>
        <p:blipFill>
          <a:blip r:embed="rId4"/>
          <a:stretch>
            <a:fillRect/>
          </a:stretch>
        </p:blipFill>
        <p:spPr>
          <a:xfrm>
            <a:off x="868680" y="3886200"/>
            <a:ext cx="292608" cy="292608"/>
          </a:xfrm>
          <a:prstGeom prst="rect">
            <a:avLst/>
          </a:prstGeom>
        </p:spPr>
      </p:pic>
      <p:sp>
        <p:nvSpPr>
          <p:cNvPr id="18" name="Text 12"/>
          <p:cNvSpPr/>
          <p:nvPr/>
        </p:nvSpPr>
        <p:spPr>
          <a:xfrm>
            <a:off x="1298448" y="3831336"/>
            <a:ext cx="1554480" cy="201168"/>
          </a:xfrm>
          <a:prstGeom prst="rect">
            <a:avLst/>
          </a:prstGeom>
          <a:noFill/>
          <a:ln/>
        </p:spPr>
        <p:txBody>
          <a:bodyPr wrap="square" lIns="0" tIns="0" rIns="0" bIns="0" rtlCol="0" anchor="ctr"/>
          <a:lstStyle/>
          <a:p>
            <a:pPr indent="0" marL="0">
              <a:buNone/>
            </a:pPr>
            <a:r>
              <a:rPr lang="en-US" sz="900" b="1" spc="200" kern="0" dirty="0">
                <a:solidFill>
                  <a:srgbClr val="00F0FF"/>
                </a:solidFill>
                <a:latin typeface="Consolas" pitchFamily="34" charset="0"/>
                <a:ea typeface="Consolas" pitchFamily="34" charset="-122"/>
                <a:cs typeface="Consolas" pitchFamily="34" charset="-120"/>
              </a:rPr>
              <a:t>GRAPHICS</a:t>
            </a:r>
            <a:endParaRPr lang="en-US" sz="900" dirty="0"/>
          </a:p>
        </p:txBody>
      </p:sp>
      <p:sp>
        <p:nvSpPr>
          <p:cNvPr id="19" name="Text 13"/>
          <p:cNvSpPr/>
          <p:nvPr/>
        </p:nvSpPr>
        <p:spPr>
          <a:xfrm>
            <a:off x="1298448" y="4032504"/>
            <a:ext cx="4572000" cy="27432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DirectX 10 GPU, 512 MB VRAM</a:t>
            </a:r>
            <a:endParaRPr lang="en-US" sz="1200" dirty="0"/>
          </a:p>
        </p:txBody>
      </p:sp>
      <p:pic>
        <p:nvPicPr>
          <p:cNvPr id="20" name="Image 4" descr="preencoded.png"/>
          <p:cNvPicPr>
            <a:picLocks noChangeAspect="1"/>
          </p:cNvPicPr>
          <p:nvPr/>
        </p:nvPicPr>
        <p:blipFill>
          <a:blip r:embed="rId5"/>
          <a:stretch>
            <a:fillRect/>
          </a:stretch>
        </p:blipFill>
        <p:spPr>
          <a:xfrm>
            <a:off x="868680" y="4453128"/>
            <a:ext cx="292608" cy="292608"/>
          </a:xfrm>
          <a:prstGeom prst="rect">
            <a:avLst/>
          </a:prstGeom>
        </p:spPr>
      </p:pic>
      <p:sp>
        <p:nvSpPr>
          <p:cNvPr id="21" name="Text 14"/>
          <p:cNvSpPr/>
          <p:nvPr/>
        </p:nvSpPr>
        <p:spPr>
          <a:xfrm>
            <a:off x="1298448" y="4398264"/>
            <a:ext cx="1554480" cy="201168"/>
          </a:xfrm>
          <a:prstGeom prst="rect">
            <a:avLst/>
          </a:prstGeom>
          <a:noFill/>
          <a:ln/>
        </p:spPr>
        <p:txBody>
          <a:bodyPr wrap="square" lIns="0" tIns="0" rIns="0" bIns="0" rtlCol="0" anchor="ctr"/>
          <a:lstStyle/>
          <a:p>
            <a:pPr indent="0" marL="0">
              <a:buNone/>
            </a:pPr>
            <a:r>
              <a:rPr lang="en-US" sz="900" b="1" spc="200" kern="0" dirty="0">
                <a:solidFill>
                  <a:srgbClr val="00F0FF"/>
                </a:solidFill>
                <a:latin typeface="Consolas" pitchFamily="34" charset="0"/>
                <a:ea typeface="Consolas" pitchFamily="34" charset="-122"/>
                <a:cs typeface="Consolas" pitchFamily="34" charset="-120"/>
              </a:rPr>
              <a:t>STORAGE</a:t>
            </a:r>
            <a:endParaRPr lang="en-US" sz="900" dirty="0"/>
          </a:p>
        </p:txBody>
      </p:sp>
      <p:sp>
        <p:nvSpPr>
          <p:cNvPr id="22" name="Text 15"/>
          <p:cNvSpPr/>
          <p:nvPr/>
        </p:nvSpPr>
        <p:spPr>
          <a:xfrm>
            <a:off x="1298448" y="4599432"/>
            <a:ext cx="4572000" cy="27432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2 GB free disk space</a:t>
            </a:r>
            <a:endParaRPr lang="en-US" sz="1200" dirty="0"/>
          </a:p>
        </p:txBody>
      </p:sp>
      <p:pic>
        <p:nvPicPr>
          <p:cNvPr id="23" name="Image 5" descr="preencoded.png"/>
          <p:cNvPicPr>
            <a:picLocks noChangeAspect="1"/>
          </p:cNvPicPr>
          <p:nvPr/>
        </p:nvPicPr>
        <p:blipFill>
          <a:blip r:embed="rId6"/>
          <a:stretch>
            <a:fillRect/>
          </a:stretch>
        </p:blipFill>
        <p:spPr>
          <a:xfrm>
            <a:off x="868680" y="5020056"/>
            <a:ext cx="292608" cy="292608"/>
          </a:xfrm>
          <a:prstGeom prst="rect">
            <a:avLst/>
          </a:prstGeom>
        </p:spPr>
      </p:pic>
      <p:sp>
        <p:nvSpPr>
          <p:cNvPr id="24" name="Text 16"/>
          <p:cNvSpPr/>
          <p:nvPr/>
        </p:nvSpPr>
        <p:spPr>
          <a:xfrm>
            <a:off x="1298448" y="4965192"/>
            <a:ext cx="1554480" cy="201168"/>
          </a:xfrm>
          <a:prstGeom prst="rect">
            <a:avLst/>
          </a:prstGeom>
          <a:noFill/>
          <a:ln/>
        </p:spPr>
        <p:txBody>
          <a:bodyPr wrap="square" lIns="0" tIns="0" rIns="0" bIns="0" rtlCol="0" anchor="ctr"/>
          <a:lstStyle/>
          <a:p>
            <a:pPr indent="0" marL="0">
              <a:buNone/>
            </a:pPr>
            <a:r>
              <a:rPr lang="en-US" sz="900" b="1" spc="200" kern="0" dirty="0">
                <a:solidFill>
                  <a:srgbClr val="00F0FF"/>
                </a:solidFill>
                <a:latin typeface="Consolas" pitchFamily="34" charset="0"/>
                <a:ea typeface="Consolas" pitchFamily="34" charset="-122"/>
                <a:cs typeface="Consolas" pitchFamily="34" charset="-120"/>
              </a:rPr>
              <a:t>DISPLAY</a:t>
            </a:r>
            <a:endParaRPr lang="en-US" sz="900" dirty="0"/>
          </a:p>
        </p:txBody>
      </p:sp>
      <p:sp>
        <p:nvSpPr>
          <p:cNvPr id="25" name="Text 17"/>
          <p:cNvSpPr/>
          <p:nvPr/>
        </p:nvSpPr>
        <p:spPr>
          <a:xfrm>
            <a:off x="1298448" y="5166360"/>
            <a:ext cx="4572000" cy="27432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1280 × 720 minimum resolution</a:t>
            </a:r>
            <a:endParaRPr lang="en-US" sz="1200" dirty="0"/>
          </a:p>
        </p:txBody>
      </p:sp>
      <p:pic>
        <p:nvPicPr>
          <p:cNvPr id="26" name="Image 6" descr="preencoded.png"/>
          <p:cNvPicPr>
            <a:picLocks noChangeAspect="1"/>
          </p:cNvPicPr>
          <p:nvPr/>
        </p:nvPicPr>
        <p:blipFill>
          <a:blip r:embed="rId7"/>
          <a:stretch>
            <a:fillRect/>
          </a:stretch>
        </p:blipFill>
        <p:spPr>
          <a:xfrm>
            <a:off x="868680" y="5586984"/>
            <a:ext cx="292608" cy="292608"/>
          </a:xfrm>
          <a:prstGeom prst="rect">
            <a:avLst/>
          </a:prstGeom>
        </p:spPr>
      </p:pic>
      <p:sp>
        <p:nvSpPr>
          <p:cNvPr id="27" name="Text 18"/>
          <p:cNvSpPr/>
          <p:nvPr/>
        </p:nvSpPr>
        <p:spPr>
          <a:xfrm>
            <a:off x="1298448" y="5532120"/>
            <a:ext cx="1554480" cy="201168"/>
          </a:xfrm>
          <a:prstGeom prst="rect">
            <a:avLst/>
          </a:prstGeom>
          <a:noFill/>
          <a:ln/>
        </p:spPr>
        <p:txBody>
          <a:bodyPr wrap="square" lIns="0" tIns="0" rIns="0" bIns="0" rtlCol="0" anchor="ctr"/>
          <a:lstStyle/>
          <a:p>
            <a:pPr indent="0" marL="0">
              <a:buNone/>
            </a:pPr>
            <a:r>
              <a:rPr lang="en-US" sz="900" b="1" spc="200" kern="0" dirty="0">
                <a:solidFill>
                  <a:srgbClr val="00F0FF"/>
                </a:solidFill>
                <a:latin typeface="Consolas" pitchFamily="34" charset="0"/>
                <a:ea typeface="Consolas" pitchFamily="34" charset="-122"/>
                <a:cs typeface="Consolas" pitchFamily="34" charset="-120"/>
              </a:rPr>
              <a:t>INPUT</a:t>
            </a:r>
            <a:endParaRPr lang="en-US" sz="900" dirty="0"/>
          </a:p>
        </p:txBody>
      </p:sp>
      <p:sp>
        <p:nvSpPr>
          <p:cNvPr id="28" name="Text 19"/>
          <p:cNvSpPr/>
          <p:nvPr/>
        </p:nvSpPr>
        <p:spPr>
          <a:xfrm>
            <a:off x="1298448" y="5733288"/>
            <a:ext cx="4572000" cy="27432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Keyboard &amp; Mouse (cursor-based aiming is mandatory)</a:t>
            </a:r>
            <a:endParaRPr lang="en-US" sz="1200" dirty="0"/>
          </a:p>
        </p:txBody>
      </p:sp>
      <p:sp>
        <p:nvSpPr>
          <p:cNvPr id="29" name="Shape 20"/>
          <p:cNvSpPr/>
          <p:nvPr/>
        </p:nvSpPr>
        <p:spPr>
          <a:xfrm>
            <a:off x="6263640" y="1828800"/>
            <a:ext cx="5349240" cy="4480560"/>
          </a:xfrm>
          <a:prstGeom prst="rect">
            <a:avLst/>
          </a:prstGeom>
          <a:solidFill>
            <a:srgbClr val="141938"/>
          </a:solidFill>
          <a:ln/>
        </p:spPr>
      </p:sp>
      <p:sp>
        <p:nvSpPr>
          <p:cNvPr id="30" name="Shape 21"/>
          <p:cNvSpPr/>
          <p:nvPr/>
        </p:nvSpPr>
        <p:spPr>
          <a:xfrm>
            <a:off x="6263640" y="1828800"/>
            <a:ext cx="5349240" cy="73152"/>
          </a:xfrm>
          <a:prstGeom prst="rect">
            <a:avLst/>
          </a:prstGeom>
          <a:solidFill>
            <a:srgbClr val="FF2A6D"/>
          </a:solidFill>
          <a:ln/>
        </p:spPr>
      </p:sp>
      <p:pic>
        <p:nvPicPr>
          <p:cNvPr id="31" name="Image 7" descr="preencoded.png"/>
          <p:cNvPicPr>
            <a:picLocks noChangeAspect="1"/>
          </p:cNvPicPr>
          <p:nvPr/>
        </p:nvPicPr>
        <p:blipFill>
          <a:blip r:embed="rId8"/>
          <a:stretch>
            <a:fillRect/>
          </a:stretch>
        </p:blipFill>
        <p:spPr>
          <a:xfrm>
            <a:off x="6492240" y="2103120"/>
            <a:ext cx="384048" cy="384048"/>
          </a:xfrm>
          <a:prstGeom prst="rect">
            <a:avLst/>
          </a:prstGeom>
        </p:spPr>
      </p:pic>
      <p:sp>
        <p:nvSpPr>
          <p:cNvPr id="32" name="Text 22"/>
          <p:cNvSpPr/>
          <p:nvPr/>
        </p:nvSpPr>
        <p:spPr>
          <a:xfrm>
            <a:off x="6995160" y="2103120"/>
            <a:ext cx="3657600" cy="384048"/>
          </a:xfrm>
          <a:prstGeom prst="rect">
            <a:avLst/>
          </a:prstGeom>
          <a:noFill/>
          <a:ln/>
        </p:spPr>
        <p:txBody>
          <a:bodyPr wrap="square" lIns="0" tIns="0" rIns="0" bIns="0" rtlCol="0" anchor="ctr"/>
          <a:lstStyle/>
          <a:p>
            <a:pPr indent="0" marL="0">
              <a:buNone/>
            </a:pPr>
            <a:r>
              <a:rPr lang="en-US" sz="1800" b="1" spc="300" kern="0" dirty="0">
                <a:solidFill>
                  <a:srgbClr val="FF2A6D"/>
                </a:solidFill>
                <a:latin typeface="Impact" pitchFamily="34" charset="0"/>
                <a:ea typeface="Impact" pitchFamily="34" charset="-122"/>
                <a:cs typeface="Impact" pitchFamily="34" charset="-120"/>
              </a:rPr>
              <a:t>SOFTWARE</a:t>
            </a:r>
            <a:endParaRPr lang="en-US" sz="1800" dirty="0"/>
          </a:p>
        </p:txBody>
      </p:sp>
      <p:sp>
        <p:nvSpPr>
          <p:cNvPr id="33" name="Shape 23"/>
          <p:cNvSpPr/>
          <p:nvPr/>
        </p:nvSpPr>
        <p:spPr>
          <a:xfrm>
            <a:off x="6492240" y="2752344"/>
            <a:ext cx="292608" cy="292608"/>
          </a:xfrm>
          <a:prstGeom prst="ellipse">
            <a:avLst/>
          </a:prstGeom>
          <a:solidFill>
            <a:srgbClr val="1C2347"/>
          </a:solidFill>
          <a:ln w="15240">
            <a:solidFill>
              <a:srgbClr val="FF2A6D"/>
            </a:solidFill>
            <a:prstDash val="solid"/>
          </a:ln>
        </p:spPr>
      </p:sp>
      <p:sp>
        <p:nvSpPr>
          <p:cNvPr id="34" name="Text 24"/>
          <p:cNvSpPr/>
          <p:nvPr/>
        </p:nvSpPr>
        <p:spPr>
          <a:xfrm>
            <a:off x="6492240" y="2752344"/>
            <a:ext cx="292608" cy="292608"/>
          </a:xfrm>
          <a:prstGeom prst="rect">
            <a:avLst/>
          </a:prstGeom>
          <a:noFill/>
          <a:ln/>
        </p:spPr>
        <p:txBody>
          <a:bodyPr wrap="square" lIns="0" tIns="0" rIns="0" bIns="0" rtlCol="0" anchor="ctr"/>
          <a:lstStyle/>
          <a:p>
            <a:pPr algn="ctr" indent="0" marL="0">
              <a:buNone/>
            </a:pPr>
            <a:r>
              <a:rPr lang="en-US" sz="1100" b="1" dirty="0">
                <a:solidFill>
                  <a:srgbClr val="FF2A6D"/>
                </a:solidFill>
                <a:latin typeface="Consolas" pitchFamily="34" charset="0"/>
                <a:ea typeface="Consolas" pitchFamily="34" charset="-122"/>
                <a:cs typeface="Consolas" pitchFamily="34" charset="-120"/>
              </a:rPr>
              <a:t>1</a:t>
            </a:r>
            <a:endParaRPr lang="en-US" sz="1100" dirty="0"/>
          </a:p>
        </p:txBody>
      </p:sp>
      <p:sp>
        <p:nvSpPr>
          <p:cNvPr id="35" name="Text 25"/>
          <p:cNvSpPr/>
          <p:nvPr/>
        </p:nvSpPr>
        <p:spPr>
          <a:xfrm>
            <a:off x="6903720" y="2697480"/>
            <a:ext cx="1828800" cy="201168"/>
          </a:xfrm>
          <a:prstGeom prst="rect">
            <a:avLst/>
          </a:prstGeom>
          <a:noFill/>
          <a:ln/>
        </p:spPr>
        <p:txBody>
          <a:bodyPr wrap="square" lIns="0" tIns="0" rIns="0" bIns="0" rtlCol="0" anchor="ctr"/>
          <a:lstStyle/>
          <a:p>
            <a:pPr indent="0" marL="0">
              <a:buNone/>
            </a:pPr>
            <a:r>
              <a:rPr lang="en-US" sz="900" b="1" spc="200" kern="0" dirty="0">
                <a:solidFill>
                  <a:srgbClr val="FF2A6D"/>
                </a:solidFill>
                <a:latin typeface="Consolas" pitchFamily="34" charset="0"/>
                <a:ea typeface="Consolas" pitchFamily="34" charset="-122"/>
                <a:cs typeface="Consolas" pitchFamily="34" charset="-120"/>
              </a:rPr>
              <a:t>ENGINE</a:t>
            </a:r>
            <a:endParaRPr lang="en-US" sz="900" dirty="0"/>
          </a:p>
        </p:txBody>
      </p:sp>
      <p:sp>
        <p:nvSpPr>
          <p:cNvPr id="36" name="Text 26"/>
          <p:cNvSpPr/>
          <p:nvPr/>
        </p:nvSpPr>
        <p:spPr>
          <a:xfrm>
            <a:off x="6903720" y="2898648"/>
            <a:ext cx="4572000" cy="27432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Unity 2021.3 LTS (with 2D module)</a:t>
            </a:r>
            <a:endParaRPr lang="en-US" sz="1200" dirty="0"/>
          </a:p>
        </p:txBody>
      </p:sp>
      <p:sp>
        <p:nvSpPr>
          <p:cNvPr id="37" name="Shape 27"/>
          <p:cNvSpPr/>
          <p:nvPr/>
        </p:nvSpPr>
        <p:spPr>
          <a:xfrm>
            <a:off x="6492240" y="3319272"/>
            <a:ext cx="292608" cy="292608"/>
          </a:xfrm>
          <a:prstGeom prst="ellipse">
            <a:avLst/>
          </a:prstGeom>
          <a:solidFill>
            <a:srgbClr val="1C2347"/>
          </a:solidFill>
          <a:ln w="15240">
            <a:solidFill>
              <a:srgbClr val="FF2A6D"/>
            </a:solidFill>
            <a:prstDash val="solid"/>
          </a:ln>
        </p:spPr>
      </p:sp>
      <p:sp>
        <p:nvSpPr>
          <p:cNvPr id="38" name="Text 28"/>
          <p:cNvSpPr/>
          <p:nvPr/>
        </p:nvSpPr>
        <p:spPr>
          <a:xfrm>
            <a:off x="6492240" y="3319272"/>
            <a:ext cx="292608" cy="292608"/>
          </a:xfrm>
          <a:prstGeom prst="rect">
            <a:avLst/>
          </a:prstGeom>
          <a:noFill/>
          <a:ln/>
        </p:spPr>
        <p:txBody>
          <a:bodyPr wrap="square" lIns="0" tIns="0" rIns="0" bIns="0" rtlCol="0" anchor="ctr"/>
          <a:lstStyle/>
          <a:p>
            <a:pPr algn="ctr" indent="0" marL="0">
              <a:buNone/>
            </a:pPr>
            <a:r>
              <a:rPr lang="en-US" sz="1100" b="1" dirty="0">
                <a:solidFill>
                  <a:srgbClr val="FF2A6D"/>
                </a:solidFill>
                <a:latin typeface="Consolas" pitchFamily="34" charset="0"/>
                <a:ea typeface="Consolas" pitchFamily="34" charset="-122"/>
                <a:cs typeface="Consolas" pitchFamily="34" charset="-120"/>
              </a:rPr>
              <a:t>2</a:t>
            </a:r>
            <a:endParaRPr lang="en-US" sz="1100" dirty="0"/>
          </a:p>
        </p:txBody>
      </p:sp>
      <p:sp>
        <p:nvSpPr>
          <p:cNvPr id="39" name="Text 29"/>
          <p:cNvSpPr/>
          <p:nvPr/>
        </p:nvSpPr>
        <p:spPr>
          <a:xfrm>
            <a:off x="6903720" y="3264408"/>
            <a:ext cx="1828800" cy="201168"/>
          </a:xfrm>
          <a:prstGeom prst="rect">
            <a:avLst/>
          </a:prstGeom>
          <a:noFill/>
          <a:ln/>
        </p:spPr>
        <p:txBody>
          <a:bodyPr wrap="square" lIns="0" tIns="0" rIns="0" bIns="0" rtlCol="0" anchor="ctr"/>
          <a:lstStyle/>
          <a:p>
            <a:pPr indent="0" marL="0">
              <a:buNone/>
            </a:pPr>
            <a:r>
              <a:rPr lang="en-US" sz="900" b="1" spc="200" kern="0" dirty="0">
                <a:solidFill>
                  <a:srgbClr val="FF2A6D"/>
                </a:solidFill>
                <a:latin typeface="Consolas" pitchFamily="34" charset="0"/>
                <a:ea typeface="Consolas" pitchFamily="34" charset="-122"/>
                <a:cs typeface="Consolas" pitchFamily="34" charset="-120"/>
              </a:rPr>
              <a:t>LANGUAGE</a:t>
            </a:r>
            <a:endParaRPr lang="en-US" sz="900" dirty="0"/>
          </a:p>
        </p:txBody>
      </p:sp>
      <p:sp>
        <p:nvSpPr>
          <p:cNvPr id="40" name="Text 30"/>
          <p:cNvSpPr/>
          <p:nvPr/>
        </p:nvSpPr>
        <p:spPr>
          <a:xfrm>
            <a:off x="6903720" y="3465576"/>
            <a:ext cx="4572000" cy="27432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C# (.NET Standard 2.1)</a:t>
            </a:r>
            <a:endParaRPr lang="en-US" sz="1200" dirty="0"/>
          </a:p>
        </p:txBody>
      </p:sp>
      <p:sp>
        <p:nvSpPr>
          <p:cNvPr id="41" name="Shape 31"/>
          <p:cNvSpPr/>
          <p:nvPr/>
        </p:nvSpPr>
        <p:spPr>
          <a:xfrm>
            <a:off x="6492240" y="3886200"/>
            <a:ext cx="292608" cy="292608"/>
          </a:xfrm>
          <a:prstGeom prst="ellipse">
            <a:avLst/>
          </a:prstGeom>
          <a:solidFill>
            <a:srgbClr val="1C2347"/>
          </a:solidFill>
          <a:ln w="15240">
            <a:solidFill>
              <a:srgbClr val="FF2A6D"/>
            </a:solidFill>
            <a:prstDash val="solid"/>
          </a:ln>
        </p:spPr>
      </p:sp>
      <p:sp>
        <p:nvSpPr>
          <p:cNvPr id="42" name="Text 32"/>
          <p:cNvSpPr/>
          <p:nvPr/>
        </p:nvSpPr>
        <p:spPr>
          <a:xfrm>
            <a:off x="6492240" y="3886200"/>
            <a:ext cx="292608" cy="292608"/>
          </a:xfrm>
          <a:prstGeom prst="rect">
            <a:avLst/>
          </a:prstGeom>
          <a:noFill/>
          <a:ln/>
        </p:spPr>
        <p:txBody>
          <a:bodyPr wrap="square" lIns="0" tIns="0" rIns="0" bIns="0" rtlCol="0" anchor="ctr"/>
          <a:lstStyle/>
          <a:p>
            <a:pPr algn="ctr" indent="0" marL="0">
              <a:buNone/>
            </a:pPr>
            <a:r>
              <a:rPr lang="en-US" sz="1100" b="1" dirty="0">
                <a:solidFill>
                  <a:srgbClr val="FF2A6D"/>
                </a:solidFill>
                <a:latin typeface="Consolas" pitchFamily="34" charset="0"/>
                <a:ea typeface="Consolas" pitchFamily="34" charset="-122"/>
                <a:cs typeface="Consolas" pitchFamily="34" charset="-120"/>
              </a:rPr>
              <a:t>3</a:t>
            </a:r>
            <a:endParaRPr lang="en-US" sz="1100" dirty="0"/>
          </a:p>
        </p:txBody>
      </p:sp>
      <p:sp>
        <p:nvSpPr>
          <p:cNvPr id="43" name="Text 33"/>
          <p:cNvSpPr/>
          <p:nvPr/>
        </p:nvSpPr>
        <p:spPr>
          <a:xfrm>
            <a:off x="6903720" y="3831336"/>
            <a:ext cx="1828800" cy="201168"/>
          </a:xfrm>
          <a:prstGeom prst="rect">
            <a:avLst/>
          </a:prstGeom>
          <a:noFill/>
          <a:ln/>
        </p:spPr>
        <p:txBody>
          <a:bodyPr wrap="square" lIns="0" tIns="0" rIns="0" bIns="0" rtlCol="0" anchor="ctr"/>
          <a:lstStyle/>
          <a:p>
            <a:pPr indent="0" marL="0">
              <a:buNone/>
            </a:pPr>
            <a:r>
              <a:rPr lang="en-US" sz="900" b="1" spc="200" kern="0" dirty="0">
                <a:solidFill>
                  <a:srgbClr val="FF2A6D"/>
                </a:solidFill>
                <a:latin typeface="Consolas" pitchFamily="34" charset="0"/>
                <a:ea typeface="Consolas" pitchFamily="34" charset="-122"/>
                <a:cs typeface="Consolas" pitchFamily="34" charset="-120"/>
              </a:rPr>
              <a:t>INPUT</a:t>
            </a:r>
            <a:endParaRPr lang="en-US" sz="900" dirty="0"/>
          </a:p>
        </p:txBody>
      </p:sp>
      <p:sp>
        <p:nvSpPr>
          <p:cNvPr id="44" name="Text 34"/>
          <p:cNvSpPr/>
          <p:nvPr/>
        </p:nvSpPr>
        <p:spPr>
          <a:xfrm>
            <a:off x="6903720" y="4032504"/>
            <a:ext cx="4572000" cy="27432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Unity New Input System package</a:t>
            </a:r>
            <a:endParaRPr lang="en-US" sz="1200" dirty="0"/>
          </a:p>
        </p:txBody>
      </p:sp>
      <p:sp>
        <p:nvSpPr>
          <p:cNvPr id="45" name="Shape 35"/>
          <p:cNvSpPr/>
          <p:nvPr/>
        </p:nvSpPr>
        <p:spPr>
          <a:xfrm>
            <a:off x="6492240" y="4453128"/>
            <a:ext cx="292608" cy="292608"/>
          </a:xfrm>
          <a:prstGeom prst="ellipse">
            <a:avLst/>
          </a:prstGeom>
          <a:solidFill>
            <a:srgbClr val="1C2347"/>
          </a:solidFill>
          <a:ln w="15240">
            <a:solidFill>
              <a:srgbClr val="FF2A6D"/>
            </a:solidFill>
            <a:prstDash val="solid"/>
          </a:ln>
        </p:spPr>
      </p:sp>
      <p:sp>
        <p:nvSpPr>
          <p:cNvPr id="46" name="Text 36"/>
          <p:cNvSpPr/>
          <p:nvPr/>
        </p:nvSpPr>
        <p:spPr>
          <a:xfrm>
            <a:off x="6492240" y="4453128"/>
            <a:ext cx="292608" cy="292608"/>
          </a:xfrm>
          <a:prstGeom prst="rect">
            <a:avLst/>
          </a:prstGeom>
          <a:noFill/>
          <a:ln/>
        </p:spPr>
        <p:txBody>
          <a:bodyPr wrap="square" lIns="0" tIns="0" rIns="0" bIns="0" rtlCol="0" anchor="ctr"/>
          <a:lstStyle/>
          <a:p>
            <a:pPr algn="ctr" indent="0" marL="0">
              <a:buNone/>
            </a:pPr>
            <a:r>
              <a:rPr lang="en-US" sz="1100" b="1" dirty="0">
                <a:solidFill>
                  <a:srgbClr val="FF2A6D"/>
                </a:solidFill>
                <a:latin typeface="Consolas" pitchFamily="34" charset="0"/>
                <a:ea typeface="Consolas" pitchFamily="34" charset="-122"/>
                <a:cs typeface="Consolas" pitchFamily="34" charset="-120"/>
              </a:rPr>
              <a:t>4</a:t>
            </a:r>
            <a:endParaRPr lang="en-US" sz="1100" dirty="0"/>
          </a:p>
        </p:txBody>
      </p:sp>
      <p:sp>
        <p:nvSpPr>
          <p:cNvPr id="47" name="Text 37"/>
          <p:cNvSpPr/>
          <p:nvPr/>
        </p:nvSpPr>
        <p:spPr>
          <a:xfrm>
            <a:off x="6903720" y="4398264"/>
            <a:ext cx="1828800" cy="201168"/>
          </a:xfrm>
          <a:prstGeom prst="rect">
            <a:avLst/>
          </a:prstGeom>
          <a:noFill/>
          <a:ln/>
        </p:spPr>
        <p:txBody>
          <a:bodyPr wrap="square" lIns="0" tIns="0" rIns="0" bIns="0" rtlCol="0" anchor="ctr"/>
          <a:lstStyle/>
          <a:p>
            <a:pPr indent="0" marL="0">
              <a:buNone/>
            </a:pPr>
            <a:r>
              <a:rPr lang="en-US" sz="900" b="1" spc="200" kern="0" dirty="0">
                <a:solidFill>
                  <a:srgbClr val="FF2A6D"/>
                </a:solidFill>
                <a:latin typeface="Consolas" pitchFamily="34" charset="0"/>
                <a:ea typeface="Consolas" pitchFamily="34" charset="-122"/>
                <a:cs typeface="Consolas" pitchFamily="34" charset="-120"/>
              </a:rPr>
              <a:t>IDE</a:t>
            </a:r>
            <a:endParaRPr lang="en-US" sz="900" dirty="0"/>
          </a:p>
        </p:txBody>
      </p:sp>
      <p:sp>
        <p:nvSpPr>
          <p:cNvPr id="48" name="Text 38"/>
          <p:cNvSpPr/>
          <p:nvPr/>
        </p:nvSpPr>
        <p:spPr>
          <a:xfrm>
            <a:off x="6903720" y="4599432"/>
            <a:ext cx="4572000" cy="27432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Visual Studio 2019/2022 or Rider</a:t>
            </a:r>
            <a:endParaRPr lang="en-US" sz="1200" dirty="0"/>
          </a:p>
        </p:txBody>
      </p:sp>
      <p:sp>
        <p:nvSpPr>
          <p:cNvPr id="49" name="Shape 39"/>
          <p:cNvSpPr/>
          <p:nvPr/>
        </p:nvSpPr>
        <p:spPr>
          <a:xfrm>
            <a:off x="6492240" y="5020056"/>
            <a:ext cx="292608" cy="292608"/>
          </a:xfrm>
          <a:prstGeom prst="ellipse">
            <a:avLst/>
          </a:prstGeom>
          <a:solidFill>
            <a:srgbClr val="1C2347"/>
          </a:solidFill>
          <a:ln w="15240">
            <a:solidFill>
              <a:srgbClr val="FF2A6D"/>
            </a:solidFill>
            <a:prstDash val="solid"/>
          </a:ln>
        </p:spPr>
      </p:sp>
      <p:sp>
        <p:nvSpPr>
          <p:cNvPr id="50" name="Text 40"/>
          <p:cNvSpPr/>
          <p:nvPr/>
        </p:nvSpPr>
        <p:spPr>
          <a:xfrm>
            <a:off x="6492240" y="5020056"/>
            <a:ext cx="292608" cy="292608"/>
          </a:xfrm>
          <a:prstGeom prst="rect">
            <a:avLst/>
          </a:prstGeom>
          <a:noFill/>
          <a:ln/>
        </p:spPr>
        <p:txBody>
          <a:bodyPr wrap="square" lIns="0" tIns="0" rIns="0" bIns="0" rtlCol="0" anchor="ctr"/>
          <a:lstStyle/>
          <a:p>
            <a:pPr algn="ctr" indent="0" marL="0">
              <a:buNone/>
            </a:pPr>
            <a:r>
              <a:rPr lang="en-US" sz="1100" b="1" dirty="0">
                <a:solidFill>
                  <a:srgbClr val="FF2A6D"/>
                </a:solidFill>
                <a:latin typeface="Consolas" pitchFamily="34" charset="0"/>
                <a:ea typeface="Consolas" pitchFamily="34" charset="-122"/>
                <a:cs typeface="Consolas" pitchFamily="34" charset="-120"/>
              </a:rPr>
              <a:t>5</a:t>
            </a:r>
            <a:endParaRPr lang="en-US" sz="1100" dirty="0"/>
          </a:p>
        </p:txBody>
      </p:sp>
      <p:sp>
        <p:nvSpPr>
          <p:cNvPr id="51" name="Text 41"/>
          <p:cNvSpPr/>
          <p:nvPr/>
        </p:nvSpPr>
        <p:spPr>
          <a:xfrm>
            <a:off x="6903720" y="4965192"/>
            <a:ext cx="1828800" cy="201168"/>
          </a:xfrm>
          <a:prstGeom prst="rect">
            <a:avLst/>
          </a:prstGeom>
          <a:noFill/>
          <a:ln/>
        </p:spPr>
        <p:txBody>
          <a:bodyPr wrap="square" lIns="0" tIns="0" rIns="0" bIns="0" rtlCol="0" anchor="ctr"/>
          <a:lstStyle/>
          <a:p>
            <a:pPr indent="0" marL="0">
              <a:buNone/>
            </a:pPr>
            <a:r>
              <a:rPr lang="en-US" sz="900" b="1" spc="200" kern="0" dirty="0">
                <a:solidFill>
                  <a:srgbClr val="FF2A6D"/>
                </a:solidFill>
                <a:latin typeface="Consolas" pitchFamily="34" charset="0"/>
                <a:ea typeface="Consolas" pitchFamily="34" charset="-122"/>
                <a:cs typeface="Consolas" pitchFamily="34" charset="-120"/>
              </a:rPr>
              <a:t>OS</a:t>
            </a:r>
            <a:endParaRPr lang="en-US" sz="900" dirty="0"/>
          </a:p>
        </p:txBody>
      </p:sp>
      <p:sp>
        <p:nvSpPr>
          <p:cNvPr id="52" name="Text 42"/>
          <p:cNvSpPr/>
          <p:nvPr/>
        </p:nvSpPr>
        <p:spPr>
          <a:xfrm>
            <a:off x="6903720" y="5166360"/>
            <a:ext cx="4572000" cy="27432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Windows 10/11, macOS 10.14+, Ubuntu 18.04+</a:t>
            </a:r>
            <a:endParaRPr lang="en-US" sz="1200" dirty="0"/>
          </a:p>
        </p:txBody>
      </p:sp>
      <p:sp>
        <p:nvSpPr>
          <p:cNvPr id="53" name="Shape 43"/>
          <p:cNvSpPr/>
          <p:nvPr/>
        </p:nvSpPr>
        <p:spPr>
          <a:xfrm>
            <a:off x="6492240" y="5586984"/>
            <a:ext cx="292608" cy="292608"/>
          </a:xfrm>
          <a:prstGeom prst="ellipse">
            <a:avLst/>
          </a:prstGeom>
          <a:solidFill>
            <a:srgbClr val="1C2347"/>
          </a:solidFill>
          <a:ln w="15240">
            <a:solidFill>
              <a:srgbClr val="FF2A6D"/>
            </a:solidFill>
            <a:prstDash val="solid"/>
          </a:ln>
        </p:spPr>
      </p:sp>
      <p:sp>
        <p:nvSpPr>
          <p:cNvPr id="54" name="Text 44"/>
          <p:cNvSpPr/>
          <p:nvPr/>
        </p:nvSpPr>
        <p:spPr>
          <a:xfrm>
            <a:off x="6492240" y="5586984"/>
            <a:ext cx="292608" cy="292608"/>
          </a:xfrm>
          <a:prstGeom prst="rect">
            <a:avLst/>
          </a:prstGeom>
          <a:noFill/>
          <a:ln/>
        </p:spPr>
        <p:txBody>
          <a:bodyPr wrap="square" lIns="0" tIns="0" rIns="0" bIns="0" rtlCol="0" anchor="ctr"/>
          <a:lstStyle/>
          <a:p>
            <a:pPr algn="ctr" indent="0" marL="0">
              <a:buNone/>
            </a:pPr>
            <a:r>
              <a:rPr lang="en-US" sz="1100" b="1" dirty="0">
                <a:solidFill>
                  <a:srgbClr val="FF2A6D"/>
                </a:solidFill>
                <a:latin typeface="Consolas" pitchFamily="34" charset="0"/>
                <a:ea typeface="Consolas" pitchFamily="34" charset="-122"/>
                <a:cs typeface="Consolas" pitchFamily="34" charset="-120"/>
              </a:rPr>
              <a:t>6</a:t>
            </a:r>
            <a:endParaRPr lang="en-US" sz="1100" dirty="0"/>
          </a:p>
        </p:txBody>
      </p:sp>
      <p:sp>
        <p:nvSpPr>
          <p:cNvPr id="55" name="Text 45"/>
          <p:cNvSpPr/>
          <p:nvPr/>
        </p:nvSpPr>
        <p:spPr>
          <a:xfrm>
            <a:off x="6903720" y="5532120"/>
            <a:ext cx="1828800" cy="201168"/>
          </a:xfrm>
          <a:prstGeom prst="rect">
            <a:avLst/>
          </a:prstGeom>
          <a:noFill/>
          <a:ln/>
        </p:spPr>
        <p:txBody>
          <a:bodyPr wrap="square" lIns="0" tIns="0" rIns="0" bIns="0" rtlCol="0" anchor="ctr"/>
          <a:lstStyle/>
          <a:p>
            <a:pPr indent="0" marL="0">
              <a:buNone/>
            </a:pPr>
            <a:r>
              <a:rPr lang="en-US" sz="900" b="1" spc="200" kern="0" dirty="0">
                <a:solidFill>
                  <a:srgbClr val="FF2A6D"/>
                </a:solidFill>
                <a:latin typeface="Consolas" pitchFamily="34" charset="0"/>
                <a:ea typeface="Consolas" pitchFamily="34" charset="-122"/>
                <a:cs typeface="Consolas" pitchFamily="34" charset="-120"/>
              </a:rPr>
              <a:t>VERSIONING</a:t>
            </a:r>
            <a:endParaRPr lang="en-US" sz="900" dirty="0"/>
          </a:p>
        </p:txBody>
      </p:sp>
      <p:sp>
        <p:nvSpPr>
          <p:cNvPr id="56" name="Text 46"/>
          <p:cNvSpPr/>
          <p:nvPr/>
        </p:nvSpPr>
        <p:spPr>
          <a:xfrm>
            <a:off x="6903720" y="5733288"/>
            <a:ext cx="4572000" cy="27432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Git (recommended)</a:t>
            </a:r>
            <a:endParaRPr lang="en-US" sz="1200" dirty="0"/>
          </a:p>
        </p:txBody>
      </p:sp>
      <p:sp>
        <p:nvSpPr>
          <p:cNvPr id="57" name="Text 47"/>
          <p:cNvSpPr/>
          <p:nvPr/>
        </p:nvSpPr>
        <p:spPr>
          <a:xfrm>
            <a:off x="457200" y="6446520"/>
            <a:ext cx="5486400" cy="274320"/>
          </a:xfrm>
          <a:prstGeom prst="rect">
            <a:avLst/>
          </a:prstGeom>
          <a:noFill/>
          <a:ln/>
        </p:spPr>
        <p:txBody>
          <a:bodyPr wrap="square" lIns="0" tIns="0" rIns="0" bIns="0" rtlCol="0" anchor="ctr"/>
          <a:lstStyle/>
          <a:p>
            <a:pPr indent="0" marL="0">
              <a:buNone/>
            </a:pPr>
            <a:r>
              <a:rPr lang="en-US" sz="1000" spc="300" kern="0" dirty="0">
                <a:solidFill>
                  <a:srgbClr val="6B7494"/>
                </a:solidFill>
                <a:latin typeface="Consolas" pitchFamily="34" charset="0"/>
                <a:ea typeface="Consolas" pitchFamily="34" charset="-122"/>
                <a:cs typeface="Consolas" pitchFamily="34" charset="-120"/>
              </a:rPr>
              <a:t>SYSTEM REQUIREMENTS</a:t>
            </a:r>
            <a:endParaRPr lang="en-US" sz="1000" dirty="0"/>
          </a:p>
        </p:txBody>
      </p:sp>
      <p:sp>
        <p:nvSpPr>
          <p:cNvPr id="58" name="Text 48"/>
          <p:cNvSpPr/>
          <p:nvPr/>
        </p:nvSpPr>
        <p:spPr>
          <a:xfrm>
            <a:off x="10362895" y="6446520"/>
            <a:ext cx="1371600" cy="274320"/>
          </a:xfrm>
          <a:prstGeom prst="rect">
            <a:avLst/>
          </a:prstGeom>
          <a:noFill/>
          <a:ln/>
        </p:spPr>
        <p:txBody>
          <a:bodyPr wrap="square" lIns="0" tIns="0" rIns="0" bIns="0" rtlCol="0" anchor="ctr"/>
          <a:lstStyle/>
          <a:p>
            <a:pPr algn="r" indent="0" marL="0">
              <a:buNone/>
            </a:pPr>
            <a:r>
              <a:rPr lang="en-US" sz="1000" spc="200" kern="0" dirty="0">
                <a:solidFill>
                  <a:srgbClr val="00F0FF"/>
                </a:solidFill>
                <a:latin typeface="Consolas" pitchFamily="34" charset="0"/>
                <a:ea typeface="Consolas" pitchFamily="34" charset="-122"/>
                <a:cs typeface="Consolas" pitchFamily="34" charset="-120"/>
              </a:rPr>
              <a:t>05 / 14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E27"/>
        </a:solidFill>
      </p:bgPr>
    </p:bg>
    <p:spTree>
      <p:nvGrpSpPr>
        <p:cNvPr id="1" name=""/>
        <p:cNvGrpSpPr/>
        <p:nvPr/>
      </p:nvGrpSpPr>
      <p:grpSpPr>
        <a:xfrm>
          <a:off x="0" y="0"/>
          <a:ext cx="0" cy="0"/>
          <a:chOff x="0" y="0"/>
          <a:chExt cx="0" cy="0"/>
        </a:xfrm>
      </p:grpSpPr>
      <p:sp>
        <p:nvSpPr>
          <p:cNvPr id="2" name="Shape 0"/>
          <p:cNvSpPr/>
          <p:nvPr/>
        </p:nvSpPr>
        <p:spPr>
          <a:xfrm>
            <a:off x="12027103" y="0"/>
            <a:ext cx="164592" cy="6858000"/>
          </a:xfrm>
          <a:prstGeom prst="rect">
            <a:avLst/>
          </a:prstGeom>
          <a:solidFill>
            <a:srgbClr val="FF2A6D"/>
          </a:solidFill>
          <a:ln/>
        </p:spPr>
      </p:sp>
      <p:sp>
        <p:nvSpPr>
          <p:cNvPr id="3" name="Shape 1"/>
          <p:cNvSpPr/>
          <p:nvPr/>
        </p:nvSpPr>
        <p:spPr>
          <a:xfrm>
            <a:off x="0" y="0"/>
            <a:ext cx="164592" cy="914400"/>
          </a:xfrm>
          <a:prstGeom prst="rect">
            <a:avLst/>
          </a:prstGeom>
          <a:solidFill>
            <a:srgbClr val="00F0FF"/>
          </a:solidFill>
          <a:ln/>
        </p:spPr>
      </p:sp>
      <p:sp>
        <p:nvSpPr>
          <p:cNvPr id="4" name="Text 2"/>
          <p:cNvSpPr/>
          <p:nvPr/>
        </p:nvSpPr>
        <p:spPr>
          <a:xfrm>
            <a:off x="548640" y="457200"/>
            <a:ext cx="1828800" cy="365760"/>
          </a:xfrm>
          <a:prstGeom prst="rect">
            <a:avLst/>
          </a:prstGeom>
          <a:noFill/>
          <a:ln/>
        </p:spPr>
        <p:txBody>
          <a:bodyPr wrap="square" lIns="0" tIns="0" rIns="0" bIns="0" rtlCol="0" anchor="ctr"/>
          <a:lstStyle/>
          <a:p>
            <a:pPr indent="0" marL="0">
              <a:buNone/>
            </a:pPr>
            <a:r>
              <a:rPr lang="en-US" sz="1400" b="1" dirty="0">
                <a:solidFill>
                  <a:srgbClr val="FF2A6D"/>
                </a:solidFill>
                <a:latin typeface="Consolas" pitchFamily="34" charset="0"/>
                <a:ea typeface="Consolas" pitchFamily="34" charset="-122"/>
                <a:cs typeface="Consolas" pitchFamily="34" charset="-120"/>
              </a:rPr>
              <a:t>// 05</a:t>
            </a:r>
            <a:endParaRPr lang="en-US" sz="1400" dirty="0"/>
          </a:p>
        </p:txBody>
      </p:sp>
      <p:sp>
        <p:nvSpPr>
          <p:cNvPr id="5" name="Text 3"/>
          <p:cNvSpPr/>
          <p:nvPr/>
        </p:nvSpPr>
        <p:spPr>
          <a:xfrm>
            <a:off x="548640" y="777240"/>
            <a:ext cx="9144000" cy="731520"/>
          </a:xfrm>
          <a:prstGeom prst="rect">
            <a:avLst/>
          </a:prstGeom>
          <a:noFill/>
          <a:ln/>
        </p:spPr>
        <p:txBody>
          <a:bodyPr wrap="square" lIns="0" tIns="0" rIns="0" bIns="0" rtlCol="0" anchor="ctr"/>
          <a:lstStyle/>
          <a:p>
            <a:pPr indent="0" marL="0">
              <a:buNone/>
            </a:pPr>
            <a:r>
              <a:rPr lang="en-US" sz="4000" b="1" spc="200" kern="0" dirty="0">
                <a:solidFill>
                  <a:srgbClr val="FFFFFF"/>
                </a:solidFill>
                <a:latin typeface="Impact" pitchFamily="34" charset="0"/>
                <a:ea typeface="Impact" pitchFamily="34" charset="-122"/>
                <a:cs typeface="Impact" pitchFamily="34" charset="-120"/>
              </a:rPr>
              <a:t>METHODOLOGY</a:t>
            </a:r>
            <a:endParaRPr lang="en-US" sz="4000" dirty="0"/>
          </a:p>
        </p:txBody>
      </p:sp>
      <p:sp>
        <p:nvSpPr>
          <p:cNvPr id="6" name="Shape 4"/>
          <p:cNvSpPr/>
          <p:nvPr/>
        </p:nvSpPr>
        <p:spPr>
          <a:xfrm>
            <a:off x="548640" y="1554480"/>
            <a:ext cx="640080" cy="36576"/>
          </a:xfrm>
          <a:prstGeom prst="rect">
            <a:avLst/>
          </a:prstGeom>
          <a:solidFill>
            <a:srgbClr val="00F0FF"/>
          </a:solidFill>
          <a:ln/>
        </p:spPr>
      </p:sp>
      <p:sp>
        <p:nvSpPr>
          <p:cNvPr id="7" name="Text 5"/>
          <p:cNvSpPr/>
          <p:nvPr/>
        </p:nvSpPr>
        <p:spPr>
          <a:xfrm>
            <a:off x="548640" y="1691640"/>
            <a:ext cx="10972800" cy="365760"/>
          </a:xfrm>
          <a:prstGeom prst="rect">
            <a:avLst/>
          </a:prstGeom>
          <a:noFill/>
          <a:ln/>
        </p:spPr>
        <p:txBody>
          <a:bodyPr wrap="square" lIns="0" tIns="0" rIns="0" bIns="0" rtlCol="0" anchor="ctr"/>
          <a:lstStyle/>
          <a:p>
            <a:pPr indent="0" marL="0">
              <a:buNone/>
            </a:pPr>
            <a:r>
              <a:rPr lang="en-US" sz="1400" i="1" dirty="0">
                <a:solidFill>
                  <a:srgbClr val="A8B2D1"/>
                </a:solidFill>
                <a:latin typeface="Georgia" pitchFamily="34" charset="0"/>
                <a:ea typeface="Georgia" pitchFamily="34" charset="-122"/>
                <a:cs typeface="Georgia" pitchFamily="34" charset="-120"/>
              </a:rPr>
              <a:t>A six-phase iterative workflow — each phase fully verified before progressing to the next.</a:t>
            </a:r>
            <a:endParaRPr lang="en-US" sz="1400" dirty="0"/>
          </a:p>
        </p:txBody>
      </p:sp>
      <p:sp>
        <p:nvSpPr>
          <p:cNvPr id="8" name="Shape 6"/>
          <p:cNvSpPr/>
          <p:nvPr/>
        </p:nvSpPr>
        <p:spPr>
          <a:xfrm>
            <a:off x="548640" y="2194560"/>
            <a:ext cx="3657600" cy="1874520"/>
          </a:xfrm>
          <a:prstGeom prst="rect">
            <a:avLst/>
          </a:prstGeom>
          <a:solidFill>
            <a:srgbClr val="141938"/>
          </a:solidFill>
          <a:ln/>
        </p:spPr>
      </p:sp>
      <p:sp>
        <p:nvSpPr>
          <p:cNvPr id="9" name="Text 7"/>
          <p:cNvSpPr/>
          <p:nvPr/>
        </p:nvSpPr>
        <p:spPr>
          <a:xfrm>
            <a:off x="777240" y="2331720"/>
            <a:ext cx="1280160" cy="777240"/>
          </a:xfrm>
          <a:prstGeom prst="rect">
            <a:avLst/>
          </a:prstGeom>
          <a:noFill/>
          <a:ln/>
        </p:spPr>
        <p:txBody>
          <a:bodyPr wrap="square" lIns="0" tIns="0" rIns="0" bIns="0" rtlCol="0" anchor="ctr"/>
          <a:lstStyle/>
          <a:p>
            <a:pPr indent="0" marL="0">
              <a:buNone/>
            </a:pPr>
            <a:r>
              <a:rPr lang="en-US" sz="4800" b="1" dirty="0">
                <a:solidFill>
                  <a:srgbClr val="00F0FF"/>
                </a:solidFill>
                <a:latin typeface="Impact" pitchFamily="34" charset="0"/>
                <a:ea typeface="Impact" pitchFamily="34" charset="-122"/>
                <a:cs typeface="Impact" pitchFamily="34" charset="-120"/>
              </a:rPr>
              <a:t>01</a:t>
            </a:r>
            <a:endParaRPr lang="en-US" sz="4800" dirty="0"/>
          </a:p>
        </p:txBody>
      </p:sp>
      <p:sp>
        <p:nvSpPr>
          <p:cNvPr id="10" name="Shape 8"/>
          <p:cNvSpPr/>
          <p:nvPr/>
        </p:nvSpPr>
        <p:spPr>
          <a:xfrm>
            <a:off x="777240" y="3108960"/>
            <a:ext cx="457200" cy="27432"/>
          </a:xfrm>
          <a:prstGeom prst="rect">
            <a:avLst/>
          </a:prstGeom>
          <a:solidFill>
            <a:srgbClr val="00F0FF"/>
          </a:solidFill>
          <a:ln/>
        </p:spPr>
      </p:sp>
      <p:sp>
        <p:nvSpPr>
          <p:cNvPr id="11" name="Text 9"/>
          <p:cNvSpPr/>
          <p:nvPr/>
        </p:nvSpPr>
        <p:spPr>
          <a:xfrm>
            <a:off x="777240" y="3200400"/>
            <a:ext cx="32004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Requirement Analysis</a:t>
            </a:r>
            <a:endParaRPr lang="en-US" sz="1400" dirty="0"/>
          </a:p>
        </p:txBody>
      </p:sp>
      <p:sp>
        <p:nvSpPr>
          <p:cNvPr id="12" name="Text 10"/>
          <p:cNvSpPr/>
          <p:nvPr/>
        </p:nvSpPr>
        <p:spPr>
          <a:xfrm>
            <a:off x="777240" y="3520440"/>
            <a:ext cx="3200400" cy="502920"/>
          </a:xfrm>
          <a:prstGeom prst="rect">
            <a:avLst/>
          </a:prstGeom>
          <a:noFill/>
          <a:ln/>
        </p:spPr>
        <p:txBody>
          <a:bodyPr wrap="square" lIns="0" tIns="0" rIns="0" bIns="0" rtlCol="0" anchor="ctr"/>
          <a:lstStyle/>
          <a:p>
            <a:pPr indent="0" marL="0">
              <a:buNone/>
            </a:pPr>
            <a:r>
              <a:rPr lang="en-US" sz="1100" dirty="0">
                <a:solidFill>
                  <a:srgbClr val="A8B2D1"/>
                </a:solidFill>
                <a:latin typeface="Calibri" pitchFamily="34" charset="0"/>
                <a:ea typeface="Calibri" pitchFamily="34" charset="-122"/>
                <a:cs typeface="Calibri" pitchFamily="34" charset="-120"/>
              </a:rPr>
              <a:t>Reviewed established shooter titles; identified required movement styles, enemy AI behaviour, scoring, health logic, and interface elements.</a:t>
            </a:r>
            <a:endParaRPr lang="en-US" sz="1100" dirty="0"/>
          </a:p>
        </p:txBody>
      </p:sp>
      <p:sp>
        <p:nvSpPr>
          <p:cNvPr id="13" name="Shape 11"/>
          <p:cNvSpPr/>
          <p:nvPr/>
        </p:nvSpPr>
        <p:spPr>
          <a:xfrm>
            <a:off x="4343400" y="2194560"/>
            <a:ext cx="3657600" cy="1874520"/>
          </a:xfrm>
          <a:prstGeom prst="rect">
            <a:avLst/>
          </a:prstGeom>
          <a:solidFill>
            <a:srgbClr val="141938"/>
          </a:solidFill>
          <a:ln/>
        </p:spPr>
      </p:sp>
      <p:sp>
        <p:nvSpPr>
          <p:cNvPr id="14" name="Text 12"/>
          <p:cNvSpPr/>
          <p:nvPr/>
        </p:nvSpPr>
        <p:spPr>
          <a:xfrm>
            <a:off x="4572000" y="2331720"/>
            <a:ext cx="1280160" cy="777240"/>
          </a:xfrm>
          <a:prstGeom prst="rect">
            <a:avLst/>
          </a:prstGeom>
          <a:noFill/>
          <a:ln/>
        </p:spPr>
        <p:txBody>
          <a:bodyPr wrap="square" lIns="0" tIns="0" rIns="0" bIns="0" rtlCol="0" anchor="ctr"/>
          <a:lstStyle/>
          <a:p>
            <a:pPr indent="0" marL="0">
              <a:buNone/>
            </a:pPr>
            <a:r>
              <a:rPr lang="en-US" sz="4800" b="1" dirty="0">
                <a:solidFill>
                  <a:srgbClr val="FF2A6D"/>
                </a:solidFill>
                <a:latin typeface="Impact" pitchFamily="34" charset="0"/>
                <a:ea typeface="Impact" pitchFamily="34" charset="-122"/>
                <a:cs typeface="Impact" pitchFamily="34" charset="-120"/>
              </a:rPr>
              <a:t>02</a:t>
            </a:r>
            <a:endParaRPr lang="en-US" sz="4800" dirty="0"/>
          </a:p>
        </p:txBody>
      </p:sp>
      <p:sp>
        <p:nvSpPr>
          <p:cNvPr id="15" name="Shape 13"/>
          <p:cNvSpPr/>
          <p:nvPr/>
        </p:nvSpPr>
        <p:spPr>
          <a:xfrm>
            <a:off x="4572000" y="3108960"/>
            <a:ext cx="457200" cy="27432"/>
          </a:xfrm>
          <a:prstGeom prst="rect">
            <a:avLst/>
          </a:prstGeom>
          <a:solidFill>
            <a:srgbClr val="FF2A6D"/>
          </a:solidFill>
          <a:ln/>
        </p:spPr>
      </p:sp>
      <p:sp>
        <p:nvSpPr>
          <p:cNvPr id="16" name="Text 14"/>
          <p:cNvSpPr/>
          <p:nvPr/>
        </p:nvSpPr>
        <p:spPr>
          <a:xfrm>
            <a:off x="4572000" y="3200400"/>
            <a:ext cx="32004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System Design</a:t>
            </a:r>
            <a:endParaRPr lang="en-US" sz="1400" dirty="0"/>
          </a:p>
        </p:txBody>
      </p:sp>
      <p:sp>
        <p:nvSpPr>
          <p:cNvPr id="17" name="Text 15"/>
          <p:cNvSpPr/>
          <p:nvPr/>
        </p:nvSpPr>
        <p:spPr>
          <a:xfrm>
            <a:off x="4572000" y="3520440"/>
            <a:ext cx="3200400" cy="502920"/>
          </a:xfrm>
          <a:prstGeom prst="rect">
            <a:avLst/>
          </a:prstGeom>
          <a:noFill/>
          <a:ln/>
        </p:spPr>
        <p:txBody>
          <a:bodyPr wrap="square" lIns="0" tIns="0" rIns="0" bIns="0" rtlCol="0" anchor="ctr"/>
          <a:lstStyle/>
          <a:p>
            <a:pPr indent="0" marL="0">
              <a:buNone/>
            </a:pPr>
            <a:r>
              <a:rPr lang="en-US" sz="1100" dirty="0">
                <a:solidFill>
                  <a:srgbClr val="A8B2D1"/>
                </a:solidFill>
                <a:latin typeface="Calibri" pitchFamily="34" charset="0"/>
                <a:ea typeface="Calibri" pitchFamily="34" charset="-122"/>
                <a:cs typeface="Calibri" pitchFamily="34" charset="-120"/>
              </a:rPr>
              <a:t>Adopted a component-driven design where every game mechanic is encapsulated within its own dedicated MonoBehaviour script.</a:t>
            </a:r>
            <a:endParaRPr lang="en-US" sz="1100" dirty="0"/>
          </a:p>
        </p:txBody>
      </p:sp>
      <p:sp>
        <p:nvSpPr>
          <p:cNvPr id="18" name="Shape 16"/>
          <p:cNvSpPr/>
          <p:nvPr/>
        </p:nvSpPr>
        <p:spPr>
          <a:xfrm>
            <a:off x="8138160" y="2194560"/>
            <a:ext cx="3657600" cy="1874520"/>
          </a:xfrm>
          <a:prstGeom prst="rect">
            <a:avLst/>
          </a:prstGeom>
          <a:solidFill>
            <a:srgbClr val="141938"/>
          </a:solidFill>
          <a:ln/>
        </p:spPr>
      </p:sp>
      <p:sp>
        <p:nvSpPr>
          <p:cNvPr id="19" name="Text 17"/>
          <p:cNvSpPr/>
          <p:nvPr/>
        </p:nvSpPr>
        <p:spPr>
          <a:xfrm>
            <a:off x="8366760" y="2331720"/>
            <a:ext cx="1280160" cy="777240"/>
          </a:xfrm>
          <a:prstGeom prst="rect">
            <a:avLst/>
          </a:prstGeom>
          <a:noFill/>
          <a:ln/>
        </p:spPr>
        <p:txBody>
          <a:bodyPr wrap="square" lIns="0" tIns="0" rIns="0" bIns="0" rtlCol="0" anchor="ctr"/>
          <a:lstStyle/>
          <a:p>
            <a:pPr indent="0" marL="0">
              <a:buNone/>
            </a:pPr>
            <a:r>
              <a:rPr lang="en-US" sz="4800" b="1" dirty="0">
                <a:solidFill>
                  <a:srgbClr val="FFD60A"/>
                </a:solidFill>
                <a:latin typeface="Impact" pitchFamily="34" charset="0"/>
                <a:ea typeface="Impact" pitchFamily="34" charset="-122"/>
                <a:cs typeface="Impact" pitchFamily="34" charset="-120"/>
              </a:rPr>
              <a:t>03</a:t>
            </a:r>
            <a:endParaRPr lang="en-US" sz="4800" dirty="0"/>
          </a:p>
        </p:txBody>
      </p:sp>
      <p:sp>
        <p:nvSpPr>
          <p:cNvPr id="20" name="Shape 18"/>
          <p:cNvSpPr/>
          <p:nvPr/>
        </p:nvSpPr>
        <p:spPr>
          <a:xfrm>
            <a:off x="8366760" y="3108960"/>
            <a:ext cx="457200" cy="27432"/>
          </a:xfrm>
          <a:prstGeom prst="rect">
            <a:avLst/>
          </a:prstGeom>
          <a:solidFill>
            <a:srgbClr val="FFD60A"/>
          </a:solidFill>
          <a:ln/>
        </p:spPr>
      </p:sp>
      <p:sp>
        <p:nvSpPr>
          <p:cNvPr id="21" name="Text 19"/>
          <p:cNvSpPr/>
          <p:nvPr/>
        </p:nvSpPr>
        <p:spPr>
          <a:xfrm>
            <a:off x="8366760" y="3200400"/>
            <a:ext cx="32004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Development</a:t>
            </a:r>
            <a:endParaRPr lang="en-US" sz="1400" dirty="0"/>
          </a:p>
        </p:txBody>
      </p:sp>
      <p:sp>
        <p:nvSpPr>
          <p:cNvPr id="22" name="Text 20"/>
          <p:cNvSpPr/>
          <p:nvPr/>
        </p:nvSpPr>
        <p:spPr>
          <a:xfrm>
            <a:off x="8366760" y="3520440"/>
            <a:ext cx="3200400" cy="502920"/>
          </a:xfrm>
          <a:prstGeom prst="rect">
            <a:avLst/>
          </a:prstGeom>
          <a:noFill/>
          <a:ln/>
        </p:spPr>
        <p:txBody>
          <a:bodyPr wrap="square" lIns="0" tIns="0" rIns="0" bIns="0" rtlCol="0" anchor="ctr"/>
          <a:lstStyle/>
          <a:p>
            <a:pPr indent="0" marL="0">
              <a:buNone/>
            </a:pPr>
            <a:r>
              <a:rPr lang="en-US" sz="1100" dirty="0">
                <a:solidFill>
                  <a:srgbClr val="A8B2D1"/>
                </a:solidFill>
                <a:latin typeface="Calibri" pitchFamily="34" charset="0"/>
                <a:ea typeface="Calibri" pitchFamily="34" charset="-122"/>
                <a:cs typeface="Calibri" pitchFamily="34" charset="-120"/>
              </a:rPr>
              <a:t>Implemented using Unity 2021.3 LTS and C#, incorporating the updated Input System to allow fully remappable player controls.</a:t>
            </a:r>
            <a:endParaRPr lang="en-US" sz="1100" dirty="0"/>
          </a:p>
        </p:txBody>
      </p:sp>
      <p:sp>
        <p:nvSpPr>
          <p:cNvPr id="23" name="Shape 21"/>
          <p:cNvSpPr/>
          <p:nvPr/>
        </p:nvSpPr>
        <p:spPr>
          <a:xfrm>
            <a:off x="548640" y="4233672"/>
            <a:ext cx="3657600" cy="1874520"/>
          </a:xfrm>
          <a:prstGeom prst="rect">
            <a:avLst/>
          </a:prstGeom>
          <a:solidFill>
            <a:srgbClr val="141938"/>
          </a:solidFill>
          <a:ln/>
        </p:spPr>
      </p:sp>
      <p:sp>
        <p:nvSpPr>
          <p:cNvPr id="24" name="Text 22"/>
          <p:cNvSpPr/>
          <p:nvPr/>
        </p:nvSpPr>
        <p:spPr>
          <a:xfrm>
            <a:off x="777240" y="4370832"/>
            <a:ext cx="1280160" cy="777240"/>
          </a:xfrm>
          <a:prstGeom prst="rect">
            <a:avLst/>
          </a:prstGeom>
          <a:noFill/>
          <a:ln/>
        </p:spPr>
        <p:txBody>
          <a:bodyPr wrap="square" lIns="0" tIns="0" rIns="0" bIns="0" rtlCol="0" anchor="ctr"/>
          <a:lstStyle/>
          <a:p>
            <a:pPr indent="0" marL="0">
              <a:buNone/>
            </a:pPr>
            <a:r>
              <a:rPr lang="en-US" sz="4800" b="1" dirty="0">
                <a:solidFill>
                  <a:srgbClr val="9D4EDD"/>
                </a:solidFill>
                <a:latin typeface="Impact" pitchFamily="34" charset="0"/>
                <a:ea typeface="Impact" pitchFamily="34" charset="-122"/>
                <a:cs typeface="Impact" pitchFamily="34" charset="-120"/>
              </a:rPr>
              <a:t>04</a:t>
            </a:r>
            <a:endParaRPr lang="en-US" sz="4800" dirty="0"/>
          </a:p>
        </p:txBody>
      </p:sp>
      <p:sp>
        <p:nvSpPr>
          <p:cNvPr id="25" name="Shape 23"/>
          <p:cNvSpPr/>
          <p:nvPr/>
        </p:nvSpPr>
        <p:spPr>
          <a:xfrm>
            <a:off x="777240" y="5148072"/>
            <a:ext cx="457200" cy="27432"/>
          </a:xfrm>
          <a:prstGeom prst="rect">
            <a:avLst/>
          </a:prstGeom>
          <a:solidFill>
            <a:srgbClr val="9D4EDD"/>
          </a:solidFill>
          <a:ln/>
        </p:spPr>
      </p:sp>
      <p:sp>
        <p:nvSpPr>
          <p:cNvPr id="26" name="Text 24"/>
          <p:cNvSpPr/>
          <p:nvPr/>
        </p:nvSpPr>
        <p:spPr>
          <a:xfrm>
            <a:off x="777240" y="5239512"/>
            <a:ext cx="32004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Integration</a:t>
            </a:r>
            <a:endParaRPr lang="en-US" sz="1400" dirty="0"/>
          </a:p>
        </p:txBody>
      </p:sp>
      <p:sp>
        <p:nvSpPr>
          <p:cNvPr id="27" name="Text 25"/>
          <p:cNvSpPr/>
          <p:nvPr/>
        </p:nvSpPr>
        <p:spPr>
          <a:xfrm>
            <a:off x="777240" y="5559552"/>
            <a:ext cx="3200400" cy="502920"/>
          </a:xfrm>
          <a:prstGeom prst="rect">
            <a:avLst/>
          </a:prstGeom>
          <a:noFill/>
          <a:ln/>
        </p:spPr>
        <p:txBody>
          <a:bodyPr wrap="square" lIns="0" tIns="0" rIns="0" bIns="0" rtlCol="0" anchor="ctr"/>
          <a:lstStyle/>
          <a:p>
            <a:pPr indent="0" marL="0">
              <a:buNone/>
            </a:pPr>
            <a:r>
              <a:rPr lang="en-US" sz="1100" dirty="0">
                <a:solidFill>
                  <a:srgbClr val="A8B2D1"/>
                </a:solidFill>
                <a:latin typeface="Calibri" pitchFamily="34" charset="0"/>
                <a:ea typeface="Calibri" pitchFamily="34" charset="-122"/>
                <a:cs typeface="Calibri" pitchFamily="34" charset="-120"/>
              </a:rPr>
              <a:t>The GameManager singleton unifies all scripts; UIManager oversees transitions between different interface pages.</a:t>
            </a:r>
            <a:endParaRPr lang="en-US" sz="1100" dirty="0"/>
          </a:p>
        </p:txBody>
      </p:sp>
      <p:sp>
        <p:nvSpPr>
          <p:cNvPr id="28" name="Shape 26"/>
          <p:cNvSpPr/>
          <p:nvPr/>
        </p:nvSpPr>
        <p:spPr>
          <a:xfrm>
            <a:off x="4343400" y="4233672"/>
            <a:ext cx="3657600" cy="1874520"/>
          </a:xfrm>
          <a:prstGeom prst="rect">
            <a:avLst/>
          </a:prstGeom>
          <a:solidFill>
            <a:srgbClr val="141938"/>
          </a:solidFill>
          <a:ln/>
        </p:spPr>
      </p:sp>
      <p:sp>
        <p:nvSpPr>
          <p:cNvPr id="29" name="Text 27"/>
          <p:cNvSpPr/>
          <p:nvPr/>
        </p:nvSpPr>
        <p:spPr>
          <a:xfrm>
            <a:off x="4572000" y="4370832"/>
            <a:ext cx="1280160" cy="777240"/>
          </a:xfrm>
          <a:prstGeom prst="rect">
            <a:avLst/>
          </a:prstGeom>
          <a:noFill/>
          <a:ln/>
        </p:spPr>
        <p:txBody>
          <a:bodyPr wrap="square" lIns="0" tIns="0" rIns="0" bIns="0" rtlCol="0" anchor="ctr"/>
          <a:lstStyle/>
          <a:p>
            <a:pPr indent="0" marL="0">
              <a:buNone/>
            </a:pPr>
            <a:r>
              <a:rPr lang="en-US" sz="4800" b="1" dirty="0">
                <a:solidFill>
                  <a:srgbClr val="00F0FF"/>
                </a:solidFill>
                <a:latin typeface="Impact" pitchFamily="34" charset="0"/>
                <a:ea typeface="Impact" pitchFamily="34" charset="-122"/>
                <a:cs typeface="Impact" pitchFamily="34" charset="-120"/>
              </a:rPr>
              <a:t>05</a:t>
            </a:r>
            <a:endParaRPr lang="en-US" sz="4800" dirty="0"/>
          </a:p>
        </p:txBody>
      </p:sp>
      <p:sp>
        <p:nvSpPr>
          <p:cNvPr id="30" name="Shape 28"/>
          <p:cNvSpPr/>
          <p:nvPr/>
        </p:nvSpPr>
        <p:spPr>
          <a:xfrm>
            <a:off x="4572000" y="5148072"/>
            <a:ext cx="457200" cy="27432"/>
          </a:xfrm>
          <a:prstGeom prst="rect">
            <a:avLst/>
          </a:prstGeom>
          <a:solidFill>
            <a:srgbClr val="00F0FF"/>
          </a:solidFill>
          <a:ln/>
        </p:spPr>
      </p:sp>
      <p:sp>
        <p:nvSpPr>
          <p:cNvPr id="31" name="Text 29"/>
          <p:cNvSpPr/>
          <p:nvPr/>
        </p:nvSpPr>
        <p:spPr>
          <a:xfrm>
            <a:off x="4572000" y="5239512"/>
            <a:ext cx="32004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Testing &amp; Validation</a:t>
            </a:r>
            <a:endParaRPr lang="en-US" sz="1400" dirty="0"/>
          </a:p>
        </p:txBody>
      </p:sp>
      <p:sp>
        <p:nvSpPr>
          <p:cNvPr id="32" name="Text 30"/>
          <p:cNvSpPr/>
          <p:nvPr/>
        </p:nvSpPr>
        <p:spPr>
          <a:xfrm>
            <a:off x="4572000" y="5559552"/>
            <a:ext cx="3200400" cy="502920"/>
          </a:xfrm>
          <a:prstGeom prst="rect">
            <a:avLst/>
          </a:prstGeom>
          <a:noFill/>
          <a:ln/>
        </p:spPr>
        <p:txBody>
          <a:bodyPr wrap="square" lIns="0" tIns="0" rIns="0" bIns="0" rtlCol="0" anchor="ctr"/>
          <a:lstStyle/>
          <a:p>
            <a:pPr indent="0" marL="0">
              <a:buNone/>
            </a:pPr>
            <a:r>
              <a:rPr lang="en-US" sz="1100" dirty="0">
                <a:solidFill>
                  <a:srgbClr val="A8B2D1"/>
                </a:solidFill>
                <a:latin typeface="Calibri" pitchFamily="34" charset="0"/>
                <a:ea typeface="Calibri" pitchFamily="34" charset="-122"/>
                <a:cs typeface="Calibri" pitchFamily="34" charset="-120"/>
              </a:rPr>
              <a:t>All subsystems individually exercised within Unity Play Mode; console debug output used to confirm enemy tallies and event timing.</a:t>
            </a:r>
            <a:endParaRPr lang="en-US" sz="1100" dirty="0"/>
          </a:p>
        </p:txBody>
      </p:sp>
      <p:sp>
        <p:nvSpPr>
          <p:cNvPr id="33" name="Shape 31"/>
          <p:cNvSpPr/>
          <p:nvPr/>
        </p:nvSpPr>
        <p:spPr>
          <a:xfrm>
            <a:off x="8138160" y="4233672"/>
            <a:ext cx="3657600" cy="1874520"/>
          </a:xfrm>
          <a:prstGeom prst="rect">
            <a:avLst/>
          </a:prstGeom>
          <a:solidFill>
            <a:srgbClr val="141938"/>
          </a:solidFill>
          <a:ln/>
        </p:spPr>
      </p:sp>
      <p:sp>
        <p:nvSpPr>
          <p:cNvPr id="34" name="Text 32"/>
          <p:cNvSpPr/>
          <p:nvPr/>
        </p:nvSpPr>
        <p:spPr>
          <a:xfrm>
            <a:off x="8366760" y="4370832"/>
            <a:ext cx="1280160" cy="777240"/>
          </a:xfrm>
          <a:prstGeom prst="rect">
            <a:avLst/>
          </a:prstGeom>
          <a:noFill/>
          <a:ln/>
        </p:spPr>
        <p:txBody>
          <a:bodyPr wrap="square" lIns="0" tIns="0" rIns="0" bIns="0" rtlCol="0" anchor="ctr"/>
          <a:lstStyle/>
          <a:p>
            <a:pPr indent="0" marL="0">
              <a:buNone/>
            </a:pPr>
            <a:r>
              <a:rPr lang="en-US" sz="4800" b="1" dirty="0">
                <a:solidFill>
                  <a:srgbClr val="FF2A6D"/>
                </a:solidFill>
                <a:latin typeface="Impact" pitchFamily="34" charset="0"/>
                <a:ea typeface="Impact" pitchFamily="34" charset="-122"/>
                <a:cs typeface="Impact" pitchFamily="34" charset="-120"/>
              </a:rPr>
              <a:t>06</a:t>
            </a:r>
            <a:endParaRPr lang="en-US" sz="4800" dirty="0"/>
          </a:p>
        </p:txBody>
      </p:sp>
      <p:sp>
        <p:nvSpPr>
          <p:cNvPr id="35" name="Shape 33"/>
          <p:cNvSpPr/>
          <p:nvPr/>
        </p:nvSpPr>
        <p:spPr>
          <a:xfrm>
            <a:off x="8366760" y="5148072"/>
            <a:ext cx="457200" cy="27432"/>
          </a:xfrm>
          <a:prstGeom prst="rect">
            <a:avLst/>
          </a:prstGeom>
          <a:solidFill>
            <a:srgbClr val="FF2A6D"/>
          </a:solidFill>
          <a:ln/>
        </p:spPr>
      </p:sp>
      <p:sp>
        <p:nvSpPr>
          <p:cNvPr id="36" name="Text 34"/>
          <p:cNvSpPr/>
          <p:nvPr/>
        </p:nvSpPr>
        <p:spPr>
          <a:xfrm>
            <a:off x="8366760" y="5239512"/>
            <a:ext cx="32004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Deployment Readiness</a:t>
            </a:r>
            <a:endParaRPr lang="en-US" sz="1400" dirty="0"/>
          </a:p>
        </p:txBody>
      </p:sp>
      <p:sp>
        <p:nvSpPr>
          <p:cNvPr id="37" name="Text 35"/>
          <p:cNvSpPr/>
          <p:nvPr/>
        </p:nvSpPr>
        <p:spPr>
          <a:xfrm>
            <a:off x="8366760" y="5559552"/>
            <a:ext cx="3200400" cy="502920"/>
          </a:xfrm>
          <a:prstGeom prst="rect">
            <a:avLst/>
          </a:prstGeom>
          <a:noFill/>
          <a:ln/>
        </p:spPr>
        <p:txBody>
          <a:bodyPr wrap="square" lIns="0" tIns="0" rIns="0" bIns="0" rtlCol="0" anchor="ctr"/>
          <a:lstStyle/>
          <a:p>
            <a:pPr indent="0" marL="0">
              <a:buNone/>
            </a:pPr>
            <a:r>
              <a:rPr lang="en-US" sz="1100" dirty="0">
                <a:solidFill>
                  <a:srgbClr val="A8B2D1"/>
                </a:solidFill>
                <a:latin typeface="Calibri" pitchFamily="34" charset="0"/>
                <a:ea typeface="Calibri" pitchFamily="34" charset="-122"/>
                <a:cs typeface="Calibri" pitchFamily="34" charset="-120"/>
              </a:rPr>
              <a:t>Compiled as a native Windows executable and additionally prepared for WebGL distribution. PlayerPrefs used to retain scores between sessions.</a:t>
            </a:r>
            <a:endParaRPr lang="en-US" sz="1100" dirty="0"/>
          </a:p>
        </p:txBody>
      </p:sp>
      <p:sp>
        <p:nvSpPr>
          <p:cNvPr id="38" name="Text 36"/>
          <p:cNvSpPr/>
          <p:nvPr/>
        </p:nvSpPr>
        <p:spPr>
          <a:xfrm>
            <a:off x="457200" y="6446520"/>
            <a:ext cx="5486400" cy="274320"/>
          </a:xfrm>
          <a:prstGeom prst="rect">
            <a:avLst/>
          </a:prstGeom>
          <a:noFill/>
          <a:ln/>
        </p:spPr>
        <p:txBody>
          <a:bodyPr wrap="square" lIns="0" tIns="0" rIns="0" bIns="0" rtlCol="0" anchor="ctr"/>
          <a:lstStyle/>
          <a:p>
            <a:pPr indent="0" marL="0">
              <a:buNone/>
            </a:pPr>
            <a:r>
              <a:rPr lang="en-US" sz="1000" spc="300" kern="0" dirty="0">
                <a:solidFill>
                  <a:srgbClr val="6B7494"/>
                </a:solidFill>
                <a:latin typeface="Consolas" pitchFamily="34" charset="0"/>
                <a:ea typeface="Consolas" pitchFamily="34" charset="-122"/>
                <a:cs typeface="Consolas" pitchFamily="34" charset="-120"/>
              </a:rPr>
              <a:t>METHODOLOGY</a:t>
            </a:r>
            <a:endParaRPr lang="en-US" sz="1000" dirty="0"/>
          </a:p>
        </p:txBody>
      </p:sp>
      <p:sp>
        <p:nvSpPr>
          <p:cNvPr id="39" name="Text 37"/>
          <p:cNvSpPr/>
          <p:nvPr/>
        </p:nvSpPr>
        <p:spPr>
          <a:xfrm>
            <a:off x="10362895" y="6446520"/>
            <a:ext cx="1371600" cy="274320"/>
          </a:xfrm>
          <a:prstGeom prst="rect">
            <a:avLst/>
          </a:prstGeom>
          <a:noFill/>
          <a:ln/>
        </p:spPr>
        <p:txBody>
          <a:bodyPr wrap="square" lIns="0" tIns="0" rIns="0" bIns="0" rtlCol="0" anchor="ctr"/>
          <a:lstStyle/>
          <a:p>
            <a:pPr algn="r" indent="0" marL="0">
              <a:buNone/>
            </a:pPr>
            <a:r>
              <a:rPr lang="en-US" sz="1000" spc="200" kern="0" dirty="0">
                <a:solidFill>
                  <a:srgbClr val="00F0FF"/>
                </a:solidFill>
                <a:latin typeface="Consolas" pitchFamily="34" charset="0"/>
                <a:ea typeface="Consolas" pitchFamily="34" charset="-122"/>
                <a:cs typeface="Consolas" pitchFamily="34" charset="-120"/>
              </a:rPr>
              <a:t>06 / 14</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E27"/>
        </a:solidFill>
      </p:bgPr>
    </p:bg>
    <p:spTree>
      <p:nvGrpSpPr>
        <p:cNvPr id="1" name=""/>
        <p:cNvGrpSpPr/>
        <p:nvPr/>
      </p:nvGrpSpPr>
      <p:grpSpPr>
        <a:xfrm>
          <a:off x="0" y="0"/>
          <a:ext cx="0" cy="0"/>
          <a:chOff x="0" y="0"/>
          <a:chExt cx="0" cy="0"/>
        </a:xfrm>
      </p:grpSpPr>
      <p:sp>
        <p:nvSpPr>
          <p:cNvPr id="2" name="Shape 0"/>
          <p:cNvSpPr/>
          <p:nvPr/>
        </p:nvSpPr>
        <p:spPr>
          <a:xfrm>
            <a:off x="12027103" y="0"/>
            <a:ext cx="164592" cy="6858000"/>
          </a:xfrm>
          <a:prstGeom prst="rect">
            <a:avLst/>
          </a:prstGeom>
          <a:solidFill>
            <a:srgbClr val="FF2A6D"/>
          </a:solidFill>
          <a:ln/>
        </p:spPr>
      </p:sp>
      <p:sp>
        <p:nvSpPr>
          <p:cNvPr id="3" name="Shape 1"/>
          <p:cNvSpPr/>
          <p:nvPr/>
        </p:nvSpPr>
        <p:spPr>
          <a:xfrm>
            <a:off x="0" y="0"/>
            <a:ext cx="164592" cy="914400"/>
          </a:xfrm>
          <a:prstGeom prst="rect">
            <a:avLst/>
          </a:prstGeom>
          <a:solidFill>
            <a:srgbClr val="00F0FF"/>
          </a:solidFill>
          <a:ln/>
        </p:spPr>
      </p:sp>
      <p:sp>
        <p:nvSpPr>
          <p:cNvPr id="4" name="Text 2"/>
          <p:cNvSpPr/>
          <p:nvPr/>
        </p:nvSpPr>
        <p:spPr>
          <a:xfrm>
            <a:off x="548640" y="457200"/>
            <a:ext cx="1828800" cy="365760"/>
          </a:xfrm>
          <a:prstGeom prst="rect">
            <a:avLst/>
          </a:prstGeom>
          <a:noFill/>
          <a:ln/>
        </p:spPr>
        <p:txBody>
          <a:bodyPr wrap="square" lIns="0" tIns="0" rIns="0" bIns="0" rtlCol="0" anchor="ctr"/>
          <a:lstStyle/>
          <a:p>
            <a:pPr indent="0" marL="0">
              <a:buNone/>
            </a:pPr>
            <a:r>
              <a:rPr lang="en-US" sz="1400" b="1" dirty="0">
                <a:solidFill>
                  <a:srgbClr val="FF2A6D"/>
                </a:solidFill>
                <a:latin typeface="Consolas" pitchFamily="34" charset="0"/>
                <a:ea typeface="Consolas" pitchFamily="34" charset="-122"/>
                <a:cs typeface="Consolas" pitchFamily="34" charset="-120"/>
              </a:rPr>
              <a:t>// 06</a:t>
            </a:r>
            <a:endParaRPr lang="en-US" sz="1400" dirty="0"/>
          </a:p>
        </p:txBody>
      </p:sp>
      <p:sp>
        <p:nvSpPr>
          <p:cNvPr id="5" name="Text 3"/>
          <p:cNvSpPr/>
          <p:nvPr/>
        </p:nvSpPr>
        <p:spPr>
          <a:xfrm>
            <a:off x="548640" y="777240"/>
            <a:ext cx="10972800" cy="731520"/>
          </a:xfrm>
          <a:prstGeom prst="rect">
            <a:avLst/>
          </a:prstGeom>
          <a:noFill/>
          <a:ln/>
        </p:spPr>
        <p:txBody>
          <a:bodyPr wrap="square" lIns="0" tIns="0" rIns="0" bIns="0" rtlCol="0" anchor="ctr"/>
          <a:lstStyle/>
          <a:p>
            <a:pPr indent="0" marL="0">
              <a:buNone/>
            </a:pPr>
            <a:r>
              <a:rPr lang="en-US" sz="4000" b="1" spc="200" kern="0" dirty="0">
                <a:solidFill>
                  <a:srgbClr val="FFFFFF"/>
                </a:solidFill>
                <a:latin typeface="Impact" pitchFamily="34" charset="0"/>
                <a:ea typeface="Impact" pitchFamily="34" charset="-122"/>
                <a:cs typeface="Impact" pitchFamily="34" charset="-120"/>
              </a:rPr>
              <a:t>SOFTWARE ARCHITECTURE</a:t>
            </a:r>
            <a:endParaRPr lang="en-US" sz="4000" dirty="0"/>
          </a:p>
        </p:txBody>
      </p:sp>
      <p:sp>
        <p:nvSpPr>
          <p:cNvPr id="6" name="Shape 4"/>
          <p:cNvSpPr/>
          <p:nvPr/>
        </p:nvSpPr>
        <p:spPr>
          <a:xfrm>
            <a:off x="548640" y="1554480"/>
            <a:ext cx="640080" cy="36576"/>
          </a:xfrm>
          <a:prstGeom prst="rect">
            <a:avLst/>
          </a:prstGeom>
          <a:solidFill>
            <a:srgbClr val="00F0FF"/>
          </a:solidFill>
          <a:ln/>
        </p:spPr>
      </p:sp>
      <p:sp>
        <p:nvSpPr>
          <p:cNvPr id="7" name="Text 5"/>
          <p:cNvSpPr/>
          <p:nvPr/>
        </p:nvSpPr>
        <p:spPr>
          <a:xfrm>
            <a:off x="548640" y="1691640"/>
            <a:ext cx="10972800" cy="365760"/>
          </a:xfrm>
          <a:prstGeom prst="rect">
            <a:avLst/>
          </a:prstGeom>
          <a:noFill/>
          <a:ln/>
        </p:spPr>
        <p:txBody>
          <a:bodyPr wrap="square" lIns="0" tIns="0" rIns="0" bIns="0" rtlCol="0" anchor="ctr"/>
          <a:lstStyle/>
          <a:p>
            <a:pPr indent="0" marL="0">
              <a:buNone/>
            </a:pPr>
            <a:r>
              <a:rPr lang="en-US" sz="1400" i="1" dirty="0">
                <a:solidFill>
                  <a:srgbClr val="A8B2D1"/>
                </a:solidFill>
                <a:latin typeface="Georgia" pitchFamily="34" charset="0"/>
                <a:ea typeface="Georgia" pitchFamily="34" charset="-122"/>
                <a:cs typeface="Georgia" pitchFamily="34" charset="-120"/>
              </a:rPr>
              <a:t>Grounded in Unity's component-driven ECS model. Seven independent core modules, each with minimal inter-dependencies.</a:t>
            </a:r>
            <a:endParaRPr lang="en-US" sz="1400" dirty="0"/>
          </a:p>
        </p:txBody>
      </p:sp>
      <p:sp>
        <p:nvSpPr>
          <p:cNvPr id="8" name="Shape 6"/>
          <p:cNvSpPr/>
          <p:nvPr/>
        </p:nvSpPr>
        <p:spPr>
          <a:xfrm>
            <a:off x="1417320" y="2788920"/>
            <a:ext cx="4663440" cy="1371600"/>
          </a:xfrm>
          <a:prstGeom prst="line">
            <a:avLst/>
          </a:prstGeom>
          <a:noFill/>
          <a:ln w="12700">
            <a:solidFill>
              <a:srgbClr val="2A3360"/>
            </a:solidFill>
            <a:prstDash val="dash"/>
          </a:ln>
        </p:spPr>
      </p:sp>
      <p:sp>
        <p:nvSpPr>
          <p:cNvPr id="9" name="Shape 7"/>
          <p:cNvSpPr/>
          <p:nvPr/>
        </p:nvSpPr>
        <p:spPr>
          <a:xfrm>
            <a:off x="4800600" y="2788920"/>
            <a:ext cx="1280160" cy="1371600"/>
          </a:xfrm>
          <a:prstGeom prst="line">
            <a:avLst/>
          </a:prstGeom>
          <a:noFill/>
          <a:ln w="12700">
            <a:solidFill>
              <a:srgbClr val="2A3360"/>
            </a:solidFill>
            <a:prstDash val="dash"/>
          </a:ln>
        </p:spPr>
      </p:sp>
      <p:sp>
        <p:nvSpPr>
          <p:cNvPr id="10" name="Shape 8"/>
          <p:cNvSpPr/>
          <p:nvPr/>
        </p:nvSpPr>
        <p:spPr>
          <a:xfrm flipH="1">
            <a:off x="6080760" y="2788920"/>
            <a:ext cx="2103120" cy="1371600"/>
          </a:xfrm>
          <a:prstGeom prst="line">
            <a:avLst/>
          </a:prstGeom>
          <a:noFill/>
          <a:ln w="12700">
            <a:solidFill>
              <a:srgbClr val="2A3360"/>
            </a:solidFill>
            <a:prstDash val="dash"/>
          </a:ln>
        </p:spPr>
      </p:sp>
      <p:sp>
        <p:nvSpPr>
          <p:cNvPr id="11" name="Shape 9"/>
          <p:cNvSpPr/>
          <p:nvPr/>
        </p:nvSpPr>
        <p:spPr>
          <a:xfrm flipH="1">
            <a:off x="6080760" y="2788920"/>
            <a:ext cx="5212080" cy="1371600"/>
          </a:xfrm>
          <a:prstGeom prst="line">
            <a:avLst/>
          </a:prstGeom>
          <a:noFill/>
          <a:ln w="12700">
            <a:solidFill>
              <a:srgbClr val="2A3360"/>
            </a:solidFill>
            <a:prstDash val="dash"/>
          </a:ln>
        </p:spPr>
      </p:sp>
      <p:sp>
        <p:nvSpPr>
          <p:cNvPr id="12" name="Shape 10"/>
          <p:cNvSpPr/>
          <p:nvPr/>
        </p:nvSpPr>
        <p:spPr>
          <a:xfrm flipV="1">
            <a:off x="1417320" y="4160520"/>
            <a:ext cx="4663440" cy="1463040"/>
          </a:xfrm>
          <a:prstGeom prst="line">
            <a:avLst/>
          </a:prstGeom>
          <a:noFill/>
          <a:ln w="12700">
            <a:solidFill>
              <a:srgbClr val="2A3360"/>
            </a:solidFill>
            <a:prstDash val="dash"/>
          </a:ln>
        </p:spPr>
      </p:sp>
      <p:sp>
        <p:nvSpPr>
          <p:cNvPr id="13" name="Shape 11"/>
          <p:cNvSpPr/>
          <p:nvPr/>
        </p:nvSpPr>
        <p:spPr>
          <a:xfrm flipV="1">
            <a:off x="4800600" y="4160520"/>
            <a:ext cx="1280160" cy="1463040"/>
          </a:xfrm>
          <a:prstGeom prst="line">
            <a:avLst/>
          </a:prstGeom>
          <a:noFill/>
          <a:ln w="12700">
            <a:solidFill>
              <a:srgbClr val="2A3360"/>
            </a:solidFill>
            <a:prstDash val="dash"/>
          </a:ln>
        </p:spPr>
      </p:sp>
      <p:sp>
        <p:nvSpPr>
          <p:cNvPr id="14" name="Shape 12"/>
          <p:cNvSpPr/>
          <p:nvPr/>
        </p:nvSpPr>
        <p:spPr>
          <a:xfrm flipH="1" flipV="1">
            <a:off x="6080760" y="4160520"/>
            <a:ext cx="2103120" cy="1463040"/>
          </a:xfrm>
          <a:prstGeom prst="line">
            <a:avLst/>
          </a:prstGeom>
          <a:noFill/>
          <a:ln w="12700">
            <a:solidFill>
              <a:srgbClr val="2A3360"/>
            </a:solidFill>
            <a:prstDash val="dash"/>
          </a:ln>
        </p:spPr>
      </p:sp>
      <p:sp>
        <p:nvSpPr>
          <p:cNvPr id="15" name="Shape 13"/>
          <p:cNvSpPr/>
          <p:nvPr/>
        </p:nvSpPr>
        <p:spPr>
          <a:xfrm flipH="1" flipV="1">
            <a:off x="6080760" y="4160520"/>
            <a:ext cx="5212080" cy="1463040"/>
          </a:xfrm>
          <a:prstGeom prst="line">
            <a:avLst/>
          </a:prstGeom>
          <a:noFill/>
          <a:ln w="12700">
            <a:solidFill>
              <a:srgbClr val="2A3360"/>
            </a:solidFill>
            <a:prstDash val="dash"/>
          </a:ln>
        </p:spPr>
      </p:sp>
      <p:sp>
        <p:nvSpPr>
          <p:cNvPr id="16" name="Shape 14"/>
          <p:cNvSpPr/>
          <p:nvPr/>
        </p:nvSpPr>
        <p:spPr>
          <a:xfrm>
            <a:off x="640080" y="2286000"/>
            <a:ext cx="1554480" cy="1005840"/>
          </a:xfrm>
          <a:prstGeom prst="rect">
            <a:avLst/>
          </a:prstGeom>
          <a:solidFill>
            <a:srgbClr val="141938"/>
          </a:solidFill>
          <a:ln w="15240">
            <a:solidFill>
              <a:srgbClr val="00F0FF"/>
            </a:solidFill>
            <a:prstDash val="solid"/>
          </a:ln>
        </p:spPr>
      </p:sp>
      <p:sp>
        <p:nvSpPr>
          <p:cNvPr id="17" name="Text 15"/>
          <p:cNvSpPr/>
          <p:nvPr/>
        </p:nvSpPr>
        <p:spPr>
          <a:xfrm>
            <a:off x="640080" y="2395728"/>
            <a:ext cx="1554480"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Controller</a:t>
            </a:r>
            <a:endParaRPr lang="en-US" sz="1300" dirty="0"/>
          </a:p>
        </p:txBody>
      </p:sp>
      <p:sp>
        <p:nvSpPr>
          <p:cNvPr id="18" name="Text 16"/>
          <p:cNvSpPr/>
          <p:nvPr/>
        </p:nvSpPr>
        <p:spPr>
          <a:xfrm>
            <a:off x="640080" y="2706624"/>
            <a:ext cx="1554480" cy="274320"/>
          </a:xfrm>
          <a:prstGeom prst="rect">
            <a:avLst/>
          </a:prstGeom>
          <a:noFill/>
          <a:ln/>
        </p:spPr>
        <p:txBody>
          <a:bodyPr wrap="square" lIns="0" tIns="0" rIns="0" bIns="0" rtlCol="0" anchor="ctr"/>
          <a:lstStyle/>
          <a:p>
            <a:pPr algn="ctr" indent="0" marL="0">
              <a:buNone/>
            </a:pPr>
            <a:r>
              <a:rPr lang="en-US" sz="1000" i="1" dirty="0">
                <a:solidFill>
                  <a:srgbClr val="00F0FF"/>
                </a:solidFill>
                <a:latin typeface="Calibri" pitchFamily="34" charset="0"/>
                <a:ea typeface="Calibri" pitchFamily="34" charset="-122"/>
                <a:cs typeface="Calibri" pitchFamily="34" charset="-120"/>
              </a:rPr>
              <a:t>Motion &amp; targeting</a:t>
            </a:r>
            <a:endParaRPr lang="en-US" sz="1000" dirty="0"/>
          </a:p>
        </p:txBody>
      </p:sp>
      <p:sp>
        <p:nvSpPr>
          <p:cNvPr id="19" name="Text 17"/>
          <p:cNvSpPr/>
          <p:nvPr/>
        </p:nvSpPr>
        <p:spPr>
          <a:xfrm>
            <a:off x="640080" y="2999232"/>
            <a:ext cx="1554480" cy="228600"/>
          </a:xfrm>
          <a:prstGeom prst="rect">
            <a:avLst/>
          </a:prstGeom>
          <a:noFill/>
          <a:ln/>
        </p:spPr>
        <p:txBody>
          <a:bodyPr wrap="square" lIns="0" tIns="0" rIns="0" bIns="0" rtlCol="0" anchor="ctr"/>
          <a:lstStyle/>
          <a:p>
            <a:pPr algn="ctr" indent="0" marL="0">
              <a:buNone/>
            </a:pPr>
            <a:r>
              <a:rPr lang="en-US" sz="800" dirty="0">
                <a:solidFill>
                  <a:srgbClr val="6B7494"/>
                </a:solidFill>
                <a:latin typeface="Consolas" pitchFamily="34" charset="0"/>
                <a:ea typeface="Consolas" pitchFamily="34" charset="-122"/>
                <a:cs typeface="Consolas" pitchFamily="34" charset="-120"/>
              </a:rPr>
              <a:t>Controller.cs</a:t>
            </a:r>
            <a:endParaRPr lang="en-US" sz="800" dirty="0"/>
          </a:p>
        </p:txBody>
      </p:sp>
      <p:sp>
        <p:nvSpPr>
          <p:cNvPr id="20" name="Shape 18"/>
          <p:cNvSpPr/>
          <p:nvPr/>
        </p:nvSpPr>
        <p:spPr>
          <a:xfrm>
            <a:off x="4023360" y="2286000"/>
            <a:ext cx="1554480" cy="1005840"/>
          </a:xfrm>
          <a:prstGeom prst="rect">
            <a:avLst/>
          </a:prstGeom>
          <a:solidFill>
            <a:srgbClr val="141938"/>
          </a:solidFill>
          <a:ln w="15240">
            <a:solidFill>
              <a:srgbClr val="00F0FF"/>
            </a:solidFill>
            <a:prstDash val="solid"/>
          </a:ln>
        </p:spPr>
      </p:sp>
      <p:sp>
        <p:nvSpPr>
          <p:cNvPr id="21" name="Text 19"/>
          <p:cNvSpPr/>
          <p:nvPr/>
        </p:nvSpPr>
        <p:spPr>
          <a:xfrm>
            <a:off x="4023360" y="2395728"/>
            <a:ext cx="1554480"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Enemies</a:t>
            </a:r>
            <a:endParaRPr lang="en-US" sz="1300" dirty="0"/>
          </a:p>
        </p:txBody>
      </p:sp>
      <p:sp>
        <p:nvSpPr>
          <p:cNvPr id="22" name="Text 20"/>
          <p:cNvSpPr/>
          <p:nvPr/>
        </p:nvSpPr>
        <p:spPr>
          <a:xfrm>
            <a:off x="4023360" y="2706624"/>
            <a:ext cx="1554480" cy="274320"/>
          </a:xfrm>
          <a:prstGeom prst="rect">
            <a:avLst/>
          </a:prstGeom>
          <a:noFill/>
          <a:ln/>
        </p:spPr>
        <p:txBody>
          <a:bodyPr wrap="square" lIns="0" tIns="0" rIns="0" bIns="0" rtlCol="0" anchor="ctr"/>
          <a:lstStyle/>
          <a:p>
            <a:pPr algn="ctr" indent="0" marL="0">
              <a:buNone/>
            </a:pPr>
            <a:r>
              <a:rPr lang="en-US" sz="1000" i="1" dirty="0">
                <a:solidFill>
                  <a:srgbClr val="00F0FF"/>
                </a:solidFill>
                <a:latin typeface="Calibri" pitchFamily="34" charset="0"/>
                <a:ea typeface="Calibri" pitchFamily="34" charset="-122"/>
                <a:cs typeface="Calibri" pitchFamily="34" charset="-120"/>
              </a:rPr>
              <a:t>Enemy patrol logic</a:t>
            </a:r>
            <a:endParaRPr lang="en-US" sz="1000" dirty="0"/>
          </a:p>
        </p:txBody>
      </p:sp>
      <p:sp>
        <p:nvSpPr>
          <p:cNvPr id="23" name="Text 21"/>
          <p:cNvSpPr/>
          <p:nvPr/>
        </p:nvSpPr>
        <p:spPr>
          <a:xfrm>
            <a:off x="4023360" y="2999232"/>
            <a:ext cx="1554480" cy="228600"/>
          </a:xfrm>
          <a:prstGeom prst="rect">
            <a:avLst/>
          </a:prstGeom>
          <a:noFill/>
          <a:ln/>
        </p:spPr>
        <p:txBody>
          <a:bodyPr wrap="square" lIns="0" tIns="0" rIns="0" bIns="0" rtlCol="0" anchor="ctr"/>
          <a:lstStyle/>
          <a:p>
            <a:pPr algn="ctr" indent="0" marL="0">
              <a:buNone/>
            </a:pPr>
            <a:r>
              <a:rPr lang="en-US" sz="800" dirty="0">
                <a:solidFill>
                  <a:srgbClr val="6B7494"/>
                </a:solidFill>
                <a:latin typeface="Consolas" pitchFamily="34" charset="0"/>
                <a:ea typeface="Consolas" pitchFamily="34" charset="-122"/>
                <a:cs typeface="Consolas" pitchFamily="34" charset="-120"/>
              </a:rPr>
              <a:t>Enemies.cs</a:t>
            </a:r>
            <a:endParaRPr lang="en-US" sz="800" dirty="0"/>
          </a:p>
        </p:txBody>
      </p:sp>
      <p:sp>
        <p:nvSpPr>
          <p:cNvPr id="24" name="Shape 22"/>
          <p:cNvSpPr/>
          <p:nvPr/>
        </p:nvSpPr>
        <p:spPr>
          <a:xfrm>
            <a:off x="7406640" y="2286000"/>
            <a:ext cx="1554480" cy="1005840"/>
          </a:xfrm>
          <a:prstGeom prst="rect">
            <a:avLst/>
          </a:prstGeom>
          <a:solidFill>
            <a:srgbClr val="141938"/>
          </a:solidFill>
          <a:ln w="15240">
            <a:solidFill>
              <a:srgbClr val="00F0FF"/>
            </a:solidFill>
            <a:prstDash val="solid"/>
          </a:ln>
        </p:spPr>
      </p:sp>
      <p:sp>
        <p:nvSpPr>
          <p:cNvPr id="25" name="Text 23"/>
          <p:cNvSpPr/>
          <p:nvPr/>
        </p:nvSpPr>
        <p:spPr>
          <a:xfrm>
            <a:off x="7406640" y="2395728"/>
            <a:ext cx="1554480"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Health</a:t>
            </a:r>
            <a:endParaRPr lang="en-US" sz="1300" dirty="0"/>
          </a:p>
        </p:txBody>
      </p:sp>
      <p:sp>
        <p:nvSpPr>
          <p:cNvPr id="26" name="Text 24"/>
          <p:cNvSpPr/>
          <p:nvPr/>
        </p:nvSpPr>
        <p:spPr>
          <a:xfrm>
            <a:off x="7406640" y="2706624"/>
            <a:ext cx="1554480" cy="274320"/>
          </a:xfrm>
          <a:prstGeom prst="rect">
            <a:avLst/>
          </a:prstGeom>
          <a:noFill/>
          <a:ln/>
        </p:spPr>
        <p:txBody>
          <a:bodyPr wrap="square" lIns="0" tIns="0" rIns="0" bIns="0" rtlCol="0" anchor="ctr"/>
          <a:lstStyle/>
          <a:p>
            <a:pPr algn="ctr" indent="0" marL="0">
              <a:buNone/>
            </a:pPr>
            <a:r>
              <a:rPr lang="en-US" sz="1000" i="1" dirty="0">
                <a:solidFill>
                  <a:srgbClr val="00F0FF"/>
                </a:solidFill>
                <a:latin typeface="Calibri" pitchFamily="34" charset="0"/>
                <a:ea typeface="Calibri" pitchFamily="34" charset="-122"/>
                <a:cs typeface="Calibri" pitchFamily="34" charset="-120"/>
              </a:rPr>
              <a:t>Hit points, lives, invincibility</a:t>
            </a:r>
            <a:endParaRPr lang="en-US" sz="1000" dirty="0"/>
          </a:p>
        </p:txBody>
      </p:sp>
      <p:sp>
        <p:nvSpPr>
          <p:cNvPr id="27" name="Text 25"/>
          <p:cNvSpPr/>
          <p:nvPr/>
        </p:nvSpPr>
        <p:spPr>
          <a:xfrm>
            <a:off x="7406640" y="2999232"/>
            <a:ext cx="1554480" cy="228600"/>
          </a:xfrm>
          <a:prstGeom prst="rect">
            <a:avLst/>
          </a:prstGeom>
          <a:noFill/>
          <a:ln/>
        </p:spPr>
        <p:txBody>
          <a:bodyPr wrap="square" lIns="0" tIns="0" rIns="0" bIns="0" rtlCol="0" anchor="ctr"/>
          <a:lstStyle/>
          <a:p>
            <a:pPr algn="ctr" indent="0" marL="0">
              <a:buNone/>
            </a:pPr>
            <a:r>
              <a:rPr lang="en-US" sz="800" dirty="0">
                <a:solidFill>
                  <a:srgbClr val="6B7494"/>
                </a:solidFill>
                <a:latin typeface="Consolas" pitchFamily="34" charset="0"/>
                <a:ea typeface="Consolas" pitchFamily="34" charset="-122"/>
                <a:cs typeface="Consolas" pitchFamily="34" charset="-120"/>
              </a:rPr>
              <a:t>Health.cs</a:t>
            </a:r>
            <a:endParaRPr lang="en-US" sz="800" dirty="0"/>
          </a:p>
        </p:txBody>
      </p:sp>
      <p:sp>
        <p:nvSpPr>
          <p:cNvPr id="28" name="Shape 26"/>
          <p:cNvSpPr/>
          <p:nvPr/>
        </p:nvSpPr>
        <p:spPr>
          <a:xfrm>
            <a:off x="10515600" y="2286000"/>
            <a:ext cx="1554480" cy="1005840"/>
          </a:xfrm>
          <a:prstGeom prst="rect">
            <a:avLst/>
          </a:prstGeom>
          <a:solidFill>
            <a:srgbClr val="141938"/>
          </a:solidFill>
          <a:ln w="15240">
            <a:solidFill>
              <a:srgbClr val="00F0FF"/>
            </a:solidFill>
            <a:prstDash val="solid"/>
          </a:ln>
        </p:spPr>
      </p:sp>
      <p:sp>
        <p:nvSpPr>
          <p:cNvPr id="29" name="Text 27"/>
          <p:cNvSpPr/>
          <p:nvPr/>
        </p:nvSpPr>
        <p:spPr>
          <a:xfrm>
            <a:off x="10515600" y="2395728"/>
            <a:ext cx="1554480"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Damage</a:t>
            </a:r>
            <a:endParaRPr lang="en-US" sz="1300" dirty="0"/>
          </a:p>
        </p:txBody>
      </p:sp>
      <p:sp>
        <p:nvSpPr>
          <p:cNvPr id="30" name="Text 28"/>
          <p:cNvSpPr/>
          <p:nvPr/>
        </p:nvSpPr>
        <p:spPr>
          <a:xfrm>
            <a:off x="10515600" y="2706624"/>
            <a:ext cx="1554480" cy="274320"/>
          </a:xfrm>
          <a:prstGeom prst="rect">
            <a:avLst/>
          </a:prstGeom>
          <a:noFill/>
          <a:ln/>
        </p:spPr>
        <p:txBody>
          <a:bodyPr wrap="square" lIns="0" tIns="0" rIns="0" bIns="0" rtlCol="0" anchor="ctr"/>
          <a:lstStyle/>
          <a:p>
            <a:pPr algn="ctr" indent="0" marL="0">
              <a:buNone/>
            </a:pPr>
            <a:r>
              <a:rPr lang="en-US" sz="1000" i="1" dirty="0">
                <a:solidFill>
                  <a:srgbClr val="00F0FF"/>
                </a:solidFill>
                <a:latin typeface="Calibri" pitchFamily="34" charset="0"/>
                <a:ea typeface="Calibri" pitchFamily="34" charset="-122"/>
                <a:cs typeface="Calibri" pitchFamily="34" charset="-120"/>
              </a:rPr>
              <a:t>Impact-based damage</a:t>
            </a:r>
            <a:endParaRPr lang="en-US" sz="1000" dirty="0"/>
          </a:p>
        </p:txBody>
      </p:sp>
      <p:sp>
        <p:nvSpPr>
          <p:cNvPr id="31" name="Text 29"/>
          <p:cNvSpPr/>
          <p:nvPr/>
        </p:nvSpPr>
        <p:spPr>
          <a:xfrm>
            <a:off x="10515600" y="2999232"/>
            <a:ext cx="1554480" cy="228600"/>
          </a:xfrm>
          <a:prstGeom prst="rect">
            <a:avLst/>
          </a:prstGeom>
          <a:noFill/>
          <a:ln/>
        </p:spPr>
        <p:txBody>
          <a:bodyPr wrap="square" lIns="0" tIns="0" rIns="0" bIns="0" rtlCol="0" anchor="ctr"/>
          <a:lstStyle/>
          <a:p>
            <a:pPr algn="ctr" indent="0" marL="0">
              <a:buNone/>
            </a:pPr>
            <a:r>
              <a:rPr lang="en-US" sz="800" dirty="0">
                <a:solidFill>
                  <a:srgbClr val="6B7494"/>
                </a:solidFill>
                <a:latin typeface="Consolas" pitchFamily="34" charset="0"/>
                <a:ea typeface="Consolas" pitchFamily="34" charset="-122"/>
                <a:cs typeface="Consolas" pitchFamily="34" charset="-120"/>
              </a:rPr>
              <a:t>Damage.cs</a:t>
            </a:r>
            <a:endParaRPr lang="en-US" sz="800" dirty="0"/>
          </a:p>
        </p:txBody>
      </p:sp>
      <p:sp>
        <p:nvSpPr>
          <p:cNvPr id="32" name="Shape 30"/>
          <p:cNvSpPr/>
          <p:nvPr/>
        </p:nvSpPr>
        <p:spPr>
          <a:xfrm>
            <a:off x="640080" y="5120640"/>
            <a:ext cx="1554480" cy="1005840"/>
          </a:xfrm>
          <a:prstGeom prst="rect">
            <a:avLst/>
          </a:prstGeom>
          <a:solidFill>
            <a:srgbClr val="141938"/>
          </a:solidFill>
          <a:ln w="15240">
            <a:solidFill>
              <a:srgbClr val="FFD60A"/>
            </a:solidFill>
            <a:prstDash val="solid"/>
          </a:ln>
        </p:spPr>
      </p:sp>
      <p:sp>
        <p:nvSpPr>
          <p:cNvPr id="33" name="Text 31"/>
          <p:cNvSpPr/>
          <p:nvPr/>
        </p:nvSpPr>
        <p:spPr>
          <a:xfrm>
            <a:off x="640080" y="5230368"/>
            <a:ext cx="1554480"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Projectile</a:t>
            </a:r>
            <a:endParaRPr lang="en-US" sz="1300" dirty="0"/>
          </a:p>
        </p:txBody>
      </p:sp>
      <p:sp>
        <p:nvSpPr>
          <p:cNvPr id="34" name="Text 32"/>
          <p:cNvSpPr/>
          <p:nvPr/>
        </p:nvSpPr>
        <p:spPr>
          <a:xfrm>
            <a:off x="640080" y="5541264"/>
            <a:ext cx="1554480" cy="274320"/>
          </a:xfrm>
          <a:prstGeom prst="rect">
            <a:avLst/>
          </a:prstGeom>
          <a:noFill/>
          <a:ln/>
        </p:spPr>
        <p:txBody>
          <a:bodyPr wrap="square" lIns="0" tIns="0" rIns="0" bIns="0" rtlCol="0" anchor="ctr"/>
          <a:lstStyle/>
          <a:p>
            <a:pPr algn="ctr" indent="0" marL="0">
              <a:buNone/>
            </a:pPr>
            <a:r>
              <a:rPr lang="en-US" sz="1000" i="1" dirty="0">
                <a:solidFill>
                  <a:srgbClr val="FFD60A"/>
                </a:solidFill>
                <a:latin typeface="Calibri" pitchFamily="34" charset="0"/>
                <a:ea typeface="Calibri" pitchFamily="34" charset="-122"/>
                <a:cs typeface="Calibri" pitchFamily="34" charset="-120"/>
              </a:rPr>
              <a:t>Shot trajectory logic</a:t>
            </a:r>
            <a:endParaRPr lang="en-US" sz="1000" dirty="0"/>
          </a:p>
        </p:txBody>
      </p:sp>
      <p:sp>
        <p:nvSpPr>
          <p:cNvPr id="35" name="Text 33"/>
          <p:cNvSpPr/>
          <p:nvPr/>
        </p:nvSpPr>
        <p:spPr>
          <a:xfrm>
            <a:off x="640080" y="5833872"/>
            <a:ext cx="1554480" cy="228600"/>
          </a:xfrm>
          <a:prstGeom prst="rect">
            <a:avLst/>
          </a:prstGeom>
          <a:noFill/>
          <a:ln/>
        </p:spPr>
        <p:txBody>
          <a:bodyPr wrap="square" lIns="0" tIns="0" rIns="0" bIns="0" rtlCol="0" anchor="ctr"/>
          <a:lstStyle/>
          <a:p>
            <a:pPr algn="ctr" indent="0" marL="0">
              <a:buNone/>
            </a:pPr>
            <a:r>
              <a:rPr lang="en-US" sz="800" dirty="0">
                <a:solidFill>
                  <a:srgbClr val="6B7494"/>
                </a:solidFill>
                <a:latin typeface="Consolas" pitchFamily="34" charset="0"/>
                <a:ea typeface="Consolas" pitchFamily="34" charset="-122"/>
                <a:cs typeface="Consolas" pitchFamily="34" charset="-120"/>
              </a:rPr>
              <a:t>Projectile.cs</a:t>
            </a:r>
            <a:endParaRPr lang="en-US" sz="800" dirty="0"/>
          </a:p>
        </p:txBody>
      </p:sp>
      <p:sp>
        <p:nvSpPr>
          <p:cNvPr id="36" name="Shape 34"/>
          <p:cNvSpPr/>
          <p:nvPr/>
        </p:nvSpPr>
        <p:spPr>
          <a:xfrm>
            <a:off x="4023360" y="5120640"/>
            <a:ext cx="1554480" cy="1005840"/>
          </a:xfrm>
          <a:prstGeom prst="rect">
            <a:avLst/>
          </a:prstGeom>
          <a:solidFill>
            <a:srgbClr val="141938"/>
          </a:solidFill>
          <a:ln w="15240">
            <a:solidFill>
              <a:srgbClr val="9D4EDD"/>
            </a:solidFill>
            <a:prstDash val="solid"/>
          </a:ln>
        </p:spPr>
      </p:sp>
      <p:sp>
        <p:nvSpPr>
          <p:cNvPr id="37" name="Text 35"/>
          <p:cNvSpPr/>
          <p:nvPr/>
        </p:nvSpPr>
        <p:spPr>
          <a:xfrm>
            <a:off x="4023360" y="5230368"/>
            <a:ext cx="1554480"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UIManager</a:t>
            </a:r>
            <a:endParaRPr lang="en-US" sz="1300" dirty="0"/>
          </a:p>
        </p:txBody>
      </p:sp>
      <p:sp>
        <p:nvSpPr>
          <p:cNvPr id="38" name="Text 36"/>
          <p:cNvSpPr/>
          <p:nvPr/>
        </p:nvSpPr>
        <p:spPr>
          <a:xfrm>
            <a:off x="4023360" y="5541264"/>
            <a:ext cx="1554480" cy="274320"/>
          </a:xfrm>
          <a:prstGeom prst="rect">
            <a:avLst/>
          </a:prstGeom>
          <a:noFill/>
          <a:ln/>
        </p:spPr>
        <p:txBody>
          <a:bodyPr wrap="square" lIns="0" tIns="0" rIns="0" bIns="0" rtlCol="0" anchor="ctr"/>
          <a:lstStyle/>
          <a:p>
            <a:pPr algn="ctr" indent="0" marL="0">
              <a:buNone/>
            </a:pPr>
            <a:r>
              <a:rPr lang="en-US" sz="1000" i="1" dirty="0">
                <a:solidFill>
                  <a:srgbClr val="9D4EDD"/>
                </a:solidFill>
                <a:latin typeface="Calibri" pitchFamily="34" charset="0"/>
                <a:ea typeface="Calibri" pitchFamily="34" charset="-122"/>
                <a:cs typeface="Calibri" pitchFamily="34" charset="-120"/>
              </a:rPr>
              <a:t>Screen state navigation</a:t>
            </a:r>
            <a:endParaRPr lang="en-US" sz="1000" dirty="0"/>
          </a:p>
        </p:txBody>
      </p:sp>
      <p:sp>
        <p:nvSpPr>
          <p:cNvPr id="39" name="Text 37"/>
          <p:cNvSpPr/>
          <p:nvPr/>
        </p:nvSpPr>
        <p:spPr>
          <a:xfrm>
            <a:off x="4023360" y="5833872"/>
            <a:ext cx="1554480" cy="228600"/>
          </a:xfrm>
          <a:prstGeom prst="rect">
            <a:avLst/>
          </a:prstGeom>
          <a:noFill/>
          <a:ln/>
        </p:spPr>
        <p:txBody>
          <a:bodyPr wrap="square" lIns="0" tIns="0" rIns="0" bIns="0" rtlCol="0" anchor="ctr"/>
          <a:lstStyle/>
          <a:p>
            <a:pPr algn="ctr" indent="0" marL="0">
              <a:buNone/>
            </a:pPr>
            <a:r>
              <a:rPr lang="en-US" sz="800" dirty="0">
                <a:solidFill>
                  <a:srgbClr val="6B7494"/>
                </a:solidFill>
                <a:latin typeface="Consolas" pitchFamily="34" charset="0"/>
                <a:ea typeface="Consolas" pitchFamily="34" charset="-122"/>
                <a:cs typeface="Consolas" pitchFamily="34" charset="-120"/>
              </a:rPr>
              <a:t>Uimanager.cs</a:t>
            </a:r>
            <a:endParaRPr lang="en-US" sz="800" dirty="0"/>
          </a:p>
        </p:txBody>
      </p:sp>
      <p:sp>
        <p:nvSpPr>
          <p:cNvPr id="40" name="Shape 38"/>
          <p:cNvSpPr/>
          <p:nvPr/>
        </p:nvSpPr>
        <p:spPr>
          <a:xfrm>
            <a:off x="7406640" y="5120640"/>
            <a:ext cx="1554480" cy="1005840"/>
          </a:xfrm>
          <a:prstGeom prst="rect">
            <a:avLst/>
          </a:prstGeom>
          <a:solidFill>
            <a:srgbClr val="141938"/>
          </a:solidFill>
          <a:ln w="15240">
            <a:solidFill>
              <a:srgbClr val="FF2A6D"/>
            </a:solidFill>
            <a:prstDash val="solid"/>
          </a:ln>
        </p:spPr>
      </p:sp>
      <p:sp>
        <p:nvSpPr>
          <p:cNvPr id="41" name="Text 39"/>
          <p:cNvSpPr/>
          <p:nvPr/>
        </p:nvSpPr>
        <p:spPr>
          <a:xfrm>
            <a:off x="7406640" y="5230368"/>
            <a:ext cx="1554480"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CameraController</a:t>
            </a:r>
            <a:endParaRPr lang="en-US" sz="1300" dirty="0"/>
          </a:p>
        </p:txBody>
      </p:sp>
      <p:sp>
        <p:nvSpPr>
          <p:cNvPr id="42" name="Text 40"/>
          <p:cNvSpPr/>
          <p:nvPr/>
        </p:nvSpPr>
        <p:spPr>
          <a:xfrm>
            <a:off x="7406640" y="5541264"/>
            <a:ext cx="1554480" cy="274320"/>
          </a:xfrm>
          <a:prstGeom prst="rect">
            <a:avLst/>
          </a:prstGeom>
          <a:noFill/>
          <a:ln/>
        </p:spPr>
        <p:txBody>
          <a:bodyPr wrap="square" lIns="0" tIns="0" rIns="0" bIns="0" rtlCol="0" anchor="ctr"/>
          <a:lstStyle/>
          <a:p>
            <a:pPr algn="ctr" indent="0" marL="0">
              <a:buNone/>
            </a:pPr>
            <a:r>
              <a:rPr lang="en-US" sz="1000" i="1" dirty="0">
                <a:solidFill>
                  <a:srgbClr val="FF2A6D"/>
                </a:solidFill>
                <a:latin typeface="Calibri" pitchFamily="34" charset="0"/>
                <a:ea typeface="Calibri" pitchFamily="34" charset="-122"/>
                <a:cs typeface="Calibri" pitchFamily="34" charset="-120"/>
              </a:rPr>
              <a:t>Viewport follow logic</a:t>
            </a:r>
            <a:endParaRPr lang="en-US" sz="1000" dirty="0"/>
          </a:p>
        </p:txBody>
      </p:sp>
      <p:sp>
        <p:nvSpPr>
          <p:cNvPr id="43" name="Text 41"/>
          <p:cNvSpPr/>
          <p:nvPr/>
        </p:nvSpPr>
        <p:spPr>
          <a:xfrm>
            <a:off x="7406640" y="5833872"/>
            <a:ext cx="1554480" cy="228600"/>
          </a:xfrm>
          <a:prstGeom prst="rect">
            <a:avLst/>
          </a:prstGeom>
          <a:noFill/>
          <a:ln/>
        </p:spPr>
        <p:txBody>
          <a:bodyPr wrap="square" lIns="0" tIns="0" rIns="0" bIns="0" rtlCol="0" anchor="ctr"/>
          <a:lstStyle/>
          <a:p>
            <a:pPr algn="ctr" indent="0" marL="0">
              <a:buNone/>
            </a:pPr>
            <a:r>
              <a:rPr lang="en-US" sz="800" dirty="0">
                <a:solidFill>
                  <a:srgbClr val="6B7494"/>
                </a:solidFill>
                <a:latin typeface="Consolas" pitchFamily="34" charset="0"/>
                <a:ea typeface="Consolas" pitchFamily="34" charset="-122"/>
                <a:cs typeface="Consolas" pitchFamily="34" charset="-120"/>
              </a:rPr>
              <a:t>CameraController.cs</a:t>
            </a:r>
            <a:endParaRPr lang="en-US" sz="800" dirty="0"/>
          </a:p>
        </p:txBody>
      </p:sp>
      <p:sp>
        <p:nvSpPr>
          <p:cNvPr id="44" name="Shape 42"/>
          <p:cNvSpPr/>
          <p:nvPr/>
        </p:nvSpPr>
        <p:spPr>
          <a:xfrm>
            <a:off x="10515600" y="5120640"/>
            <a:ext cx="1554480" cy="1005840"/>
          </a:xfrm>
          <a:prstGeom prst="rect">
            <a:avLst/>
          </a:prstGeom>
          <a:solidFill>
            <a:srgbClr val="141938"/>
          </a:solidFill>
          <a:ln w="15240">
            <a:solidFill>
              <a:srgbClr val="FFD60A"/>
            </a:solidFill>
            <a:prstDash val="solid"/>
          </a:ln>
        </p:spPr>
      </p:sp>
      <p:sp>
        <p:nvSpPr>
          <p:cNvPr id="45" name="Text 43"/>
          <p:cNvSpPr/>
          <p:nvPr/>
        </p:nvSpPr>
        <p:spPr>
          <a:xfrm>
            <a:off x="10515600" y="5230368"/>
            <a:ext cx="1554480"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ShootingCtrl</a:t>
            </a:r>
            <a:endParaRPr lang="en-US" sz="1300" dirty="0"/>
          </a:p>
        </p:txBody>
      </p:sp>
      <p:sp>
        <p:nvSpPr>
          <p:cNvPr id="46" name="Text 44"/>
          <p:cNvSpPr/>
          <p:nvPr/>
        </p:nvSpPr>
        <p:spPr>
          <a:xfrm>
            <a:off x="10515600" y="5541264"/>
            <a:ext cx="1554480" cy="274320"/>
          </a:xfrm>
          <a:prstGeom prst="rect">
            <a:avLst/>
          </a:prstGeom>
          <a:noFill/>
          <a:ln/>
        </p:spPr>
        <p:txBody>
          <a:bodyPr wrap="square" lIns="0" tIns="0" rIns="0" bIns="0" rtlCol="0" anchor="ctr"/>
          <a:lstStyle/>
          <a:p>
            <a:pPr algn="ctr" indent="0" marL="0">
              <a:buNone/>
            </a:pPr>
            <a:r>
              <a:rPr lang="en-US" sz="1000" i="1" dirty="0">
                <a:solidFill>
                  <a:srgbClr val="FFD60A"/>
                </a:solidFill>
                <a:latin typeface="Calibri" pitchFamily="34" charset="0"/>
                <a:ea typeface="Calibri" pitchFamily="34" charset="-122"/>
                <a:cs typeface="Calibri" pitchFamily="34" charset="-120"/>
              </a:rPr>
              <a:t>Fires projectiles</a:t>
            </a:r>
            <a:endParaRPr lang="en-US" sz="1000" dirty="0"/>
          </a:p>
        </p:txBody>
      </p:sp>
      <p:sp>
        <p:nvSpPr>
          <p:cNvPr id="47" name="Text 45"/>
          <p:cNvSpPr/>
          <p:nvPr/>
        </p:nvSpPr>
        <p:spPr>
          <a:xfrm>
            <a:off x="10515600" y="5833872"/>
            <a:ext cx="1554480" cy="228600"/>
          </a:xfrm>
          <a:prstGeom prst="rect">
            <a:avLst/>
          </a:prstGeom>
          <a:noFill/>
          <a:ln/>
        </p:spPr>
        <p:txBody>
          <a:bodyPr wrap="square" lIns="0" tIns="0" rIns="0" bIns="0" rtlCol="0" anchor="ctr"/>
          <a:lstStyle/>
          <a:p>
            <a:pPr algn="ctr" indent="0" marL="0">
              <a:buNone/>
            </a:pPr>
            <a:r>
              <a:rPr lang="en-US" sz="800" dirty="0">
                <a:solidFill>
                  <a:srgbClr val="6B7494"/>
                </a:solidFill>
                <a:latin typeface="Consolas" pitchFamily="34" charset="0"/>
                <a:ea typeface="Consolas" pitchFamily="34" charset="-122"/>
                <a:cs typeface="Consolas" pitchFamily="34" charset="-120"/>
              </a:rPr>
              <a:t>(per entity)</a:t>
            </a:r>
            <a:endParaRPr lang="en-US" sz="800" dirty="0"/>
          </a:p>
        </p:txBody>
      </p:sp>
      <p:sp>
        <p:nvSpPr>
          <p:cNvPr id="48" name="Shape 46"/>
          <p:cNvSpPr/>
          <p:nvPr/>
        </p:nvSpPr>
        <p:spPr>
          <a:xfrm>
            <a:off x="5120640" y="3657600"/>
            <a:ext cx="1920240" cy="1005840"/>
          </a:xfrm>
          <a:prstGeom prst="rect">
            <a:avLst/>
          </a:prstGeom>
          <a:solidFill>
            <a:srgbClr val="FF2A6D"/>
          </a:solidFill>
          <a:ln/>
        </p:spPr>
      </p:sp>
      <p:sp>
        <p:nvSpPr>
          <p:cNvPr id="49" name="Text 47"/>
          <p:cNvSpPr/>
          <p:nvPr/>
        </p:nvSpPr>
        <p:spPr>
          <a:xfrm>
            <a:off x="5120640" y="3794760"/>
            <a:ext cx="1920240" cy="3200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GameManager</a:t>
            </a:r>
            <a:endParaRPr lang="en-US" sz="1600" dirty="0"/>
          </a:p>
        </p:txBody>
      </p:sp>
      <p:sp>
        <p:nvSpPr>
          <p:cNvPr id="50" name="Text 48"/>
          <p:cNvSpPr/>
          <p:nvPr/>
        </p:nvSpPr>
        <p:spPr>
          <a:xfrm>
            <a:off x="5120640" y="4114800"/>
            <a:ext cx="1920240" cy="274320"/>
          </a:xfrm>
          <a:prstGeom prst="rect">
            <a:avLst/>
          </a:prstGeom>
          <a:noFill/>
          <a:ln/>
        </p:spPr>
        <p:txBody>
          <a:bodyPr wrap="square" lIns="0" tIns="0" rIns="0" bIns="0" rtlCol="0" anchor="ctr"/>
          <a:lstStyle/>
          <a:p>
            <a:pPr algn="ctr" indent="0" marL="0">
              <a:buNone/>
            </a:pPr>
            <a:r>
              <a:rPr lang="en-US" sz="1000" i="1" dirty="0">
                <a:solidFill>
                  <a:srgbClr val="0A0E27"/>
                </a:solidFill>
                <a:latin typeface="Consolas" pitchFamily="34" charset="0"/>
                <a:ea typeface="Consolas" pitchFamily="34" charset="-122"/>
                <a:cs typeface="Consolas" pitchFamily="34" charset="-120"/>
              </a:rPr>
              <a:t>singleton • centralised state</a:t>
            </a:r>
            <a:endParaRPr lang="en-US" sz="1000" dirty="0"/>
          </a:p>
        </p:txBody>
      </p:sp>
      <p:sp>
        <p:nvSpPr>
          <p:cNvPr id="51" name="Text 49"/>
          <p:cNvSpPr/>
          <p:nvPr/>
        </p:nvSpPr>
        <p:spPr>
          <a:xfrm>
            <a:off x="5120640" y="4343400"/>
            <a:ext cx="1920240" cy="228600"/>
          </a:xfrm>
          <a:prstGeom prst="rect">
            <a:avLst/>
          </a:prstGeom>
          <a:noFill/>
          <a:ln/>
        </p:spPr>
        <p:txBody>
          <a:bodyPr wrap="square" lIns="0" tIns="0" rIns="0" bIns="0" rtlCol="0" anchor="ctr"/>
          <a:lstStyle/>
          <a:p>
            <a:pPr algn="ctr" indent="0" marL="0">
              <a:buNone/>
            </a:pPr>
            <a:r>
              <a:rPr lang="en-US" sz="900" dirty="0">
                <a:solidFill>
                  <a:srgbClr val="0A0E27"/>
                </a:solidFill>
                <a:latin typeface="Consolas" pitchFamily="34" charset="0"/>
                <a:ea typeface="Consolas" pitchFamily="34" charset="-122"/>
                <a:cs typeface="Consolas" pitchFamily="34" charset="-120"/>
              </a:rPr>
              <a:t>Gamemanager.cs</a:t>
            </a:r>
            <a:endParaRPr lang="en-US" sz="900" dirty="0"/>
          </a:p>
        </p:txBody>
      </p:sp>
      <p:sp>
        <p:nvSpPr>
          <p:cNvPr id="52" name="Text 50"/>
          <p:cNvSpPr/>
          <p:nvPr/>
        </p:nvSpPr>
        <p:spPr>
          <a:xfrm>
            <a:off x="457200" y="6446520"/>
            <a:ext cx="5486400" cy="274320"/>
          </a:xfrm>
          <a:prstGeom prst="rect">
            <a:avLst/>
          </a:prstGeom>
          <a:noFill/>
          <a:ln/>
        </p:spPr>
        <p:txBody>
          <a:bodyPr wrap="square" lIns="0" tIns="0" rIns="0" bIns="0" rtlCol="0" anchor="ctr"/>
          <a:lstStyle/>
          <a:p>
            <a:pPr indent="0" marL="0">
              <a:buNone/>
            </a:pPr>
            <a:r>
              <a:rPr lang="en-US" sz="1000" spc="300" kern="0" dirty="0">
                <a:solidFill>
                  <a:srgbClr val="6B7494"/>
                </a:solidFill>
                <a:latin typeface="Consolas" pitchFamily="34" charset="0"/>
                <a:ea typeface="Consolas" pitchFamily="34" charset="-122"/>
                <a:cs typeface="Consolas" pitchFamily="34" charset="-120"/>
              </a:rPr>
              <a:t>SOFTWARE ARCHITECTURE</a:t>
            </a:r>
            <a:endParaRPr lang="en-US" sz="1000" dirty="0"/>
          </a:p>
        </p:txBody>
      </p:sp>
      <p:sp>
        <p:nvSpPr>
          <p:cNvPr id="53" name="Text 51"/>
          <p:cNvSpPr/>
          <p:nvPr/>
        </p:nvSpPr>
        <p:spPr>
          <a:xfrm>
            <a:off x="10362895" y="6446520"/>
            <a:ext cx="1371600" cy="274320"/>
          </a:xfrm>
          <a:prstGeom prst="rect">
            <a:avLst/>
          </a:prstGeom>
          <a:noFill/>
          <a:ln/>
        </p:spPr>
        <p:txBody>
          <a:bodyPr wrap="square" lIns="0" tIns="0" rIns="0" bIns="0" rtlCol="0" anchor="ctr"/>
          <a:lstStyle/>
          <a:p>
            <a:pPr algn="r" indent="0" marL="0">
              <a:buNone/>
            </a:pPr>
            <a:r>
              <a:rPr lang="en-US" sz="1000" spc="200" kern="0" dirty="0">
                <a:solidFill>
                  <a:srgbClr val="00F0FF"/>
                </a:solidFill>
                <a:latin typeface="Consolas" pitchFamily="34" charset="0"/>
                <a:ea typeface="Consolas" pitchFamily="34" charset="-122"/>
                <a:cs typeface="Consolas" pitchFamily="34" charset="-120"/>
              </a:rPr>
              <a:t>07 / 14</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E27"/>
        </a:solidFill>
      </p:bgPr>
    </p:bg>
    <p:spTree>
      <p:nvGrpSpPr>
        <p:cNvPr id="1" name=""/>
        <p:cNvGrpSpPr/>
        <p:nvPr/>
      </p:nvGrpSpPr>
      <p:grpSpPr>
        <a:xfrm>
          <a:off x="0" y="0"/>
          <a:ext cx="0" cy="0"/>
          <a:chOff x="0" y="0"/>
          <a:chExt cx="0" cy="0"/>
        </a:xfrm>
      </p:grpSpPr>
      <p:sp>
        <p:nvSpPr>
          <p:cNvPr id="2" name="Shape 0"/>
          <p:cNvSpPr/>
          <p:nvPr/>
        </p:nvSpPr>
        <p:spPr>
          <a:xfrm>
            <a:off x="12027103" y="0"/>
            <a:ext cx="164592" cy="6858000"/>
          </a:xfrm>
          <a:prstGeom prst="rect">
            <a:avLst/>
          </a:prstGeom>
          <a:solidFill>
            <a:srgbClr val="FF2A6D"/>
          </a:solidFill>
          <a:ln/>
        </p:spPr>
      </p:sp>
      <p:sp>
        <p:nvSpPr>
          <p:cNvPr id="3" name="Shape 1"/>
          <p:cNvSpPr/>
          <p:nvPr/>
        </p:nvSpPr>
        <p:spPr>
          <a:xfrm>
            <a:off x="0" y="0"/>
            <a:ext cx="164592" cy="914400"/>
          </a:xfrm>
          <a:prstGeom prst="rect">
            <a:avLst/>
          </a:prstGeom>
          <a:solidFill>
            <a:srgbClr val="00F0FF"/>
          </a:solidFill>
          <a:ln/>
        </p:spPr>
      </p:sp>
      <p:sp>
        <p:nvSpPr>
          <p:cNvPr id="4" name="Text 2"/>
          <p:cNvSpPr/>
          <p:nvPr/>
        </p:nvSpPr>
        <p:spPr>
          <a:xfrm>
            <a:off x="548640" y="457200"/>
            <a:ext cx="1828800" cy="365760"/>
          </a:xfrm>
          <a:prstGeom prst="rect">
            <a:avLst/>
          </a:prstGeom>
          <a:noFill/>
          <a:ln/>
        </p:spPr>
        <p:txBody>
          <a:bodyPr wrap="square" lIns="0" tIns="0" rIns="0" bIns="0" rtlCol="0" anchor="ctr"/>
          <a:lstStyle/>
          <a:p>
            <a:pPr indent="0" marL="0">
              <a:buNone/>
            </a:pPr>
            <a:r>
              <a:rPr lang="en-US" sz="1400" b="1" dirty="0">
                <a:solidFill>
                  <a:srgbClr val="FF2A6D"/>
                </a:solidFill>
                <a:latin typeface="Consolas" pitchFamily="34" charset="0"/>
                <a:ea typeface="Consolas" pitchFamily="34" charset="-122"/>
                <a:cs typeface="Consolas" pitchFamily="34" charset="-120"/>
              </a:rPr>
              <a:t>// 07</a:t>
            </a:r>
            <a:endParaRPr lang="en-US" sz="1400" dirty="0"/>
          </a:p>
        </p:txBody>
      </p:sp>
      <p:sp>
        <p:nvSpPr>
          <p:cNvPr id="5" name="Text 3"/>
          <p:cNvSpPr/>
          <p:nvPr/>
        </p:nvSpPr>
        <p:spPr>
          <a:xfrm>
            <a:off x="548640" y="777240"/>
            <a:ext cx="10972800" cy="731520"/>
          </a:xfrm>
          <a:prstGeom prst="rect">
            <a:avLst/>
          </a:prstGeom>
          <a:noFill/>
          <a:ln/>
        </p:spPr>
        <p:txBody>
          <a:bodyPr wrap="square" lIns="0" tIns="0" rIns="0" bIns="0" rtlCol="0" anchor="ctr"/>
          <a:lstStyle/>
          <a:p>
            <a:pPr indent="0" marL="0">
              <a:buNone/>
            </a:pPr>
            <a:r>
              <a:rPr lang="en-US" sz="4000" b="1" spc="200" kern="0" dirty="0">
                <a:solidFill>
                  <a:srgbClr val="FFFFFF"/>
                </a:solidFill>
                <a:latin typeface="Impact" pitchFamily="34" charset="0"/>
                <a:ea typeface="Impact" pitchFamily="34" charset="-122"/>
                <a:cs typeface="Impact" pitchFamily="34" charset="-120"/>
              </a:rPr>
              <a:t>PLAYER &amp; COMBAT SYSTEMS</a:t>
            </a:r>
            <a:endParaRPr lang="en-US" sz="4000" dirty="0"/>
          </a:p>
        </p:txBody>
      </p:sp>
      <p:sp>
        <p:nvSpPr>
          <p:cNvPr id="6" name="Shape 4"/>
          <p:cNvSpPr/>
          <p:nvPr/>
        </p:nvSpPr>
        <p:spPr>
          <a:xfrm>
            <a:off x="548640" y="1554480"/>
            <a:ext cx="640080" cy="36576"/>
          </a:xfrm>
          <a:prstGeom prst="rect">
            <a:avLst/>
          </a:prstGeom>
          <a:solidFill>
            <a:srgbClr val="00F0FF"/>
          </a:solidFill>
          <a:ln/>
        </p:spPr>
      </p:sp>
      <p:sp>
        <p:nvSpPr>
          <p:cNvPr id="7" name="Shape 5"/>
          <p:cNvSpPr/>
          <p:nvPr/>
        </p:nvSpPr>
        <p:spPr>
          <a:xfrm>
            <a:off x="548640" y="1874520"/>
            <a:ext cx="5486400" cy="4434840"/>
          </a:xfrm>
          <a:prstGeom prst="rect">
            <a:avLst/>
          </a:prstGeom>
          <a:solidFill>
            <a:srgbClr val="141938"/>
          </a:solidFill>
          <a:ln/>
        </p:spPr>
      </p:sp>
      <p:sp>
        <p:nvSpPr>
          <p:cNvPr id="8" name="Shape 6"/>
          <p:cNvSpPr/>
          <p:nvPr/>
        </p:nvSpPr>
        <p:spPr>
          <a:xfrm>
            <a:off x="548640" y="1874520"/>
            <a:ext cx="73152" cy="4434840"/>
          </a:xfrm>
          <a:prstGeom prst="rect">
            <a:avLst/>
          </a:prstGeom>
          <a:solidFill>
            <a:srgbClr val="00F0FF"/>
          </a:solidFill>
          <a:ln/>
        </p:spPr>
      </p:sp>
      <p:pic>
        <p:nvPicPr>
          <p:cNvPr id="9" name="Image 0" descr="preencoded.png"/>
          <p:cNvPicPr>
            <a:picLocks noChangeAspect="1"/>
          </p:cNvPicPr>
          <p:nvPr/>
        </p:nvPicPr>
        <p:blipFill>
          <a:blip r:embed="rId1"/>
          <a:stretch>
            <a:fillRect/>
          </a:stretch>
        </p:blipFill>
        <p:spPr>
          <a:xfrm>
            <a:off x="868680" y="2103120"/>
            <a:ext cx="457200" cy="457200"/>
          </a:xfrm>
          <a:prstGeom prst="rect">
            <a:avLst/>
          </a:prstGeom>
        </p:spPr>
      </p:pic>
      <p:sp>
        <p:nvSpPr>
          <p:cNvPr id="10" name="Text 7"/>
          <p:cNvSpPr/>
          <p:nvPr/>
        </p:nvSpPr>
        <p:spPr>
          <a:xfrm>
            <a:off x="1417320" y="2103120"/>
            <a:ext cx="4114800" cy="457200"/>
          </a:xfrm>
          <a:prstGeom prst="rect">
            <a:avLst/>
          </a:prstGeom>
          <a:noFill/>
          <a:ln/>
        </p:spPr>
        <p:txBody>
          <a:bodyPr wrap="square" lIns="0" tIns="0" rIns="0" bIns="0" rtlCol="0" anchor="ctr"/>
          <a:lstStyle/>
          <a:p>
            <a:pPr indent="0" marL="0">
              <a:buNone/>
            </a:pPr>
            <a:r>
              <a:rPr lang="en-US" sz="1800" b="1" spc="300" kern="0" dirty="0">
                <a:solidFill>
                  <a:srgbClr val="00F0FF"/>
                </a:solidFill>
                <a:latin typeface="Impact" pitchFamily="34" charset="0"/>
                <a:ea typeface="Impact" pitchFamily="34" charset="-122"/>
                <a:cs typeface="Impact" pitchFamily="34" charset="-120"/>
              </a:rPr>
              <a:t>PLAYER MODULE</a:t>
            </a:r>
            <a:endParaRPr lang="en-US" sz="1800" dirty="0"/>
          </a:p>
        </p:txBody>
      </p:sp>
      <p:sp>
        <p:nvSpPr>
          <p:cNvPr id="11" name="Text 8"/>
          <p:cNvSpPr/>
          <p:nvPr/>
        </p:nvSpPr>
        <p:spPr>
          <a:xfrm>
            <a:off x="868680" y="2606040"/>
            <a:ext cx="5029200" cy="274320"/>
          </a:xfrm>
          <a:prstGeom prst="rect">
            <a:avLst/>
          </a:prstGeom>
          <a:noFill/>
          <a:ln/>
        </p:spPr>
        <p:txBody>
          <a:bodyPr wrap="square" lIns="0" tIns="0" rIns="0" bIns="0" rtlCol="0" anchor="ctr"/>
          <a:lstStyle/>
          <a:p>
            <a:pPr indent="0" marL="0">
              <a:buNone/>
            </a:pPr>
            <a:r>
              <a:rPr lang="en-US" sz="1100" dirty="0">
                <a:solidFill>
                  <a:srgbClr val="6B7494"/>
                </a:solidFill>
                <a:latin typeface="Consolas" pitchFamily="34" charset="0"/>
                <a:ea typeface="Consolas" pitchFamily="34" charset="-122"/>
                <a:cs typeface="Consolas" pitchFamily="34" charset="-120"/>
              </a:rPr>
              <a:t>Controller.cs</a:t>
            </a:r>
            <a:endParaRPr lang="en-US" sz="1100" dirty="0"/>
          </a:p>
        </p:txBody>
      </p:sp>
      <p:sp>
        <p:nvSpPr>
          <p:cNvPr id="12" name="Text 9"/>
          <p:cNvSpPr/>
          <p:nvPr/>
        </p:nvSpPr>
        <p:spPr>
          <a:xfrm>
            <a:off x="868680" y="3017520"/>
            <a:ext cx="5029200" cy="274320"/>
          </a:xfrm>
          <a:prstGeom prst="rect">
            <a:avLst/>
          </a:prstGeom>
          <a:noFill/>
          <a:ln/>
        </p:spPr>
        <p:txBody>
          <a:bodyPr wrap="square" lIns="0" tIns="0" rIns="0" bIns="0" rtlCol="0" anchor="ctr"/>
          <a:lstStyle/>
          <a:p>
            <a:pPr indent="0" marL="0">
              <a:buNone/>
            </a:pPr>
            <a:r>
              <a:rPr lang="en-US" sz="1000" b="1" spc="300" kern="0" dirty="0">
                <a:solidFill>
                  <a:srgbClr val="00F0FF"/>
                </a:solidFill>
                <a:latin typeface="Consolas" pitchFamily="34" charset="0"/>
                <a:ea typeface="Consolas" pitchFamily="34" charset="-122"/>
                <a:cs typeface="Consolas" pitchFamily="34" charset="-120"/>
              </a:rPr>
              <a:t>MOVEMENT MODES</a:t>
            </a:r>
            <a:endParaRPr lang="en-US" sz="1000" dirty="0"/>
          </a:p>
        </p:txBody>
      </p:sp>
      <p:sp>
        <p:nvSpPr>
          <p:cNvPr id="13" name="Shape 10"/>
          <p:cNvSpPr/>
          <p:nvPr/>
        </p:nvSpPr>
        <p:spPr>
          <a:xfrm>
            <a:off x="868680" y="3410712"/>
            <a:ext cx="54864" cy="164592"/>
          </a:xfrm>
          <a:prstGeom prst="rect">
            <a:avLst/>
          </a:prstGeom>
          <a:solidFill>
            <a:srgbClr val="00F0FF"/>
          </a:solidFill>
          <a:ln/>
        </p:spPr>
      </p:sp>
      <p:sp>
        <p:nvSpPr>
          <p:cNvPr id="14" name="Text 11"/>
          <p:cNvSpPr/>
          <p:nvPr/>
        </p:nvSpPr>
        <p:spPr>
          <a:xfrm>
            <a:off x="1005840" y="3337560"/>
            <a:ext cx="4937760" cy="29260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xml:space="preserve">FreeRoam  </a:t>
            </a:r>
            <a:pPr indent="0" marL="0">
              <a:buNone/>
            </a:pPr>
            <a:r>
              <a:rPr lang="en-US" sz="1200" dirty="0">
                <a:solidFill>
                  <a:srgbClr val="A8B2D1"/>
                </a:solidFill>
                <a:latin typeface="Calibri" pitchFamily="34" charset="0"/>
                <a:ea typeface="Calibri" pitchFamily="34" charset="-122"/>
                <a:cs typeface="Calibri" pitchFamily="34" charset="-120"/>
              </a:rPr>
              <a:t>Unrestricted movement across both axes</a:t>
            </a:r>
            <a:endParaRPr lang="en-US" sz="1200" dirty="0"/>
          </a:p>
        </p:txBody>
      </p:sp>
      <p:sp>
        <p:nvSpPr>
          <p:cNvPr id="15" name="Shape 12"/>
          <p:cNvSpPr/>
          <p:nvPr/>
        </p:nvSpPr>
        <p:spPr>
          <a:xfrm>
            <a:off x="868680" y="3703320"/>
            <a:ext cx="54864" cy="164592"/>
          </a:xfrm>
          <a:prstGeom prst="rect">
            <a:avLst/>
          </a:prstGeom>
          <a:solidFill>
            <a:srgbClr val="00F0FF"/>
          </a:solidFill>
          <a:ln/>
        </p:spPr>
      </p:sp>
      <p:sp>
        <p:nvSpPr>
          <p:cNvPr id="16" name="Text 13"/>
          <p:cNvSpPr/>
          <p:nvPr/>
        </p:nvSpPr>
        <p:spPr>
          <a:xfrm>
            <a:off x="1005840" y="3630168"/>
            <a:ext cx="4937760" cy="29260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xml:space="preserve">Horizontal  </a:t>
            </a:r>
            <a:pPr indent="0" marL="0">
              <a:buNone/>
            </a:pPr>
            <a:r>
              <a:rPr lang="en-US" sz="1200" dirty="0">
                <a:solidFill>
                  <a:srgbClr val="A8B2D1"/>
                </a:solidFill>
                <a:latin typeface="Calibri" pitchFamily="34" charset="0"/>
                <a:ea typeface="Calibri" pitchFamily="34" charset="-122"/>
                <a:cs typeface="Calibri" pitchFamily="34" charset="-120"/>
              </a:rPr>
              <a:t>Movement restricted to the X-axis only</a:t>
            </a:r>
            <a:endParaRPr lang="en-US" sz="1200" dirty="0"/>
          </a:p>
        </p:txBody>
      </p:sp>
      <p:sp>
        <p:nvSpPr>
          <p:cNvPr id="17" name="Shape 14"/>
          <p:cNvSpPr/>
          <p:nvPr/>
        </p:nvSpPr>
        <p:spPr>
          <a:xfrm>
            <a:off x="868680" y="3995928"/>
            <a:ext cx="54864" cy="164592"/>
          </a:xfrm>
          <a:prstGeom prst="rect">
            <a:avLst/>
          </a:prstGeom>
          <a:solidFill>
            <a:srgbClr val="00F0FF"/>
          </a:solidFill>
          <a:ln/>
        </p:spPr>
      </p:sp>
      <p:sp>
        <p:nvSpPr>
          <p:cNvPr id="18" name="Text 15"/>
          <p:cNvSpPr/>
          <p:nvPr/>
        </p:nvSpPr>
        <p:spPr>
          <a:xfrm>
            <a:off x="1005840" y="3922776"/>
            <a:ext cx="4937760" cy="29260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xml:space="preserve">Vertical  </a:t>
            </a:r>
            <a:pPr indent="0" marL="0">
              <a:buNone/>
            </a:pPr>
            <a:r>
              <a:rPr lang="en-US" sz="1200" dirty="0">
                <a:solidFill>
                  <a:srgbClr val="A8B2D1"/>
                </a:solidFill>
                <a:latin typeface="Calibri" pitchFamily="34" charset="0"/>
                <a:ea typeface="Calibri" pitchFamily="34" charset="-122"/>
                <a:cs typeface="Calibri" pitchFamily="34" charset="-120"/>
              </a:rPr>
              <a:t>Movement restricted to the Y-axis only</a:t>
            </a:r>
            <a:endParaRPr lang="en-US" sz="1200" dirty="0"/>
          </a:p>
        </p:txBody>
      </p:sp>
      <p:sp>
        <p:nvSpPr>
          <p:cNvPr id="19" name="Shape 16"/>
          <p:cNvSpPr/>
          <p:nvPr/>
        </p:nvSpPr>
        <p:spPr>
          <a:xfrm>
            <a:off x="868680" y="4288536"/>
            <a:ext cx="54864" cy="164592"/>
          </a:xfrm>
          <a:prstGeom prst="rect">
            <a:avLst/>
          </a:prstGeom>
          <a:solidFill>
            <a:srgbClr val="00F0FF"/>
          </a:solidFill>
          <a:ln/>
        </p:spPr>
      </p:sp>
      <p:sp>
        <p:nvSpPr>
          <p:cNvPr id="20" name="Text 17"/>
          <p:cNvSpPr/>
          <p:nvPr/>
        </p:nvSpPr>
        <p:spPr>
          <a:xfrm>
            <a:off x="1005840" y="4215384"/>
            <a:ext cx="4937760" cy="29260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xml:space="preserve">Asteroids  </a:t>
            </a:r>
            <a:pPr indent="0" marL="0">
              <a:buNone/>
            </a:pPr>
            <a:r>
              <a:rPr lang="en-US" sz="1200" dirty="0">
                <a:solidFill>
                  <a:srgbClr val="A8B2D1"/>
                </a:solidFill>
                <a:latin typeface="Calibri" pitchFamily="34" charset="0"/>
                <a:ea typeface="Calibri" pitchFamily="34" charset="-122"/>
                <a:cs typeface="Calibri" pitchFamily="34" charset="-120"/>
              </a:rPr>
              <a:t>Rigidbody2D propulsion with ship rotation</a:t>
            </a:r>
            <a:endParaRPr lang="en-US" sz="1200" dirty="0"/>
          </a:p>
        </p:txBody>
      </p:sp>
      <p:sp>
        <p:nvSpPr>
          <p:cNvPr id="21" name="Text 18"/>
          <p:cNvSpPr/>
          <p:nvPr/>
        </p:nvSpPr>
        <p:spPr>
          <a:xfrm>
            <a:off x="868680" y="4617720"/>
            <a:ext cx="5029200" cy="274320"/>
          </a:xfrm>
          <a:prstGeom prst="rect">
            <a:avLst/>
          </a:prstGeom>
          <a:noFill/>
          <a:ln/>
        </p:spPr>
        <p:txBody>
          <a:bodyPr wrap="square" lIns="0" tIns="0" rIns="0" bIns="0" rtlCol="0" anchor="ctr"/>
          <a:lstStyle/>
          <a:p>
            <a:pPr indent="0" marL="0">
              <a:buNone/>
            </a:pPr>
            <a:r>
              <a:rPr lang="en-US" sz="1000" b="1" spc="300" kern="0" dirty="0">
                <a:solidFill>
                  <a:srgbClr val="00F0FF"/>
                </a:solidFill>
                <a:latin typeface="Consolas" pitchFamily="34" charset="0"/>
                <a:ea typeface="Consolas" pitchFamily="34" charset="-122"/>
                <a:cs typeface="Consolas" pitchFamily="34" charset="-120"/>
              </a:rPr>
              <a:t>AIMING MODES</a:t>
            </a:r>
            <a:endParaRPr lang="en-US" sz="1000" dirty="0"/>
          </a:p>
        </p:txBody>
      </p:sp>
      <p:sp>
        <p:nvSpPr>
          <p:cNvPr id="22" name="Shape 19"/>
          <p:cNvSpPr/>
          <p:nvPr/>
        </p:nvSpPr>
        <p:spPr>
          <a:xfrm>
            <a:off x="868680" y="5010912"/>
            <a:ext cx="54864" cy="164592"/>
          </a:xfrm>
          <a:prstGeom prst="rect">
            <a:avLst/>
          </a:prstGeom>
          <a:solidFill>
            <a:srgbClr val="00F0FF"/>
          </a:solidFill>
          <a:ln/>
        </p:spPr>
      </p:sp>
      <p:sp>
        <p:nvSpPr>
          <p:cNvPr id="23" name="Text 20"/>
          <p:cNvSpPr/>
          <p:nvPr/>
        </p:nvSpPr>
        <p:spPr>
          <a:xfrm>
            <a:off x="1005840" y="4937760"/>
            <a:ext cx="4937760" cy="36576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xml:space="preserve">AimTowardsMouse  </a:t>
            </a:r>
            <a:pPr indent="0" marL="0">
              <a:buNone/>
            </a:pPr>
            <a:r>
              <a:rPr lang="en-US" sz="1200" dirty="0">
                <a:solidFill>
                  <a:srgbClr val="A8B2D1"/>
                </a:solidFill>
                <a:latin typeface="Calibri" pitchFamily="34" charset="0"/>
                <a:ea typeface="Calibri" pitchFamily="34" charset="-122"/>
                <a:cs typeface="Calibri" pitchFamily="34" charset="-120"/>
              </a:rPr>
              <a:t>Camera.ScreenToWorldPoint converts cursor to world space</a:t>
            </a:r>
            <a:endParaRPr lang="en-US" sz="1200" dirty="0"/>
          </a:p>
        </p:txBody>
      </p:sp>
      <p:sp>
        <p:nvSpPr>
          <p:cNvPr id="24" name="Shape 21"/>
          <p:cNvSpPr/>
          <p:nvPr/>
        </p:nvSpPr>
        <p:spPr>
          <a:xfrm>
            <a:off x="868680" y="5376672"/>
            <a:ext cx="54864" cy="164592"/>
          </a:xfrm>
          <a:prstGeom prst="rect">
            <a:avLst/>
          </a:prstGeom>
          <a:solidFill>
            <a:srgbClr val="00F0FF"/>
          </a:solidFill>
          <a:ln/>
        </p:spPr>
      </p:sp>
      <p:sp>
        <p:nvSpPr>
          <p:cNvPr id="25" name="Text 22"/>
          <p:cNvSpPr/>
          <p:nvPr/>
        </p:nvSpPr>
        <p:spPr>
          <a:xfrm>
            <a:off x="1005840" y="5303520"/>
            <a:ext cx="4937760" cy="36576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xml:space="preserve">AimForwards  </a:t>
            </a:r>
            <a:pPr indent="0" marL="0">
              <a:buNone/>
            </a:pPr>
            <a:r>
              <a:rPr lang="en-US" sz="1200" dirty="0">
                <a:solidFill>
                  <a:srgbClr val="A8B2D1"/>
                </a:solidFill>
                <a:latin typeface="Calibri" pitchFamily="34" charset="0"/>
                <a:ea typeface="Calibri" pitchFamily="34" charset="-122"/>
                <a:cs typeface="Calibri" pitchFamily="34" charset="-120"/>
              </a:rPr>
              <a:t>Ship faces its current direction of travel</a:t>
            </a:r>
            <a:endParaRPr lang="en-US" sz="1200" dirty="0"/>
          </a:p>
        </p:txBody>
      </p:sp>
      <p:sp>
        <p:nvSpPr>
          <p:cNvPr id="26" name="Text 23"/>
          <p:cNvSpPr/>
          <p:nvPr/>
        </p:nvSpPr>
        <p:spPr>
          <a:xfrm>
            <a:off x="868680" y="5852160"/>
            <a:ext cx="5029200" cy="365760"/>
          </a:xfrm>
          <a:prstGeom prst="rect">
            <a:avLst/>
          </a:prstGeom>
          <a:noFill/>
          <a:ln/>
        </p:spPr>
        <p:txBody>
          <a:bodyPr wrap="square" lIns="0" tIns="0" rIns="0" bIns="0" rtlCol="0" anchor="ctr"/>
          <a:lstStyle/>
          <a:p>
            <a:pPr indent="0" marL="0">
              <a:buNone/>
            </a:pPr>
            <a:r>
              <a:rPr lang="en-US" sz="1100" i="1" dirty="0">
                <a:solidFill>
                  <a:srgbClr val="00F0FF"/>
                </a:solidFill>
                <a:latin typeface="Georgia" pitchFamily="34" charset="0"/>
                <a:ea typeface="Georgia" pitchFamily="34" charset="-122"/>
                <a:cs typeface="Georgia" pitchFamily="34" charset="-120"/>
              </a:rPr>
              <a:t>Input via Unity's new Input System — moveAction &amp; lookAction (rebindable)</a:t>
            </a:r>
            <a:endParaRPr lang="en-US" sz="1100" dirty="0"/>
          </a:p>
        </p:txBody>
      </p:sp>
      <p:sp>
        <p:nvSpPr>
          <p:cNvPr id="27" name="Shape 24"/>
          <p:cNvSpPr/>
          <p:nvPr/>
        </p:nvSpPr>
        <p:spPr>
          <a:xfrm>
            <a:off x="6263640" y="1874520"/>
            <a:ext cx="5349240" cy="4434840"/>
          </a:xfrm>
          <a:prstGeom prst="rect">
            <a:avLst/>
          </a:prstGeom>
          <a:solidFill>
            <a:srgbClr val="141938"/>
          </a:solidFill>
          <a:ln/>
        </p:spPr>
      </p:sp>
      <p:sp>
        <p:nvSpPr>
          <p:cNvPr id="28" name="Shape 25"/>
          <p:cNvSpPr/>
          <p:nvPr/>
        </p:nvSpPr>
        <p:spPr>
          <a:xfrm>
            <a:off x="6263640" y="1874520"/>
            <a:ext cx="73152" cy="4434840"/>
          </a:xfrm>
          <a:prstGeom prst="rect">
            <a:avLst/>
          </a:prstGeom>
          <a:solidFill>
            <a:srgbClr val="FF2A6D"/>
          </a:solidFill>
          <a:ln/>
        </p:spPr>
      </p:sp>
      <p:pic>
        <p:nvPicPr>
          <p:cNvPr id="29" name="Image 1" descr="preencoded.png"/>
          <p:cNvPicPr>
            <a:picLocks noChangeAspect="1"/>
          </p:cNvPicPr>
          <p:nvPr/>
        </p:nvPicPr>
        <p:blipFill>
          <a:blip r:embed="rId2"/>
          <a:stretch>
            <a:fillRect/>
          </a:stretch>
        </p:blipFill>
        <p:spPr>
          <a:xfrm>
            <a:off x="6583680" y="2103120"/>
            <a:ext cx="457200" cy="457200"/>
          </a:xfrm>
          <a:prstGeom prst="rect">
            <a:avLst/>
          </a:prstGeom>
        </p:spPr>
      </p:pic>
      <p:sp>
        <p:nvSpPr>
          <p:cNvPr id="30" name="Text 26"/>
          <p:cNvSpPr/>
          <p:nvPr/>
        </p:nvSpPr>
        <p:spPr>
          <a:xfrm>
            <a:off x="7132320" y="2103120"/>
            <a:ext cx="4114800" cy="457200"/>
          </a:xfrm>
          <a:prstGeom prst="rect">
            <a:avLst/>
          </a:prstGeom>
          <a:noFill/>
          <a:ln/>
        </p:spPr>
        <p:txBody>
          <a:bodyPr wrap="square" lIns="0" tIns="0" rIns="0" bIns="0" rtlCol="0" anchor="ctr"/>
          <a:lstStyle/>
          <a:p>
            <a:pPr indent="0" marL="0">
              <a:buNone/>
            </a:pPr>
            <a:r>
              <a:rPr lang="en-US" sz="1800" b="1" spc="300" kern="0" dirty="0">
                <a:solidFill>
                  <a:srgbClr val="FF2A6D"/>
                </a:solidFill>
                <a:latin typeface="Impact" pitchFamily="34" charset="0"/>
                <a:ea typeface="Impact" pitchFamily="34" charset="-122"/>
                <a:cs typeface="Impact" pitchFamily="34" charset="-120"/>
              </a:rPr>
              <a:t>COMBAT SYSTEMS</a:t>
            </a:r>
            <a:endParaRPr lang="en-US" sz="1800" dirty="0"/>
          </a:p>
        </p:txBody>
      </p:sp>
      <p:sp>
        <p:nvSpPr>
          <p:cNvPr id="31" name="Text 27"/>
          <p:cNvSpPr/>
          <p:nvPr/>
        </p:nvSpPr>
        <p:spPr>
          <a:xfrm>
            <a:off x="6583680" y="2606040"/>
            <a:ext cx="5029200" cy="274320"/>
          </a:xfrm>
          <a:prstGeom prst="rect">
            <a:avLst/>
          </a:prstGeom>
          <a:noFill/>
          <a:ln/>
        </p:spPr>
        <p:txBody>
          <a:bodyPr wrap="square" lIns="0" tIns="0" rIns="0" bIns="0" rtlCol="0" anchor="ctr"/>
          <a:lstStyle/>
          <a:p>
            <a:pPr indent="0" marL="0">
              <a:buNone/>
            </a:pPr>
            <a:r>
              <a:rPr lang="en-US" sz="1100" dirty="0">
                <a:solidFill>
                  <a:srgbClr val="6B7494"/>
                </a:solidFill>
                <a:latin typeface="Consolas" pitchFamily="34" charset="0"/>
                <a:ea typeface="Consolas" pitchFamily="34" charset="-122"/>
                <a:cs typeface="Consolas" pitchFamily="34" charset="-120"/>
              </a:rPr>
              <a:t>Damage.cs  •  Health.cs  •  Projectile.cs</a:t>
            </a:r>
            <a:endParaRPr lang="en-US" sz="1100" dirty="0"/>
          </a:p>
        </p:txBody>
      </p:sp>
      <p:pic>
        <p:nvPicPr>
          <p:cNvPr id="32" name="Image 2" descr="preencoded.png"/>
          <p:cNvPicPr>
            <a:picLocks noChangeAspect="1"/>
          </p:cNvPicPr>
          <p:nvPr/>
        </p:nvPicPr>
        <p:blipFill>
          <a:blip r:embed="rId3"/>
          <a:stretch>
            <a:fillRect/>
          </a:stretch>
        </p:blipFill>
        <p:spPr>
          <a:xfrm>
            <a:off x="6583680" y="3063240"/>
            <a:ext cx="411480" cy="411480"/>
          </a:xfrm>
          <a:prstGeom prst="rect">
            <a:avLst/>
          </a:prstGeom>
        </p:spPr>
      </p:pic>
      <p:sp>
        <p:nvSpPr>
          <p:cNvPr id="33" name="Text 28"/>
          <p:cNvSpPr/>
          <p:nvPr/>
        </p:nvSpPr>
        <p:spPr>
          <a:xfrm>
            <a:off x="7086600" y="3017520"/>
            <a:ext cx="457200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Damage System</a:t>
            </a:r>
            <a:endParaRPr lang="en-US" sz="1400" dirty="0"/>
          </a:p>
        </p:txBody>
      </p:sp>
      <p:sp>
        <p:nvSpPr>
          <p:cNvPr id="34" name="Text 29"/>
          <p:cNvSpPr/>
          <p:nvPr/>
        </p:nvSpPr>
        <p:spPr>
          <a:xfrm>
            <a:off x="7086600" y="3383280"/>
            <a:ext cx="4434840" cy="640080"/>
          </a:xfrm>
          <a:prstGeom prst="rect">
            <a:avLst/>
          </a:prstGeom>
          <a:noFill/>
          <a:ln/>
        </p:spPr>
        <p:txBody>
          <a:bodyPr wrap="square" lIns="0" tIns="0" rIns="0" bIns="0" rtlCol="0" anchor="ctr"/>
          <a:lstStyle/>
          <a:p>
            <a:pPr indent="0" marL="0">
              <a:buNone/>
            </a:pPr>
            <a:r>
              <a:rPr lang="en-US" sz="1100" dirty="0">
                <a:solidFill>
                  <a:srgbClr val="A8B2D1"/>
                </a:solidFill>
                <a:latin typeface="Calibri" pitchFamily="34" charset="0"/>
                <a:ea typeface="Calibri" pitchFamily="34" charset="-122"/>
                <a:cs typeface="Calibri" pitchFamily="34" charset="-120"/>
              </a:rPr>
              <a:t>Detects collisions via OnTriggerEnter2D, OnTriggerStay2D, and OnCollisionEnter2D. Applies damage when teamId values differ — preventing friendly fire.</a:t>
            </a:r>
            <a:endParaRPr lang="en-US" sz="1100" dirty="0"/>
          </a:p>
        </p:txBody>
      </p:sp>
      <p:pic>
        <p:nvPicPr>
          <p:cNvPr id="35" name="Image 3" descr="preencoded.png"/>
          <p:cNvPicPr>
            <a:picLocks noChangeAspect="1"/>
          </p:cNvPicPr>
          <p:nvPr/>
        </p:nvPicPr>
        <p:blipFill>
          <a:blip r:embed="rId4"/>
          <a:stretch>
            <a:fillRect/>
          </a:stretch>
        </p:blipFill>
        <p:spPr>
          <a:xfrm>
            <a:off x="6583680" y="4160520"/>
            <a:ext cx="411480" cy="411480"/>
          </a:xfrm>
          <a:prstGeom prst="rect">
            <a:avLst/>
          </a:prstGeom>
        </p:spPr>
      </p:pic>
      <p:sp>
        <p:nvSpPr>
          <p:cNvPr id="36" name="Text 30"/>
          <p:cNvSpPr/>
          <p:nvPr/>
        </p:nvSpPr>
        <p:spPr>
          <a:xfrm>
            <a:off x="7086600" y="4114800"/>
            <a:ext cx="457200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Health &amp; Lives</a:t>
            </a:r>
            <a:endParaRPr lang="en-US" sz="1400" dirty="0"/>
          </a:p>
        </p:txBody>
      </p:sp>
      <p:sp>
        <p:nvSpPr>
          <p:cNvPr id="37" name="Text 31"/>
          <p:cNvSpPr/>
          <p:nvPr/>
        </p:nvSpPr>
        <p:spPr>
          <a:xfrm>
            <a:off x="7086600" y="4480560"/>
            <a:ext cx="4434840" cy="640080"/>
          </a:xfrm>
          <a:prstGeom prst="rect">
            <a:avLst/>
          </a:prstGeom>
          <a:noFill/>
          <a:ln/>
        </p:spPr>
        <p:txBody>
          <a:bodyPr wrap="square" lIns="0" tIns="0" rIns="0" bIns="0" rtlCol="0" anchor="ctr"/>
          <a:lstStyle/>
          <a:p>
            <a:pPr indent="0" marL="0">
              <a:buNone/>
            </a:pPr>
            <a:r>
              <a:rPr lang="en-US" sz="1100" dirty="0">
                <a:solidFill>
                  <a:srgbClr val="A8B2D1"/>
                </a:solidFill>
                <a:latin typeface="Calibri" pitchFamily="34" charset="0"/>
                <a:ea typeface="Calibri" pitchFamily="34" charset="-122"/>
                <a:cs typeface="Calibri" pitchFamily="34" charset="-120"/>
              </a:rPr>
              <a:t>Tracks currentHealth, applies invincibility frames after each hit, manages respawn cycles, and triggers GameOver when lives are exhausted.</a:t>
            </a:r>
            <a:endParaRPr lang="en-US" sz="1100" dirty="0"/>
          </a:p>
        </p:txBody>
      </p:sp>
      <p:pic>
        <p:nvPicPr>
          <p:cNvPr id="38" name="Image 4" descr="preencoded.png"/>
          <p:cNvPicPr>
            <a:picLocks noChangeAspect="1"/>
          </p:cNvPicPr>
          <p:nvPr/>
        </p:nvPicPr>
        <p:blipFill>
          <a:blip r:embed="rId5"/>
          <a:stretch>
            <a:fillRect/>
          </a:stretch>
        </p:blipFill>
        <p:spPr>
          <a:xfrm>
            <a:off x="6583680" y="5257800"/>
            <a:ext cx="411480" cy="411480"/>
          </a:xfrm>
          <a:prstGeom prst="rect">
            <a:avLst/>
          </a:prstGeom>
        </p:spPr>
      </p:pic>
      <p:sp>
        <p:nvSpPr>
          <p:cNvPr id="39" name="Text 32"/>
          <p:cNvSpPr/>
          <p:nvPr/>
        </p:nvSpPr>
        <p:spPr>
          <a:xfrm>
            <a:off x="7086600" y="5212080"/>
            <a:ext cx="457200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Projectiles</a:t>
            </a:r>
            <a:endParaRPr lang="en-US" sz="1400" dirty="0"/>
          </a:p>
        </p:txBody>
      </p:sp>
      <p:sp>
        <p:nvSpPr>
          <p:cNvPr id="40" name="Text 33"/>
          <p:cNvSpPr/>
          <p:nvPr/>
        </p:nvSpPr>
        <p:spPr>
          <a:xfrm>
            <a:off x="7086600" y="5577840"/>
            <a:ext cx="4434840" cy="640080"/>
          </a:xfrm>
          <a:prstGeom prst="rect">
            <a:avLst/>
          </a:prstGeom>
          <a:noFill/>
          <a:ln/>
        </p:spPr>
        <p:txBody>
          <a:bodyPr wrap="square" lIns="0" tIns="0" rIns="0" bIns="0" rtlCol="0" anchor="ctr"/>
          <a:lstStyle/>
          <a:p>
            <a:pPr indent="0" marL="0">
              <a:buNone/>
            </a:pPr>
            <a:r>
              <a:rPr lang="en-US" sz="1100" dirty="0">
                <a:solidFill>
                  <a:srgbClr val="A8B2D1"/>
                </a:solidFill>
                <a:latin typeface="Calibri" pitchFamily="34" charset="0"/>
                <a:ea typeface="Calibri" pitchFamily="34" charset="-122"/>
                <a:cs typeface="Calibri" pitchFamily="34" charset="-120"/>
              </a:rPr>
              <a:t>Move forward along transform.up at configurable speed each frame. Spawned by ShootingController, destroyed on impact (destroyAfterDamage).</a:t>
            </a:r>
            <a:endParaRPr lang="en-US" sz="1100" dirty="0"/>
          </a:p>
        </p:txBody>
      </p:sp>
      <p:sp>
        <p:nvSpPr>
          <p:cNvPr id="41" name="Text 34"/>
          <p:cNvSpPr/>
          <p:nvPr/>
        </p:nvSpPr>
        <p:spPr>
          <a:xfrm>
            <a:off x="457200" y="6446520"/>
            <a:ext cx="5486400" cy="274320"/>
          </a:xfrm>
          <a:prstGeom prst="rect">
            <a:avLst/>
          </a:prstGeom>
          <a:noFill/>
          <a:ln/>
        </p:spPr>
        <p:txBody>
          <a:bodyPr wrap="square" lIns="0" tIns="0" rIns="0" bIns="0" rtlCol="0" anchor="ctr"/>
          <a:lstStyle/>
          <a:p>
            <a:pPr indent="0" marL="0">
              <a:buNone/>
            </a:pPr>
            <a:r>
              <a:rPr lang="en-US" sz="1000" spc="300" kern="0" dirty="0">
                <a:solidFill>
                  <a:srgbClr val="6B7494"/>
                </a:solidFill>
                <a:latin typeface="Consolas" pitchFamily="34" charset="0"/>
                <a:ea typeface="Consolas" pitchFamily="34" charset="-122"/>
                <a:cs typeface="Consolas" pitchFamily="34" charset="-120"/>
              </a:rPr>
              <a:t>PLAYER &amp; COMBAT</a:t>
            </a:r>
            <a:endParaRPr lang="en-US" sz="1000" dirty="0"/>
          </a:p>
        </p:txBody>
      </p:sp>
      <p:sp>
        <p:nvSpPr>
          <p:cNvPr id="42" name="Text 35"/>
          <p:cNvSpPr/>
          <p:nvPr/>
        </p:nvSpPr>
        <p:spPr>
          <a:xfrm>
            <a:off x="10362895" y="6446520"/>
            <a:ext cx="1371600" cy="274320"/>
          </a:xfrm>
          <a:prstGeom prst="rect">
            <a:avLst/>
          </a:prstGeom>
          <a:noFill/>
          <a:ln/>
        </p:spPr>
        <p:txBody>
          <a:bodyPr wrap="square" lIns="0" tIns="0" rIns="0" bIns="0" rtlCol="0" anchor="ctr"/>
          <a:lstStyle/>
          <a:p>
            <a:pPr algn="r" indent="0" marL="0">
              <a:buNone/>
            </a:pPr>
            <a:r>
              <a:rPr lang="en-US" sz="1000" spc="200" kern="0" dirty="0">
                <a:solidFill>
                  <a:srgbClr val="00F0FF"/>
                </a:solidFill>
                <a:latin typeface="Consolas" pitchFamily="34" charset="0"/>
                <a:ea typeface="Consolas" pitchFamily="34" charset="-122"/>
                <a:cs typeface="Consolas" pitchFamily="34" charset="-120"/>
              </a:rPr>
              <a:t>08 / 14</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E27"/>
        </a:solidFill>
      </p:bgPr>
    </p:bg>
    <p:spTree>
      <p:nvGrpSpPr>
        <p:cNvPr id="1" name=""/>
        <p:cNvGrpSpPr/>
        <p:nvPr/>
      </p:nvGrpSpPr>
      <p:grpSpPr>
        <a:xfrm>
          <a:off x="0" y="0"/>
          <a:ext cx="0" cy="0"/>
          <a:chOff x="0" y="0"/>
          <a:chExt cx="0" cy="0"/>
        </a:xfrm>
      </p:grpSpPr>
      <p:sp>
        <p:nvSpPr>
          <p:cNvPr id="2" name="Shape 0"/>
          <p:cNvSpPr/>
          <p:nvPr/>
        </p:nvSpPr>
        <p:spPr>
          <a:xfrm>
            <a:off x="12027103" y="0"/>
            <a:ext cx="164592" cy="6858000"/>
          </a:xfrm>
          <a:prstGeom prst="rect">
            <a:avLst/>
          </a:prstGeom>
          <a:solidFill>
            <a:srgbClr val="FF2A6D"/>
          </a:solidFill>
          <a:ln/>
        </p:spPr>
      </p:sp>
      <p:sp>
        <p:nvSpPr>
          <p:cNvPr id="3" name="Shape 1"/>
          <p:cNvSpPr/>
          <p:nvPr/>
        </p:nvSpPr>
        <p:spPr>
          <a:xfrm>
            <a:off x="0" y="0"/>
            <a:ext cx="164592" cy="914400"/>
          </a:xfrm>
          <a:prstGeom prst="rect">
            <a:avLst/>
          </a:prstGeom>
          <a:solidFill>
            <a:srgbClr val="00F0FF"/>
          </a:solidFill>
          <a:ln/>
        </p:spPr>
      </p:sp>
      <p:sp>
        <p:nvSpPr>
          <p:cNvPr id="4" name="Text 2"/>
          <p:cNvSpPr/>
          <p:nvPr/>
        </p:nvSpPr>
        <p:spPr>
          <a:xfrm>
            <a:off x="548640" y="457200"/>
            <a:ext cx="1828800" cy="365760"/>
          </a:xfrm>
          <a:prstGeom prst="rect">
            <a:avLst/>
          </a:prstGeom>
          <a:noFill/>
          <a:ln/>
        </p:spPr>
        <p:txBody>
          <a:bodyPr wrap="square" lIns="0" tIns="0" rIns="0" bIns="0" rtlCol="0" anchor="ctr"/>
          <a:lstStyle/>
          <a:p>
            <a:pPr indent="0" marL="0">
              <a:buNone/>
            </a:pPr>
            <a:r>
              <a:rPr lang="en-US" sz="1400" b="1" dirty="0">
                <a:solidFill>
                  <a:srgbClr val="FF2A6D"/>
                </a:solidFill>
                <a:latin typeface="Consolas" pitchFamily="34" charset="0"/>
                <a:ea typeface="Consolas" pitchFamily="34" charset="-122"/>
                <a:cs typeface="Consolas" pitchFamily="34" charset="-120"/>
              </a:rPr>
              <a:t>// 08</a:t>
            </a:r>
            <a:endParaRPr lang="en-US" sz="1400" dirty="0"/>
          </a:p>
        </p:txBody>
      </p:sp>
      <p:sp>
        <p:nvSpPr>
          <p:cNvPr id="5" name="Text 3"/>
          <p:cNvSpPr/>
          <p:nvPr/>
        </p:nvSpPr>
        <p:spPr>
          <a:xfrm>
            <a:off x="548640" y="777240"/>
            <a:ext cx="10972800" cy="731520"/>
          </a:xfrm>
          <a:prstGeom prst="rect">
            <a:avLst/>
          </a:prstGeom>
          <a:noFill/>
          <a:ln/>
        </p:spPr>
        <p:txBody>
          <a:bodyPr wrap="square" lIns="0" tIns="0" rIns="0" bIns="0" rtlCol="0" anchor="ctr"/>
          <a:lstStyle/>
          <a:p>
            <a:pPr indent="0" marL="0">
              <a:buNone/>
            </a:pPr>
            <a:r>
              <a:rPr lang="en-US" sz="4000" b="1" spc="200" kern="0" dirty="0">
                <a:solidFill>
                  <a:srgbClr val="FFFFFF"/>
                </a:solidFill>
                <a:latin typeface="Impact" pitchFamily="34" charset="0"/>
                <a:ea typeface="Impact" pitchFamily="34" charset="-122"/>
                <a:cs typeface="Impact" pitchFamily="34" charset="-120"/>
              </a:rPr>
              <a:t>AI, MANAGER, UI &amp; CAMERA</a:t>
            </a:r>
            <a:endParaRPr lang="en-US" sz="4000" dirty="0"/>
          </a:p>
        </p:txBody>
      </p:sp>
      <p:sp>
        <p:nvSpPr>
          <p:cNvPr id="6" name="Shape 4"/>
          <p:cNvSpPr/>
          <p:nvPr/>
        </p:nvSpPr>
        <p:spPr>
          <a:xfrm>
            <a:off x="548640" y="1554480"/>
            <a:ext cx="640080" cy="36576"/>
          </a:xfrm>
          <a:prstGeom prst="rect">
            <a:avLst/>
          </a:prstGeom>
          <a:solidFill>
            <a:srgbClr val="00F0FF"/>
          </a:solidFill>
          <a:ln/>
        </p:spPr>
      </p:sp>
      <p:sp>
        <p:nvSpPr>
          <p:cNvPr id="7" name="Shape 5"/>
          <p:cNvSpPr/>
          <p:nvPr/>
        </p:nvSpPr>
        <p:spPr>
          <a:xfrm>
            <a:off x="548640" y="1874520"/>
            <a:ext cx="5532120" cy="2240280"/>
          </a:xfrm>
          <a:prstGeom prst="rect">
            <a:avLst/>
          </a:prstGeom>
          <a:solidFill>
            <a:srgbClr val="141938"/>
          </a:solidFill>
          <a:ln/>
        </p:spPr>
      </p:sp>
      <p:sp>
        <p:nvSpPr>
          <p:cNvPr id="8" name="Shape 6"/>
          <p:cNvSpPr/>
          <p:nvPr/>
        </p:nvSpPr>
        <p:spPr>
          <a:xfrm>
            <a:off x="548640" y="1874520"/>
            <a:ext cx="5532120" cy="54864"/>
          </a:xfrm>
          <a:prstGeom prst="rect">
            <a:avLst/>
          </a:prstGeom>
          <a:solidFill>
            <a:srgbClr val="FF2A6D"/>
          </a:solidFill>
          <a:ln/>
        </p:spPr>
      </p:sp>
      <p:sp>
        <p:nvSpPr>
          <p:cNvPr id="9" name="Shape 7"/>
          <p:cNvSpPr/>
          <p:nvPr/>
        </p:nvSpPr>
        <p:spPr>
          <a:xfrm>
            <a:off x="822960" y="2148840"/>
            <a:ext cx="777240" cy="777240"/>
          </a:xfrm>
          <a:prstGeom prst="ellipse">
            <a:avLst/>
          </a:prstGeom>
          <a:solidFill>
            <a:srgbClr val="1C2347"/>
          </a:solidFill>
          <a:ln w="19050">
            <a:solidFill>
              <a:srgbClr val="FF2A6D"/>
            </a:solidFill>
            <a:prstDash val="solid"/>
          </a:ln>
        </p:spPr>
      </p:sp>
      <p:pic>
        <p:nvPicPr>
          <p:cNvPr id="10" name="Image 0" descr="preencoded.png"/>
          <p:cNvPicPr>
            <a:picLocks noChangeAspect="1"/>
          </p:cNvPicPr>
          <p:nvPr/>
        </p:nvPicPr>
        <p:blipFill>
          <a:blip r:embed="rId1"/>
          <a:stretch>
            <a:fillRect/>
          </a:stretch>
        </p:blipFill>
        <p:spPr>
          <a:xfrm>
            <a:off x="987552" y="2313432"/>
            <a:ext cx="448056" cy="448056"/>
          </a:xfrm>
          <a:prstGeom prst="rect">
            <a:avLst/>
          </a:prstGeom>
        </p:spPr>
      </p:pic>
      <p:sp>
        <p:nvSpPr>
          <p:cNvPr id="11" name="Text 8"/>
          <p:cNvSpPr/>
          <p:nvPr/>
        </p:nvSpPr>
        <p:spPr>
          <a:xfrm>
            <a:off x="1737360" y="2167128"/>
            <a:ext cx="4160520" cy="365760"/>
          </a:xfrm>
          <a:prstGeom prst="rect">
            <a:avLst/>
          </a:prstGeom>
          <a:noFill/>
          <a:ln/>
        </p:spPr>
        <p:txBody>
          <a:bodyPr wrap="square" lIns="0" tIns="0" rIns="0" bIns="0" rtlCol="0" anchor="ctr"/>
          <a:lstStyle/>
          <a:p>
            <a:pPr indent="0" marL="0">
              <a:buNone/>
            </a:pPr>
            <a:r>
              <a:rPr lang="en-US" sz="1800" b="1" spc="200" kern="0" dirty="0">
                <a:solidFill>
                  <a:srgbClr val="FFFFFF"/>
                </a:solidFill>
                <a:latin typeface="Impact" pitchFamily="34" charset="0"/>
                <a:ea typeface="Impact" pitchFamily="34" charset="-122"/>
                <a:cs typeface="Impact" pitchFamily="34" charset="-120"/>
              </a:rPr>
              <a:t>ENEMY AI</a:t>
            </a:r>
            <a:endParaRPr lang="en-US" sz="1800" dirty="0"/>
          </a:p>
        </p:txBody>
      </p:sp>
      <p:sp>
        <p:nvSpPr>
          <p:cNvPr id="12" name="Text 9"/>
          <p:cNvSpPr/>
          <p:nvPr/>
        </p:nvSpPr>
        <p:spPr>
          <a:xfrm>
            <a:off x="1737360" y="2514600"/>
            <a:ext cx="4160520" cy="274320"/>
          </a:xfrm>
          <a:prstGeom prst="rect">
            <a:avLst/>
          </a:prstGeom>
          <a:noFill/>
          <a:ln/>
        </p:spPr>
        <p:txBody>
          <a:bodyPr wrap="square" lIns="0" tIns="0" rIns="0" bIns="0" rtlCol="0" anchor="ctr"/>
          <a:lstStyle/>
          <a:p>
            <a:pPr indent="0" marL="0">
              <a:buNone/>
            </a:pPr>
            <a:r>
              <a:rPr lang="en-US" sz="1000" dirty="0">
                <a:solidFill>
                  <a:srgbClr val="FF2A6D"/>
                </a:solidFill>
                <a:latin typeface="Consolas" pitchFamily="34" charset="0"/>
                <a:ea typeface="Consolas" pitchFamily="34" charset="-122"/>
                <a:cs typeface="Consolas" pitchFamily="34" charset="-120"/>
              </a:rPr>
              <a:t>Enemies.cs</a:t>
            </a:r>
            <a:endParaRPr lang="en-US" sz="1000" dirty="0"/>
          </a:p>
        </p:txBody>
      </p:sp>
      <p:sp>
        <p:nvSpPr>
          <p:cNvPr id="13" name="Text 10"/>
          <p:cNvSpPr/>
          <p:nvPr/>
        </p:nvSpPr>
        <p:spPr>
          <a:xfrm>
            <a:off x="822960" y="3017520"/>
            <a:ext cx="5074920" cy="1005840"/>
          </a:xfrm>
          <a:prstGeom prst="rect">
            <a:avLst/>
          </a:prstGeom>
          <a:noFill/>
          <a:ln/>
        </p:spPr>
        <p:txBody>
          <a:bodyPr wrap="square" lIns="0" tIns="0" rIns="0" bIns="0" rtlCol="0" anchor="ctr"/>
          <a:lstStyle/>
          <a:p>
            <a:pPr indent="0" marL="0">
              <a:buNone/>
            </a:pPr>
            <a:r>
              <a:rPr lang="en-US" sz="1100" dirty="0">
                <a:solidFill>
                  <a:srgbClr val="A8B2D1"/>
                </a:solidFill>
                <a:latin typeface="Calibri" pitchFamily="34" charset="0"/>
                <a:ea typeface="Calibri" pitchFamily="34" charset="-122"/>
                <a:cs typeface="Calibri" pitchFamily="34" charset="-120"/>
              </a:rPr>
              <a:t>Three distinct movement behaviours — FollowTarget actively chases the player within a defined followRange, Scroll shuttles between two fixed waypoints, and NoMovement keeps the enemy stationary. All enemies reference a ShootingController to fire independently each frame. Upon elimination, they contribute to the score and invoke GameManager.IncrementEnemiesDefeated().</a:t>
            </a:r>
            <a:endParaRPr lang="en-US" sz="1100" dirty="0"/>
          </a:p>
        </p:txBody>
      </p:sp>
      <p:sp>
        <p:nvSpPr>
          <p:cNvPr id="14" name="Shape 11"/>
          <p:cNvSpPr/>
          <p:nvPr/>
        </p:nvSpPr>
        <p:spPr>
          <a:xfrm>
            <a:off x="6245352" y="1874520"/>
            <a:ext cx="5532120" cy="2240280"/>
          </a:xfrm>
          <a:prstGeom prst="rect">
            <a:avLst/>
          </a:prstGeom>
          <a:solidFill>
            <a:srgbClr val="141938"/>
          </a:solidFill>
          <a:ln/>
        </p:spPr>
      </p:sp>
      <p:sp>
        <p:nvSpPr>
          <p:cNvPr id="15" name="Shape 12"/>
          <p:cNvSpPr/>
          <p:nvPr/>
        </p:nvSpPr>
        <p:spPr>
          <a:xfrm>
            <a:off x="6245352" y="1874520"/>
            <a:ext cx="5532120" cy="54864"/>
          </a:xfrm>
          <a:prstGeom prst="rect">
            <a:avLst/>
          </a:prstGeom>
          <a:solidFill>
            <a:srgbClr val="FFD60A"/>
          </a:solidFill>
          <a:ln/>
        </p:spPr>
      </p:sp>
      <p:sp>
        <p:nvSpPr>
          <p:cNvPr id="16" name="Shape 13"/>
          <p:cNvSpPr/>
          <p:nvPr/>
        </p:nvSpPr>
        <p:spPr>
          <a:xfrm>
            <a:off x="6519672" y="2148840"/>
            <a:ext cx="777240" cy="777240"/>
          </a:xfrm>
          <a:prstGeom prst="ellipse">
            <a:avLst/>
          </a:prstGeom>
          <a:solidFill>
            <a:srgbClr val="1C2347"/>
          </a:solidFill>
          <a:ln w="19050">
            <a:solidFill>
              <a:srgbClr val="FFD60A"/>
            </a:solidFill>
            <a:prstDash val="solid"/>
          </a:ln>
        </p:spPr>
      </p:sp>
      <p:pic>
        <p:nvPicPr>
          <p:cNvPr id="17" name="Image 1" descr="preencoded.png"/>
          <p:cNvPicPr>
            <a:picLocks noChangeAspect="1"/>
          </p:cNvPicPr>
          <p:nvPr/>
        </p:nvPicPr>
        <p:blipFill>
          <a:blip r:embed="rId2"/>
          <a:stretch>
            <a:fillRect/>
          </a:stretch>
        </p:blipFill>
        <p:spPr>
          <a:xfrm>
            <a:off x="6684264" y="2313432"/>
            <a:ext cx="448056" cy="448056"/>
          </a:xfrm>
          <a:prstGeom prst="rect">
            <a:avLst/>
          </a:prstGeom>
        </p:spPr>
      </p:pic>
      <p:sp>
        <p:nvSpPr>
          <p:cNvPr id="18" name="Text 14"/>
          <p:cNvSpPr/>
          <p:nvPr/>
        </p:nvSpPr>
        <p:spPr>
          <a:xfrm>
            <a:off x="7434072" y="2167128"/>
            <a:ext cx="4160520" cy="365760"/>
          </a:xfrm>
          <a:prstGeom prst="rect">
            <a:avLst/>
          </a:prstGeom>
          <a:noFill/>
          <a:ln/>
        </p:spPr>
        <p:txBody>
          <a:bodyPr wrap="square" lIns="0" tIns="0" rIns="0" bIns="0" rtlCol="0" anchor="ctr"/>
          <a:lstStyle/>
          <a:p>
            <a:pPr indent="0" marL="0">
              <a:buNone/>
            </a:pPr>
            <a:r>
              <a:rPr lang="en-US" sz="1800" b="1" spc="200" kern="0" dirty="0">
                <a:solidFill>
                  <a:srgbClr val="FFFFFF"/>
                </a:solidFill>
                <a:latin typeface="Impact" pitchFamily="34" charset="0"/>
                <a:ea typeface="Impact" pitchFamily="34" charset="-122"/>
                <a:cs typeface="Impact" pitchFamily="34" charset="-120"/>
              </a:rPr>
              <a:t>GAME MANAGER</a:t>
            </a:r>
            <a:endParaRPr lang="en-US" sz="1800" dirty="0"/>
          </a:p>
        </p:txBody>
      </p:sp>
      <p:sp>
        <p:nvSpPr>
          <p:cNvPr id="19" name="Text 15"/>
          <p:cNvSpPr/>
          <p:nvPr/>
        </p:nvSpPr>
        <p:spPr>
          <a:xfrm>
            <a:off x="7434072" y="2514600"/>
            <a:ext cx="4160520" cy="274320"/>
          </a:xfrm>
          <a:prstGeom prst="rect">
            <a:avLst/>
          </a:prstGeom>
          <a:noFill/>
          <a:ln/>
        </p:spPr>
        <p:txBody>
          <a:bodyPr wrap="square" lIns="0" tIns="0" rIns="0" bIns="0" rtlCol="0" anchor="ctr"/>
          <a:lstStyle/>
          <a:p>
            <a:pPr indent="0" marL="0">
              <a:buNone/>
            </a:pPr>
            <a:r>
              <a:rPr lang="en-US" sz="1000" dirty="0">
                <a:solidFill>
                  <a:srgbClr val="FFD60A"/>
                </a:solidFill>
                <a:latin typeface="Consolas" pitchFamily="34" charset="0"/>
                <a:ea typeface="Consolas" pitchFamily="34" charset="-122"/>
                <a:cs typeface="Consolas" pitchFamily="34" charset="-120"/>
              </a:rPr>
              <a:t>Gamemanager.cs</a:t>
            </a:r>
            <a:endParaRPr lang="en-US" sz="1000" dirty="0"/>
          </a:p>
        </p:txBody>
      </p:sp>
      <p:sp>
        <p:nvSpPr>
          <p:cNvPr id="20" name="Text 16"/>
          <p:cNvSpPr/>
          <p:nvPr/>
        </p:nvSpPr>
        <p:spPr>
          <a:xfrm>
            <a:off x="6519672" y="3017520"/>
            <a:ext cx="5074920" cy="1005840"/>
          </a:xfrm>
          <a:prstGeom prst="rect">
            <a:avLst/>
          </a:prstGeom>
          <a:noFill/>
          <a:ln/>
        </p:spPr>
        <p:txBody>
          <a:bodyPr wrap="square" lIns="0" tIns="0" rIns="0" bIns="0" rtlCol="0" anchor="ctr"/>
          <a:lstStyle/>
          <a:p>
            <a:pPr indent="0" marL="0">
              <a:buNone/>
            </a:pPr>
            <a:r>
              <a:rPr lang="en-US" sz="1100" dirty="0">
                <a:solidFill>
                  <a:srgbClr val="A8B2D1"/>
                </a:solidFill>
                <a:latin typeface="Calibri" pitchFamily="34" charset="0"/>
                <a:ea typeface="Calibri" pitchFamily="34" charset="-122"/>
                <a:cs typeface="Calibri" pitchFamily="34" charset="-120"/>
              </a:rPr>
              <a:t>A Singleton MonoBehaviour responsible for tracking score, persisted high score via PlayerPrefs, the running enemy elimination count, and overall win/lose state. It signals UIManager to update the HUD. LevelCleared() is triggered once the target kill count is reached; GameOver() activates when all player lives are spent.</a:t>
            </a:r>
            <a:endParaRPr lang="en-US" sz="1100" dirty="0"/>
          </a:p>
        </p:txBody>
      </p:sp>
      <p:sp>
        <p:nvSpPr>
          <p:cNvPr id="21" name="Shape 17"/>
          <p:cNvSpPr/>
          <p:nvPr/>
        </p:nvSpPr>
        <p:spPr>
          <a:xfrm>
            <a:off x="548640" y="4279392"/>
            <a:ext cx="5532120" cy="2240280"/>
          </a:xfrm>
          <a:prstGeom prst="rect">
            <a:avLst/>
          </a:prstGeom>
          <a:solidFill>
            <a:srgbClr val="141938"/>
          </a:solidFill>
          <a:ln/>
        </p:spPr>
      </p:sp>
      <p:sp>
        <p:nvSpPr>
          <p:cNvPr id="22" name="Shape 18"/>
          <p:cNvSpPr/>
          <p:nvPr/>
        </p:nvSpPr>
        <p:spPr>
          <a:xfrm>
            <a:off x="548640" y="4279392"/>
            <a:ext cx="5532120" cy="54864"/>
          </a:xfrm>
          <a:prstGeom prst="rect">
            <a:avLst/>
          </a:prstGeom>
          <a:solidFill>
            <a:srgbClr val="9D4EDD"/>
          </a:solidFill>
          <a:ln/>
        </p:spPr>
      </p:sp>
      <p:sp>
        <p:nvSpPr>
          <p:cNvPr id="23" name="Shape 19"/>
          <p:cNvSpPr/>
          <p:nvPr/>
        </p:nvSpPr>
        <p:spPr>
          <a:xfrm>
            <a:off x="822960" y="4553712"/>
            <a:ext cx="777240" cy="777240"/>
          </a:xfrm>
          <a:prstGeom prst="ellipse">
            <a:avLst/>
          </a:prstGeom>
          <a:solidFill>
            <a:srgbClr val="1C2347"/>
          </a:solidFill>
          <a:ln w="19050">
            <a:solidFill>
              <a:srgbClr val="9D4EDD"/>
            </a:solidFill>
            <a:prstDash val="solid"/>
          </a:ln>
        </p:spPr>
      </p:sp>
      <p:pic>
        <p:nvPicPr>
          <p:cNvPr id="24" name="Image 2" descr="preencoded.png"/>
          <p:cNvPicPr>
            <a:picLocks noChangeAspect="1"/>
          </p:cNvPicPr>
          <p:nvPr/>
        </p:nvPicPr>
        <p:blipFill>
          <a:blip r:embed="rId3"/>
          <a:stretch>
            <a:fillRect/>
          </a:stretch>
        </p:blipFill>
        <p:spPr>
          <a:xfrm>
            <a:off x="987552" y="4718304"/>
            <a:ext cx="448056" cy="448056"/>
          </a:xfrm>
          <a:prstGeom prst="rect">
            <a:avLst/>
          </a:prstGeom>
        </p:spPr>
      </p:pic>
      <p:sp>
        <p:nvSpPr>
          <p:cNvPr id="25" name="Text 20"/>
          <p:cNvSpPr/>
          <p:nvPr/>
        </p:nvSpPr>
        <p:spPr>
          <a:xfrm>
            <a:off x="1737360" y="4572000"/>
            <a:ext cx="4160520" cy="365760"/>
          </a:xfrm>
          <a:prstGeom prst="rect">
            <a:avLst/>
          </a:prstGeom>
          <a:noFill/>
          <a:ln/>
        </p:spPr>
        <p:txBody>
          <a:bodyPr wrap="square" lIns="0" tIns="0" rIns="0" bIns="0" rtlCol="0" anchor="ctr"/>
          <a:lstStyle/>
          <a:p>
            <a:pPr indent="0" marL="0">
              <a:buNone/>
            </a:pPr>
            <a:r>
              <a:rPr lang="en-US" sz="1800" b="1" spc="200" kern="0" dirty="0">
                <a:solidFill>
                  <a:srgbClr val="FFFFFF"/>
                </a:solidFill>
                <a:latin typeface="Impact" pitchFamily="34" charset="0"/>
                <a:ea typeface="Impact" pitchFamily="34" charset="-122"/>
                <a:cs typeface="Impact" pitchFamily="34" charset="-120"/>
              </a:rPr>
              <a:t>UI MANAGER</a:t>
            </a:r>
            <a:endParaRPr lang="en-US" sz="1800" dirty="0"/>
          </a:p>
        </p:txBody>
      </p:sp>
      <p:sp>
        <p:nvSpPr>
          <p:cNvPr id="26" name="Text 21"/>
          <p:cNvSpPr/>
          <p:nvPr/>
        </p:nvSpPr>
        <p:spPr>
          <a:xfrm>
            <a:off x="1737360" y="4919472"/>
            <a:ext cx="4160520" cy="274320"/>
          </a:xfrm>
          <a:prstGeom prst="rect">
            <a:avLst/>
          </a:prstGeom>
          <a:noFill/>
          <a:ln/>
        </p:spPr>
        <p:txBody>
          <a:bodyPr wrap="square" lIns="0" tIns="0" rIns="0" bIns="0" rtlCol="0" anchor="ctr"/>
          <a:lstStyle/>
          <a:p>
            <a:pPr indent="0" marL="0">
              <a:buNone/>
            </a:pPr>
            <a:r>
              <a:rPr lang="en-US" sz="1000" dirty="0">
                <a:solidFill>
                  <a:srgbClr val="9D4EDD"/>
                </a:solidFill>
                <a:latin typeface="Consolas" pitchFamily="34" charset="0"/>
                <a:ea typeface="Consolas" pitchFamily="34" charset="-122"/>
                <a:cs typeface="Consolas" pitchFamily="34" charset="-120"/>
              </a:rPr>
              <a:t>Uimanager.cs</a:t>
            </a:r>
            <a:endParaRPr lang="en-US" sz="1000" dirty="0"/>
          </a:p>
        </p:txBody>
      </p:sp>
      <p:sp>
        <p:nvSpPr>
          <p:cNvPr id="27" name="Text 22"/>
          <p:cNvSpPr/>
          <p:nvPr/>
        </p:nvSpPr>
        <p:spPr>
          <a:xfrm>
            <a:off x="822960" y="5422392"/>
            <a:ext cx="5074920" cy="1005840"/>
          </a:xfrm>
          <a:prstGeom prst="rect">
            <a:avLst/>
          </a:prstGeom>
          <a:noFill/>
          <a:ln/>
        </p:spPr>
        <p:txBody>
          <a:bodyPr wrap="square" lIns="0" tIns="0" rIns="0" bIns="0" rtlCol="0" anchor="ctr"/>
          <a:lstStyle/>
          <a:p>
            <a:pPr indent="0" marL="0">
              <a:buNone/>
            </a:pPr>
            <a:r>
              <a:rPr lang="en-US" sz="1100" dirty="0">
                <a:solidFill>
                  <a:srgbClr val="A8B2D1"/>
                </a:solidFill>
                <a:latin typeface="Calibri" pitchFamily="34" charset="0"/>
                <a:ea typeface="Calibri" pitchFamily="34" charset="-122"/>
                <a:cs typeface="Calibri" pitchFamily="34" charset="-120"/>
              </a:rPr>
              <a:t>Maintains a collection of UIPage objects. GoToPage(index) disables all pages and enables the selected one — handling the HUD, pause menu, game-over screen, and victory state. Pausing the game sets Time.timeScale to 0. UpdateUI() redraws every active UI element on screen.</a:t>
            </a:r>
            <a:endParaRPr lang="en-US" sz="1100" dirty="0"/>
          </a:p>
        </p:txBody>
      </p:sp>
      <p:sp>
        <p:nvSpPr>
          <p:cNvPr id="28" name="Shape 23"/>
          <p:cNvSpPr/>
          <p:nvPr/>
        </p:nvSpPr>
        <p:spPr>
          <a:xfrm>
            <a:off x="6245352" y="4279392"/>
            <a:ext cx="5532120" cy="2240280"/>
          </a:xfrm>
          <a:prstGeom prst="rect">
            <a:avLst/>
          </a:prstGeom>
          <a:solidFill>
            <a:srgbClr val="141938"/>
          </a:solidFill>
          <a:ln/>
        </p:spPr>
      </p:sp>
      <p:sp>
        <p:nvSpPr>
          <p:cNvPr id="29" name="Shape 24"/>
          <p:cNvSpPr/>
          <p:nvPr/>
        </p:nvSpPr>
        <p:spPr>
          <a:xfrm>
            <a:off x="6245352" y="4279392"/>
            <a:ext cx="5532120" cy="54864"/>
          </a:xfrm>
          <a:prstGeom prst="rect">
            <a:avLst/>
          </a:prstGeom>
          <a:solidFill>
            <a:srgbClr val="00F0FF"/>
          </a:solidFill>
          <a:ln/>
        </p:spPr>
      </p:sp>
      <p:sp>
        <p:nvSpPr>
          <p:cNvPr id="30" name="Shape 25"/>
          <p:cNvSpPr/>
          <p:nvPr/>
        </p:nvSpPr>
        <p:spPr>
          <a:xfrm>
            <a:off x="6519672" y="4553712"/>
            <a:ext cx="777240" cy="777240"/>
          </a:xfrm>
          <a:prstGeom prst="ellipse">
            <a:avLst/>
          </a:prstGeom>
          <a:solidFill>
            <a:srgbClr val="1C2347"/>
          </a:solidFill>
          <a:ln w="19050">
            <a:solidFill>
              <a:srgbClr val="00F0FF"/>
            </a:solidFill>
            <a:prstDash val="solid"/>
          </a:ln>
        </p:spPr>
      </p:sp>
      <p:pic>
        <p:nvPicPr>
          <p:cNvPr id="31" name="Image 3" descr="preencoded.png"/>
          <p:cNvPicPr>
            <a:picLocks noChangeAspect="1"/>
          </p:cNvPicPr>
          <p:nvPr/>
        </p:nvPicPr>
        <p:blipFill>
          <a:blip r:embed="rId4"/>
          <a:stretch>
            <a:fillRect/>
          </a:stretch>
        </p:blipFill>
        <p:spPr>
          <a:xfrm>
            <a:off x="6684264" y="4718304"/>
            <a:ext cx="448056" cy="448056"/>
          </a:xfrm>
          <a:prstGeom prst="rect">
            <a:avLst/>
          </a:prstGeom>
        </p:spPr>
      </p:pic>
      <p:sp>
        <p:nvSpPr>
          <p:cNvPr id="32" name="Text 26"/>
          <p:cNvSpPr/>
          <p:nvPr/>
        </p:nvSpPr>
        <p:spPr>
          <a:xfrm>
            <a:off x="7434072" y="4572000"/>
            <a:ext cx="4160520" cy="365760"/>
          </a:xfrm>
          <a:prstGeom prst="rect">
            <a:avLst/>
          </a:prstGeom>
          <a:noFill/>
          <a:ln/>
        </p:spPr>
        <p:txBody>
          <a:bodyPr wrap="square" lIns="0" tIns="0" rIns="0" bIns="0" rtlCol="0" anchor="ctr"/>
          <a:lstStyle/>
          <a:p>
            <a:pPr indent="0" marL="0">
              <a:buNone/>
            </a:pPr>
            <a:r>
              <a:rPr lang="en-US" sz="1800" b="1" spc="200" kern="0" dirty="0">
                <a:solidFill>
                  <a:srgbClr val="FFFFFF"/>
                </a:solidFill>
                <a:latin typeface="Impact" pitchFamily="34" charset="0"/>
                <a:ea typeface="Impact" pitchFamily="34" charset="-122"/>
                <a:cs typeface="Impact" pitchFamily="34" charset="-120"/>
              </a:rPr>
              <a:t>CAMERA CONTROLLER</a:t>
            </a:r>
            <a:endParaRPr lang="en-US" sz="1800" dirty="0"/>
          </a:p>
        </p:txBody>
      </p:sp>
      <p:sp>
        <p:nvSpPr>
          <p:cNvPr id="33" name="Text 27"/>
          <p:cNvSpPr/>
          <p:nvPr/>
        </p:nvSpPr>
        <p:spPr>
          <a:xfrm>
            <a:off x="7434072" y="4919472"/>
            <a:ext cx="4160520" cy="274320"/>
          </a:xfrm>
          <a:prstGeom prst="rect">
            <a:avLst/>
          </a:prstGeom>
          <a:noFill/>
          <a:ln/>
        </p:spPr>
        <p:txBody>
          <a:bodyPr wrap="square" lIns="0" tIns="0" rIns="0" bIns="0" rtlCol="0" anchor="ctr"/>
          <a:lstStyle/>
          <a:p>
            <a:pPr indent="0" marL="0">
              <a:buNone/>
            </a:pPr>
            <a:r>
              <a:rPr lang="en-US" sz="1000" dirty="0">
                <a:solidFill>
                  <a:srgbClr val="00F0FF"/>
                </a:solidFill>
                <a:latin typeface="Consolas" pitchFamily="34" charset="0"/>
                <a:ea typeface="Consolas" pitchFamily="34" charset="-122"/>
                <a:cs typeface="Consolas" pitchFamily="34" charset="-120"/>
              </a:rPr>
              <a:t>CameraController.cs</a:t>
            </a:r>
            <a:endParaRPr lang="en-US" sz="1000" dirty="0"/>
          </a:p>
        </p:txBody>
      </p:sp>
      <p:sp>
        <p:nvSpPr>
          <p:cNvPr id="34" name="Text 28"/>
          <p:cNvSpPr/>
          <p:nvPr/>
        </p:nvSpPr>
        <p:spPr>
          <a:xfrm>
            <a:off x="6519672" y="5422392"/>
            <a:ext cx="5074920" cy="1005840"/>
          </a:xfrm>
          <a:prstGeom prst="rect">
            <a:avLst/>
          </a:prstGeom>
          <a:noFill/>
          <a:ln/>
        </p:spPr>
        <p:txBody>
          <a:bodyPr wrap="square" lIns="0" tIns="0" rIns="0" bIns="0" rtlCol="0" anchor="ctr"/>
          <a:lstStyle/>
          <a:p>
            <a:pPr indent="0" marL="0">
              <a:buNone/>
            </a:pPr>
            <a:r>
              <a:rPr lang="en-US" sz="1100" dirty="0">
                <a:solidFill>
                  <a:srgbClr val="A8B2D1"/>
                </a:solidFill>
                <a:latin typeface="Calibri" pitchFamily="34" charset="0"/>
                <a:ea typeface="Calibri" pitchFamily="34" charset="-122"/>
                <a:cs typeface="Calibri" pitchFamily="34" charset="-120"/>
              </a:rPr>
              <a:t>Offers three tracking modes — Locked (fully static), Overhead (positioned directly above the target), and Free (smoothly interpolates via Vector3.Lerp between the player and the cursor, bounded by maxDistanceFromTarget). Delivers fluid, reactive framing throughout gameplay.</a:t>
            </a:r>
            <a:endParaRPr lang="en-US" sz="1100" dirty="0"/>
          </a:p>
        </p:txBody>
      </p:sp>
      <p:sp>
        <p:nvSpPr>
          <p:cNvPr id="35" name="Text 29"/>
          <p:cNvSpPr/>
          <p:nvPr/>
        </p:nvSpPr>
        <p:spPr>
          <a:xfrm>
            <a:off x="457200" y="6446520"/>
            <a:ext cx="5486400" cy="274320"/>
          </a:xfrm>
          <a:prstGeom prst="rect">
            <a:avLst/>
          </a:prstGeom>
          <a:noFill/>
          <a:ln/>
        </p:spPr>
        <p:txBody>
          <a:bodyPr wrap="square" lIns="0" tIns="0" rIns="0" bIns="0" rtlCol="0" anchor="ctr"/>
          <a:lstStyle/>
          <a:p>
            <a:pPr indent="0" marL="0">
              <a:buNone/>
            </a:pPr>
            <a:r>
              <a:rPr lang="en-US" sz="1000" spc="300" kern="0" dirty="0">
                <a:solidFill>
                  <a:srgbClr val="6B7494"/>
                </a:solidFill>
                <a:latin typeface="Consolas" pitchFamily="34" charset="0"/>
                <a:ea typeface="Consolas" pitchFamily="34" charset="-122"/>
                <a:cs typeface="Consolas" pitchFamily="34" charset="-120"/>
              </a:rPr>
              <a:t>MODULE DEEP-DIVE</a:t>
            </a:r>
            <a:endParaRPr lang="en-US" sz="1000" dirty="0"/>
          </a:p>
        </p:txBody>
      </p:sp>
      <p:sp>
        <p:nvSpPr>
          <p:cNvPr id="36" name="Text 30"/>
          <p:cNvSpPr/>
          <p:nvPr/>
        </p:nvSpPr>
        <p:spPr>
          <a:xfrm>
            <a:off x="10362895" y="6446520"/>
            <a:ext cx="1371600" cy="274320"/>
          </a:xfrm>
          <a:prstGeom prst="rect">
            <a:avLst/>
          </a:prstGeom>
          <a:noFill/>
          <a:ln/>
        </p:spPr>
        <p:txBody>
          <a:bodyPr wrap="square" lIns="0" tIns="0" rIns="0" bIns="0" rtlCol="0" anchor="ctr"/>
          <a:lstStyle/>
          <a:p>
            <a:pPr algn="r" indent="0" marL="0">
              <a:buNone/>
            </a:pPr>
            <a:r>
              <a:rPr lang="en-US" sz="1000" spc="200" kern="0" dirty="0">
                <a:solidFill>
                  <a:srgbClr val="00F0FF"/>
                </a:solidFill>
                <a:latin typeface="Consolas" pitchFamily="34" charset="0"/>
                <a:ea typeface="Consolas" pitchFamily="34" charset="-122"/>
                <a:cs typeface="Consolas" pitchFamily="34" charset="-120"/>
              </a:rPr>
              <a:t>09 / 14</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E27"/>
        </a:solidFill>
      </p:bgPr>
    </p:bg>
    <p:spTree>
      <p:nvGrpSpPr>
        <p:cNvPr id="1" name=""/>
        <p:cNvGrpSpPr/>
        <p:nvPr/>
      </p:nvGrpSpPr>
      <p:grpSpPr>
        <a:xfrm>
          <a:off x="0" y="0"/>
          <a:ext cx="0" cy="0"/>
          <a:chOff x="0" y="0"/>
          <a:chExt cx="0" cy="0"/>
        </a:xfrm>
      </p:grpSpPr>
      <p:sp>
        <p:nvSpPr>
          <p:cNvPr id="2" name="Shape 0"/>
          <p:cNvSpPr/>
          <p:nvPr/>
        </p:nvSpPr>
        <p:spPr>
          <a:xfrm>
            <a:off x="12027103" y="0"/>
            <a:ext cx="164592" cy="6858000"/>
          </a:xfrm>
          <a:prstGeom prst="rect">
            <a:avLst/>
          </a:prstGeom>
          <a:solidFill>
            <a:srgbClr val="FF2A6D"/>
          </a:solidFill>
          <a:ln/>
        </p:spPr>
      </p:sp>
      <p:sp>
        <p:nvSpPr>
          <p:cNvPr id="3" name="Shape 1"/>
          <p:cNvSpPr/>
          <p:nvPr/>
        </p:nvSpPr>
        <p:spPr>
          <a:xfrm>
            <a:off x="0" y="0"/>
            <a:ext cx="164592" cy="914400"/>
          </a:xfrm>
          <a:prstGeom prst="rect">
            <a:avLst/>
          </a:prstGeom>
          <a:solidFill>
            <a:srgbClr val="00F0FF"/>
          </a:solidFill>
          <a:ln/>
        </p:spPr>
      </p:sp>
      <p:sp>
        <p:nvSpPr>
          <p:cNvPr id="4" name="Text 2"/>
          <p:cNvSpPr/>
          <p:nvPr/>
        </p:nvSpPr>
        <p:spPr>
          <a:xfrm>
            <a:off x="548640" y="457200"/>
            <a:ext cx="1828800" cy="365760"/>
          </a:xfrm>
          <a:prstGeom prst="rect">
            <a:avLst/>
          </a:prstGeom>
          <a:noFill/>
          <a:ln/>
        </p:spPr>
        <p:txBody>
          <a:bodyPr wrap="square" lIns="0" tIns="0" rIns="0" bIns="0" rtlCol="0" anchor="ctr"/>
          <a:lstStyle/>
          <a:p>
            <a:pPr indent="0" marL="0">
              <a:buNone/>
            </a:pPr>
            <a:r>
              <a:rPr lang="en-US" sz="1400" b="1" dirty="0">
                <a:solidFill>
                  <a:srgbClr val="FF2A6D"/>
                </a:solidFill>
                <a:latin typeface="Consolas" pitchFamily="34" charset="0"/>
                <a:ea typeface="Consolas" pitchFamily="34" charset="-122"/>
                <a:cs typeface="Consolas" pitchFamily="34" charset="-120"/>
              </a:rPr>
              <a:t>// 09</a:t>
            </a:r>
            <a:endParaRPr lang="en-US" sz="1400" dirty="0"/>
          </a:p>
        </p:txBody>
      </p:sp>
      <p:sp>
        <p:nvSpPr>
          <p:cNvPr id="5" name="Text 3"/>
          <p:cNvSpPr/>
          <p:nvPr/>
        </p:nvSpPr>
        <p:spPr>
          <a:xfrm>
            <a:off x="548640" y="777240"/>
            <a:ext cx="10972800" cy="731520"/>
          </a:xfrm>
          <a:prstGeom prst="rect">
            <a:avLst/>
          </a:prstGeom>
          <a:noFill/>
          <a:ln/>
        </p:spPr>
        <p:txBody>
          <a:bodyPr wrap="square" lIns="0" tIns="0" rIns="0" bIns="0" rtlCol="0" anchor="ctr"/>
          <a:lstStyle/>
          <a:p>
            <a:pPr indent="0" marL="0">
              <a:buNone/>
            </a:pPr>
            <a:r>
              <a:rPr lang="en-US" sz="4000" b="1" spc="200" kern="0" dirty="0">
                <a:solidFill>
                  <a:srgbClr val="FFFFFF"/>
                </a:solidFill>
                <a:latin typeface="Impact" pitchFamily="34" charset="0"/>
                <a:ea typeface="Impact" pitchFamily="34" charset="-122"/>
                <a:cs typeface="Impact" pitchFamily="34" charset="-120"/>
              </a:rPr>
              <a:t>RUNTIME GAME FLOW</a:t>
            </a:r>
            <a:endParaRPr lang="en-US" sz="4000" dirty="0"/>
          </a:p>
        </p:txBody>
      </p:sp>
      <p:sp>
        <p:nvSpPr>
          <p:cNvPr id="6" name="Shape 4"/>
          <p:cNvSpPr/>
          <p:nvPr/>
        </p:nvSpPr>
        <p:spPr>
          <a:xfrm>
            <a:off x="548640" y="1554480"/>
            <a:ext cx="640080" cy="36576"/>
          </a:xfrm>
          <a:prstGeom prst="rect">
            <a:avLst/>
          </a:prstGeom>
          <a:solidFill>
            <a:srgbClr val="00F0FF"/>
          </a:solidFill>
          <a:ln/>
        </p:spPr>
      </p:sp>
      <p:sp>
        <p:nvSpPr>
          <p:cNvPr id="7" name="Text 5"/>
          <p:cNvSpPr/>
          <p:nvPr/>
        </p:nvSpPr>
        <p:spPr>
          <a:xfrm>
            <a:off x="548640" y="1691640"/>
            <a:ext cx="10972800" cy="365760"/>
          </a:xfrm>
          <a:prstGeom prst="rect">
            <a:avLst/>
          </a:prstGeom>
          <a:noFill/>
          <a:ln/>
        </p:spPr>
        <p:txBody>
          <a:bodyPr wrap="square" lIns="0" tIns="0" rIns="0" bIns="0" rtlCol="0" anchor="ctr"/>
          <a:lstStyle/>
          <a:p>
            <a:pPr indent="0" marL="0">
              <a:buNone/>
            </a:pPr>
            <a:r>
              <a:rPr lang="en-US" sz="1400" i="1" dirty="0">
                <a:solidFill>
                  <a:srgbClr val="A8B2D1"/>
                </a:solidFill>
                <a:latin typeface="Georgia" pitchFamily="34" charset="0"/>
                <a:ea typeface="Georgia" pitchFamily="34" charset="-122"/>
                <a:cs typeface="Georgia" pitchFamily="34" charset="-120"/>
              </a:rPr>
              <a:t>The sequence of operations within a single gameplay frame — from raw input through to rendering.</a:t>
            </a:r>
            <a:endParaRPr lang="en-US" sz="1400" dirty="0"/>
          </a:p>
        </p:txBody>
      </p:sp>
      <p:sp>
        <p:nvSpPr>
          <p:cNvPr id="8" name="Shape 6"/>
          <p:cNvSpPr/>
          <p:nvPr/>
        </p:nvSpPr>
        <p:spPr>
          <a:xfrm>
            <a:off x="960120" y="2286000"/>
            <a:ext cx="36576" cy="3785616"/>
          </a:xfrm>
          <a:prstGeom prst="rect">
            <a:avLst/>
          </a:prstGeom>
          <a:solidFill>
            <a:srgbClr val="2A3360"/>
          </a:solidFill>
          <a:ln/>
        </p:spPr>
      </p:sp>
      <p:sp>
        <p:nvSpPr>
          <p:cNvPr id="9" name="Shape 7"/>
          <p:cNvSpPr/>
          <p:nvPr/>
        </p:nvSpPr>
        <p:spPr>
          <a:xfrm>
            <a:off x="795528" y="2331720"/>
            <a:ext cx="365760" cy="365760"/>
          </a:xfrm>
          <a:prstGeom prst="ellipse">
            <a:avLst/>
          </a:prstGeom>
          <a:solidFill>
            <a:srgbClr val="00F0FF"/>
          </a:solidFill>
          <a:ln/>
        </p:spPr>
      </p:sp>
      <p:sp>
        <p:nvSpPr>
          <p:cNvPr id="10" name="Text 8"/>
          <p:cNvSpPr/>
          <p:nvPr/>
        </p:nvSpPr>
        <p:spPr>
          <a:xfrm>
            <a:off x="795528" y="2331720"/>
            <a:ext cx="365760" cy="365760"/>
          </a:xfrm>
          <a:prstGeom prst="rect">
            <a:avLst/>
          </a:prstGeom>
          <a:noFill/>
          <a:ln/>
        </p:spPr>
        <p:txBody>
          <a:bodyPr wrap="square" lIns="0" tIns="0" rIns="0" bIns="0" rtlCol="0" anchor="ctr"/>
          <a:lstStyle/>
          <a:p>
            <a:pPr algn="ctr" indent="0" marL="0">
              <a:buNone/>
            </a:pPr>
            <a:r>
              <a:rPr lang="en-US" sz="1400" b="1" dirty="0">
                <a:solidFill>
                  <a:srgbClr val="0A0E27"/>
                </a:solidFill>
                <a:latin typeface="Impact" pitchFamily="34" charset="0"/>
                <a:ea typeface="Impact" pitchFamily="34" charset="-122"/>
                <a:cs typeface="Impact" pitchFamily="34" charset="-120"/>
              </a:rPr>
              <a:t>1</a:t>
            </a:r>
            <a:endParaRPr lang="en-US" sz="1400" dirty="0"/>
          </a:p>
        </p:txBody>
      </p:sp>
      <p:sp>
        <p:nvSpPr>
          <p:cNvPr id="11" name="Text 9"/>
          <p:cNvSpPr/>
          <p:nvPr/>
        </p:nvSpPr>
        <p:spPr>
          <a:xfrm>
            <a:off x="1325880" y="2304288"/>
            <a:ext cx="3200400"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Player Input</a:t>
            </a:r>
            <a:endParaRPr lang="en-US" sz="1400" dirty="0"/>
          </a:p>
        </p:txBody>
      </p:sp>
      <p:sp>
        <p:nvSpPr>
          <p:cNvPr id="12" name="Text 10"/>
          <p:cNvSpPr/>
          <p:nvPr/>
        </p:nvSpPr>
        <p:spPr>
          <a:xfrm>
            <a:off x="4480560" y="2304288"/>
            <a:ext cx="7589520" cy="502920"/>
          </a:xfrm>
          <a:prstGeom prst="rect">
            <a:avLst/>
          </a:prstGeom>
          <a:noFill/>
          <a:ln/>
        </p:spPr>
        <p:txBody>
          <a:bodyPr wrap="square" lIns="0" tIns="0" rIns="0" bIns="0" rtlCol="0" anchor="ctr"/>
          <a:lstStyle/>
          <a:p>
            <a:pPr indent="0" marL="0">
              <a:buNone/>
            </a:pPr>
            <a:r>
              <a:rPr lang="en-US" sz="1100" dirty="0">
                <a:solidFill>
                  <a:srgbClr val="A8B2D1"/>
                </a:solidFill>
                <a:latin typeface="Calibri" pitchFamily="34" charset="0"/>
                <a:ea typeface="Calibri" pitchFamily="34" charset="-122"/>
                <a:cs typeface="Calibri" pitchFamily="34" charset="-120"/>
              </a:rPr>
              <a:t>Controller reads moveAction and lookAction. FreeRoam translates position by input delta; Asteroids mode applies Rigidbody2D force vectors.</a:t>
            </a:r>
            <a:endParaRPr lang="en-US" sz="1100" dirty="0"/>
          </a:p>
        </p:txBody>
      </p:sp>
      <p:sp>
        <p:nvSpPr>
          <p:cNvPr id="13" name="Shape 11"/>
          <p:cNvSpPr/>
          <p:nvPr/>
        </p:nvSpPr>
        <p:spPr>
          <a:xfrm>
            <a:off x="795528" y="2898648"/>
            <a:ext cx="365760" cy="365760"/>
          </a:xfrm>
          <a:prstGeom prst="ellipse">
            <a:avLst/>
          </a:prstGeom>
          <a:solidFill>
            <a:srgbClr val="00F0FF"/>
          </a:solidFill>
          <a:ln/>
        </p:spPr>
      </p:sp>
      <p:sp>
        <p:nvSpPr>
          <p:cNvPr id="14" name="Text 12"/>
          <p:cNvSpPr/>
          <p:nvPr/>
        </p:nvSpPr>
        <p:spPr>
          <a:xfrm>
            <a:off x="795528" y="2898648"/>
            <a:ext cx="365760" cy="365760"/>
          </a:xfrm>
          <a:prstGeom prst="rect">
            <a:avLst/>
          </a:prstGeom>
          <a:noFill/>
          <a:ln/>
        </p:spPr>
        <p:txBody>
          <a:bodyPr wrap="square" lIns="0" tIns="0" rIns="0" bIns="0" rtlCol="0" anchor="ctr"/>
          <a:lstStyle/>
          <a:p>
            <a:pPr algn="ctr" indent="0" marL="0">
              <a:buNone/>
            </a:pPr>
            <a:r>
              <a:rPr lang="en-US" sz="1400" b="1" dirty="0">
                <a:solidFill>
                  <a:srgbClr val="0A0E27"/>
                </a:solidFill>
                <a:latin typeface="Impact" pitchFamily="34" charset="0"/>
                <a:ea typeface="Impact" pitchFamily="34" charset="-122"/>
                <a:cs typeface="Impact" pitchFamily="34" charset="-120"/>
              </a:rPr>
              <a:t>2</a:t>
            </a:r>
            <a:endParaRPr lang="en-US" sz="1400" dirty="0"/>
          </a:p>
        </p:txBody>
      </p:sp>
      <p:sp>
        <p:nvSpPr>
          <p:cNvPr id="15" name="Text 13"/>
          <p:cNvSpPr/>
          <p:nvPr/>
        </p:nvSpPr>
        <p:spPr>
          <a:xfrm>
            <a:off x="1325880" y="2871216"/>
            <a:ext cx="3200400"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Aiming</a:t>
            </a:r>
            <a:endParaRPr lang="en-US" sz="1400" dirty="0"/>
          </a:p>
        </p:txBody>
      </p:sp>
      <p:sp>
        <p:nvSpPr>
          <p:cNvPr id="16" name="Text 14"/>
          <p:cNvSpPr/>
          <p:nvPr/>
        </p:nvSpPr>
        <p:spPr>
          <a:xfrm>
            <a:off x="4480560" y="2871216"/>
            <a:ext cx="7589520" cy="502920"/>
          </a:xfrm>
          <a:prstGeom prst="rect">
            <a:avLst/>
          </a:prstGeom>
          <a:noFill/>
          <a:ln/>
        </p:spPr>
        <p:txBody>
          <a:bodyPr wrap="square" lIns="0" tIns="0" rIns="0" bIns="0" rtlCol="0" anchor="ctr"/>
          <a:lstStyle/>
          <a:p>
            <a:pPr indent="0" marL="0">
              <a:buNone/>
            </a:pPr>
            <a:r>
              <a:rPr lang="en-US" sz="1100" dirty="0">
                <a:solidFill>
                  <a:srgbClr val="A8B2D1"/>
                </a:solidFill>
                <a:latin typeface="Calibri" pitchFamily="34" charset="0"/>
                <a:ea typeface="Calibri" pitchFamily="34" charset="-122"/>
                <a:cs typeface="Calibri" pitchFamily="34" charset="-120"/>
              </a:rPr>
              <a:t>AimTowardsMouse converts the screen-space cursor to world coordinates using Camera.main.ScreenToWorldPoint, then orients transform.up to face the mouse.</a:t>
            </a:r>
            <a:endParaRPr lang="en-US" sz="1100" dirty="0"/>
          </a:p>
        </p:txBody>
      </p:sp>
      <p:sp>
        <p:nvSpPr>
          <p:cNvPr id="17" name="Shape 15"/>
          <p:cNvSpPr/>
          <p:nvPr/>
        </p:nvSpPr>
        <p:spPr>
          <a:xfrm>
            <a:off x="795528" y="3465576"/>
            <a:ext cx="365760" cy="365760"/>
          </a:xfrm>
          <a:prstGeom prst="ellipse">
            <a:avLst/>
          </a:prstGeom>
          <a:solidFill>
            <a:srgbClr val="00F0FF"/>
          </a:solidFill>
          <a:ln/>
        </p:spPr>
      </p:sp>
      <p:sp>
        <p:nvSpPr>
          <p:cNvPr id="18" name="Text 16"/>
          <p:cNvSpPr/>
          <p:nvPr/>
        </p:nvSpPr>
        <p:spPr>
          <a:xfrm>
            <a:off x="795528" y="3465576"/>
            <a:ext cx="365760" cy="365760"/>
          </a:xfrm>
          <a:prstGeom prst="rect">
            <a:avLst/>
          </a:prstGeom>
          <a:noFill/>
          <a:ln/>
        </p:spPr>
        <p:txBody>
          <a:bodyPr wrap="square" lIns="0" tIns="0" rIns="0" bIns="0" rtlCol="0" anchor="ctr"/>
          <a:lstStyle/>
          <a:p>
            <a:pPr algn="ctr" indent="0" marL="0">
              <a:buNone/>
            </a:pPr>
            <a:r>
              <a:rPr lang="en-US" sz="1400" b="1" dirty="0">
                <a:solidFill>
                  <a:srgbClr val="0A0E27"/>
                </a:solidFill>
                <a:latin typeface="Impact" pitchFamily="34" charset="0"/>
                <a:ea typeface="Impact" pitchFamily="34" charset="-122"/>
                <a:cs typeface="Impact" pitchFamily="34" charset="-120"/>
              </a:rPr>
              <a:t>3</a:t>
            </a:r>
            <a:endParaRPr lang="en-US" sz="1400" dirty="0"/>
          </a:p>
        </p:txBody>
      </p:sp>
      <p:sp>
        <p:nvSpPr>
          <p:cNvPr id="19" name="Text 17"/>
          <p:cNvSpPr/>
          <p:nvPr/>
        </p:nvSpPr>
        <p:spPr>
          <a:xfrm>
            <a:off x="1325880" y="3438144"/>
            <a:ext cx="3200400"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Enemy Behaviour</a:t>
            </a:r>
            <a:endParaRPr lang="en-US" sz="1400" dirty="0"/>
          </a:p>
        </p:txBody>
      </p:sp>
      <p:sp>
        <p:nvSpPr>
          <p:cNvPr id="20" name="Text 18"/>
          <p:cNvSpPr/>
          <p:nvPr/>
        </p:nvSpPr>
        <p:spPr>
          <a:xfrm>
            <a:off x="4480560" y="3438144"/>
            <a:ext cx="7589520" cy="502920"/>
          </a:xfrm>
          <a:prstGeom prst="rect">
            <a:avLst/>
          </a:prstGeom>
          <a:noFill/>
          <a:ln/>
        </p:spPr>
        <p:txBody>
          <a:bodyPr wrap="square" lIns="0" tIns="0" rIns="0" bIns="0" rtlCol="0" anchor="ctr"/>
          <a:lstStyle/>
          <a:p>
            <a:pPr indent="0" marL="0">
              <a:buNone/>
            </a:pPr>
            <a:r>
              <a:rPr lang="en-US" sz="1100" dirty="0">
                <a:solidFill>
                  <a:srgbClr val="A8B2D1"/>
                </a:solidFill>
                <a:latin typeface="Calibri" pitchFamily="34" charset="0"/>
                <a:ea typeface="Calibri" pitchFamily="34" charset="-122"/>
                <a:cs typeface="Calibri" pitchFamily="34" charset="-120"/>
              </a:rPr>
              <a:t>During each LateUpdate, enemies evaluate their distance to the player. Those within followRange give chase; scrolling enemies alternate between waypoints; every enemy attempts to shoot.</a:t>
            </a:r>
            <a:endParaRPr lang="en-US" sz="1100" dirty="0"/>
          </a:p>
        </p:txBody>
      </p:sp>
      <p:sp>
        <p:nvSpPr>
          <p:cNvPr id="21" name="Shape 19"/>
          <p:cNvSpPr/>
          <p:nvPr/>
        </p:nvSpPr>
        <p:spPr>
          <a:xfrm>
            <a:off x="795528" y="4032504"/>
            <a:ext cx="365760" cy="365760"/>
          </a:xfrm>
          <a:prstGeom prst="ellipse">
            <a:avLst/>
          </a:prstGeom>
          <a:solidFill>
            <a:srgbClr val="00F0FF"/>
          </a:solidFill>
          <a:ln/>
        </p:spPr>
      </p:sp>
      <p:sp>
        <p:nvSpPr>
          <p:cNvPr id="22" name="Text 20"/>
          <p:cNvSpPr/>
          <p:nvPr/>
        </p:nvSpPr>
        <p:spPr>
          <a:xfrm>
            <a:off x="795528" y="4032504"/>
            <a:ext cx="365760" cy="365760"/>
          </a:xfrm>
          <a:prstGeom prst="rect">
            <a:avLst/>
          </a:prstGeom>
          <a:noFill/>
          <a:ln/>
        </p:spPr>
        <p:txBody>
          <a:bodyPr wrap="square" lIns="0" tIns="0" rIns="0" bIns="0" rtlCol="0" anchor="ctr"/>
          <a:lstStyle/>
          <a:p>
            <a:pPr algn="ctr" indent="0" marL="0">
              <a:buNone/>
            </a:pPr>
            <a:r>
              <a:rPr lang="en-US" sz="1400" b="1" dirty="0">
                <a:solidFill>
                  <a:srgbClr val="0A0E27"/>
                </a:solidFill>
                <a:latin typeface="Impact" pitchFamily="34" charset="0"/>
                <a:ea typeface="Impact" pitchFamily="34" charset="-122"/>
                <a:cs typeface="Impact" pitchFamily="34" charset="-120"/>
              </a:rPr>
              <a:t>4</a:t>
            </a:r>
            <a:endParaRPr lang="en-US" sz="1400" dirty="0"/>
          </a:p>
        </p:txBody>
      </p:sp>
      <p:sp>
        <p:nvSpPr>
          <p:cNvPr id="23" name="Text 21"/>
          <p:cNvSpPr/>
          <p:nvPr/>
        </p:nvSpPr>
        <p:spPr>
          <a:xfrm>
            <a:off x="1325880" y="4005072"/>
            <a:ext cx="3200400"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Damage Resolution</a:t>
            </a:r>
            <a:endParaRPr lang="en-US" sz="1400" dirty="0"/>
          </a:p>
        </p:txBody>
      </p:sp>
      <p:sp>
        <p:nvSpPr>
          <p:cNvPr id="24" name="Text 22"/>
          <p:cNvSpPr/>
          <p:nvPr/>
        </p:nvSpPr>
        <p:spPr>
          <a:xfrm>
            <a:off x="4480560" y="4005072"/>
            <a:ext cx="7589520" cy="502920"/>
          </a:xfrm>
          <a:prstGeom prst="rect">
            <a:avLst/>
          </a:prstGeom>
          <a:noFill/>
          <a:ln/>
        </p:spPr>
        <p:txBody>
          <a:bodyPr wrap="square" lIns="0" tIns="0" rIns="0" bIns="0" rtlCol="0" anchor="ctr"/>
          <a:lstStyle/>
          <a:p>
            <a:pPr indent="0" marL="0">
              <a:buNone/>
            </a:pPr>
            <a:r>
              <a:rPr lang="en-US" sz="1100" dirty="0">
                <a:solidFill>
                  <a:srgbClr val="A8B2D1"/>
                </a:solidFill>
                <a:latin typeface="Calibri" pitchFamily="34" charset="0"/>
                <a:ea typeface="Calibri" pitchFamily="34" charset="-122"/>
                <a:cs typeface="Calibri" pitchFamily="34" charset="-120"/>
              </a:rPr>
              <a:t>Whenever a Damage collider intersects a Health component belonging to an opposing faction, TakeDamage() is called. Impact particle effects spawn at the collision point.</a:t>
            </a:r>
            <a:endParaRPr lang="en-US" sz="1100" dirty="0"/>
          </a:p>
        </p:txBody>
      </p:sp>
      <p:sp>
        <p:nvSpPr>
          <p:cNvPr id="25" name="Shape 23"/>
          <p:cNvSpPr/>
          <p:nvPr/>
        </p:nvSpPr>
        <p:spPr>
          <a:xfrm>
            <a:off x="795528" y="4599432"/>
            <a:ext cx="365760" cy="365760"/>
          </a:xfrm>
          <a:prstGeom prst="ellipse">
            <a:avLst/>
          </a:prstGeom>
          <a:solidFill>
            <a:srgbClr val="00F0FF"/>
          </a:solidFill>
          <a:ln/>
        </p:spPr>
      </p:sp>
      <p:sp>
        <p:nvSpPr>
          <p:cNvPr id="26" name="Text 24"/>
          <p:cNvSpPr/>
          <p:nvPr/>
        </p:nvSpPr>
        <p:spPr>
          <a:xfrm>
            <a:off x="795528" y="4599432"/>
            <a:ext cx="365760" cy="365760"/>
          </a:xfrm>
          <a:prstGeom prst="rect">
            <a:avLst/>
          </a:prstGeom>
          <a:noFill/>
          <a:ln/>
        </p:spPr>
        <p:txBody>
          <a:bodyPr wrap="square" lIns="0" tIns="0" rIns="0" bIns="0" rtlCol="0" anchor="ctr"/>
          <a:lstStyle/>
          <a:p>
            <a:pPr algn="ctr" indent="0" marL="0">
              <a:buNone/>
            </a:pPr>
            <a:r>
              <a:rPr lang="en-US" sz="1400" b="1" dirty="0">
                <a:solidFill>
                  <a:srgbClr val="0A0E27"/>
                </a:solidFill>
                <a:latin typeface="Impact" pitchFamily="34" charset="0"/>
                <a:ea typeface="Impact" pitchFamily="34" charset="-122"/>
                <a:cs typeface="Impact" pitchFamily="34" charset="-120"/>
              </a:rPr>
              <a:t>5</a:t>
            </a:r>
            <a:endParaRPr lang="en-US" sz="1400" dirty="0"/>
          </a:p>
        </p:txBody>
      </p:sp>
      <p:sp>
        <p:nvSpPr>
          <p:cNvPr id="27" name="Text 25"/>
          <p:cNvSpPr/>
          <p:nvPr/>
        </p:nvSpPr>
        <p:spPr>
          <a:xfrm>
            <a:off x="1325880" y="4572000"/>
            <a:ext cx="3200400"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Health &amp; Death</a:t>
            </a:r>
            <a:endParaRPr lang="en-US" sz="1400" dirty="0"/>
          </a:p>
        </p:txBody>
      </p:sp>
      <p:sp>
        <p:nvSpPr>
          <p:cNvPr id="28" name="Text 26"/>
          <p:cNvSpPr/>
          <p:nvPr/>
        </p:nvSpPr>
        <p:spPr>
          <a:xfrm>
            <a:off x="4480560" y="4572000"/>
            <a:ext cx="7589520" cy="502920"/>
          </a:xfrm>
          <a:prstGeom prst="rect">
            <a:avLst/>
          </a:prstGeom>
          <a:noFill/>
          <a:ln/>
        </p:spPr>
        <p:txBody>
          <a:bodyPr wrap="square" lIns="0" tIns="0" rIns="0" bIns="0" rtlCol="0" anchor="ctr"/>
          <a:lstStyle/>
          <a:p>
            <a:pPr indent="0" marL="0">
              <a:buNone/>
            </a:pPr>
            <a:r>
              <a:rPr lang="en-US" sz="1100" dirty="0">
                <a:solidFill>
                  <a:srgbClr val="A8B2D1"/>
                </a:solidFill>
                <a:latin typeface="Calibri" pitchFamily="34" charset="0"/>
                <a:ea typeface="Calibri" pitchFamily="34" charset="-122"/>
                <a:cs typeface="Calibri" pitchFamily="34" charset="-120"/>
              </a:rPr>
              <a:t>A brief invincibility window is applied after every hit. When HP reaches zero, Die() executes — triggering respawn if any lives remain, or GameOver() if none are left.</a:t>
            </a:r>
            <a:endParaRPr lang="en-US" sz="1100" dirty="0"/>
          </a:p>
        </p:txBody>
      </p:sp>
      <p:sp>
        <p:nvSpPr>
          <p:cNvPr id="29" name="Shape 27"/>
          <p:cNvSpPr/>
          <p:nvPr/>
        </p:nvSpPr>
        <p:spPr>
          <a:xfrm>
            <a:off x="795528" y="5166360"/>
            <a:ext cx="365760" cy="365760"/>
          </a:xfrm>
          <a:prstGeom prst="ellipse">
            <a:avLst/>
          </a:prstGeom>
          <a:solidFill>
            <a:srgbClr val="00F0FF"/>
          </a:solidFill>
          <a:ln/>
        </p:spPr>
      </p:sp>
      <p:sp>
        <p:nvSpPr>
          <p:cNvPr id="30" name="Text 28"/>
          <p:cNvSpPr/>
          <p:nvPr/>
        </p:nvSpPr>
        <p:spPr>
          <a:xfrm>
            <a:off x="795528" y="5166360"/>
            <a:ext cx="365760" cy="365760"/>
          </a:xfrm>
          <a:prstGeom prst="rect">
            <a:avLst/>
          </a:prstGeom>
          <a:noFill/>
          <a:ln/>
        </p:spPr>
        <p:txBody>
          <a:bodyPr wrap="square" lIns="0" tIns="0" rIns="0" bIns="0" rtlCol="0" anchor="ctr"/>
          <a:lstStyle/>
          <a:p>
            <a:pPr algn="ctr" indent="0" marL="0">
              <a:buNone/>
            </a:pPr>
            <a:r>
              <a:rPr lang="en-US" sz="1400" b="1" dirty="0">
                <a:solidFill>
                  <a:srgbClr val="0A0E27"/>
                </a:solidFill>
                <a:latin typeface="Impact" pitchFamily="34" charset="0"/>
                <a:ea typeface="Impact" pitchFamily="34" charset="-122"/>
                <a:cs typeface="Impact" pitchFamily="34" charset="-120"/>
              </a:rPr>
              <a:t>6</a:t>
            </a:r>
            <a:endParaRPr lang="en-US" sz="1400" dirty="0"/>
          </a:p>
        </p:txBody>
      </p:sp>
      <p:sp>
        <p:nvSpPr>
          <p:cNvPr id="31" name="Text 29"/>
          <p:cNvSpPr/>
          <p:nvPr/>
        </p:nvSpPr>
        <p:spPr>
          <a:xfrm>
            <a:off x="1325880" y="5138928"/>
            <a:ext cx="3200400"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Score &amp; Win Check</a:t>
            </a:r>
            <a:endParaRPr lang="en-US" sz="1400" dirty="0"/>
          </a:p>
        </p:txBody>
      </p:sp>
      <p:sp>
        <p:nvSpPr>
          <p:cNvPr id="32" name="Text 30"/>
          <p:cNvSpPr/>
          <p:nvPr/>
        </p:nvSpPr>
        <p:spPr>
          <a:xfrm>
            <a:off x="4480560" y="5138928"/>
            <a:ext cx="7589520" cy="502920"/>
          </a:xfrm>
          <a:prstGeom prst="rect">
            <a:avLst/>
          </a:prstGeom>
          <a:noFill/>
          <a:ln/>
        </p:spPr>
        <p:txBody>
          <a:bodyPr wrap="square" lIns="0" tIns="0" rIns="0" bIns="0" rtlCol="0" anchor="ctr"/>
          <a:lstStyle/>
          <a:p>
            <a:pPr indent="0" marL="0">
              <a:buNone/>
            </a:pPr>
            <a:r>
              <a:rPr lang="en-US" sz="1100" dirty="0">
                <a:solidFill>
                  <a:srgbClr val="A8B2D1"/>
                </a:solidFill>
                <a:latin typeface="Calibri" pitchFamily="34" charset="0"/>
                <a:ea typeface="Calibri" pitchFamily="34" charset="-122"/>
                <a:cs typeface="Calibri" pitchFamily="34" charset="-120"/>
              </a:rPr>
              <a:t>Defeated enemies invoke AddScore() and IncrementEnemiesDefeated(). Once enemiesToDefeat is reached, LevelCleared() fires and the updated high score is written to storage.</a:t>
            </a:r>
            <a:endParaRPr lang="en-US" sz="1100" dirty="0"/>
          </a:p>
        </p:txBody>
      </p:sp>
      <p:sp>
        <p:nvSpPr>
          <p:cNvPr id="33" name="Shape 31"/>
          <p:cNvSpPr/>
          <p:nvPr/>
        </p:nvSpPr>
        <p:spPr>
          <a:xfrm>
            <a:off x="795528" y="5733288"/>
            <a:ext cx="365760" cy="365760"/>
          </a:xfrm>
          <a:prstGeom prst="ellipse">
            <a:avLst/>
          </a:prstGeom>
          <a:solidFill>
            <a:srgbClr val="00F0FF"/>
          </a:solidFill>
          <a:ln/>
        </p:spPr>
      </p:sp>
      <p:sp>
        <p:nvSpPr>
          <p:cNvPr id="34" name="Text 32"/>
          <p:cNvSpPr/>
          <p:nvPr/>
        </p:nvSpPr>
        <p:spPr>
          <a:xfrm>
            <a:off x="795528" y="5733288"/>
            <a:ext cx="365760" cy="365760"/>
          </a:xfrm>
          <a:prstGeom prst="rect">
            <a:avLst/>
          </a:prstGeom>
          <a:noFill/>
          <a:ln/>
        </p:spPr>
        <p:txBody>
          <a:bodyPr wrap="square" lIns="0" tIns="0" rIns="0" bIns="0" rtlCol="0" anchor="ctr"/>
          <a:lstStyle/>
          <a:p>
            <a:pPr algn="ctr" indent="0" marL="0">
              <a:buNone/>
            </a:pPr>
            <a:r>
              <a:rPr lang="en-US" sz="1400" b="1" dirty="0">
                <a:solidFill>
                  <a:srgbClr val="0A0E27"/>
                </a:solidFill>
                <a:latin typeface="Impact" pitchFamily="34" charset="0"/>
                <a:ea typeface="Impact" pitchFamily="34" charset="-122"/>
                <a:cs typeface="Impact" pitchFamily="34" charset="-120"/>
              </a:rPr>
              <a:t>7</a:t>
            </a:r>
            <a:endParaRPr lang="en-US" sz="1400" dirty="0"/>
          </a:p>
        </p:txBody>
      </p:sp>
      <p:sp>
        <p:nvSpPr>
          <p:cNvPr id="35" name="Text 33"/>
          <p:cNvSpPr/>
          <p:nvPr/>
        </p:nvSpPr>
        <p:spPr>
          <a:xfrm>
            <a:off x="1325880" y="5705856"/>
            <a:ext cx="3200400"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UI &amp; Camera</a:t>
            </a:r>
            <a:endParaRPr lang="en-US" sz="1400" dirty="0"/>
          </a:p>
        </p:txBody>
      </p:sp>
      <p:sp>
        <p:nvSpPr>
          <p:cNvPr id="36" name="Text 34"/>
          <p:cNvSpPr/>
          <p:nvPr/>
        </p:nvSpPr>
        <p:spPr>
          <a:xfrm>
            <a:off x="4480560" y="5705856"/>
            <a:ext cx="7589520" cy="502920"/>
          </a:xfrm>
          <a:prstGeom prst="rect">
            <a:avLst/>
          </a:prstGeom>
          <a:noFill/>
          <a:ln/>
        </p:spPr>
        <p:txBody>
          <a:bodyPr wrap="square" lIns="0" tIns="0" rIns="0" bIns="0" rtlCol="0" anchor="ctr"/>
          <a:lstStyle/>
          <a:p>
            <a:pPr indent="0" marL="0">
              <a:buNone/>
            </a:pPr>
            <a:r>
              <a:rPr lang="en-US" sz="1100" dirty="0">
                <a:solidFill>
                  <a:srgbClr val="A8B2D1"/>
                </a:solidFill>
                <a:latin typeface="Calibri" pitchFamily="34" charset="0"/>
                <a:ea typeface="Calibri" pitchFamily="34" charset="-122"/>
                <a:cs typeface="Calibri" pitchFamily="34" charset="-120"/>
              </a:rPr>
              <a:t>UIManager.GoToPage switches the visible panel; pausing sets Time.timeScale to 0. In Free mode, the camera lerps between the player and cursor position, then applies clamping.</a:t>
            </a:r>
            <a:endParaRPr lang="en-US" sz="1100" dirty="0"/>
          </a:p>
        </p:txBody>
      </p:sp>
      <p:sp>
        <p:nvSpPr>
          <p:cNvPr id="37" name="Text 35"/>
          <p:cNvSpPr/>
          <p:nvPr/>
        </p:nvSpPr>
        <p:spPr>
          <a:xfrm>
            <a:off x="457200" y="6446520"/>
            <a:ext cx="5486400" cy="274320"/>
          </a:xfrm>
          <a:prstGeom prst="rect">
            <a:avLst/>
          </a:prstGeom>
          <a:noFill/>
          <a:ln/>
        </p:spPr>
        <p:txBody>
          <a:bodyPr wrap="square" lIns="0" tIns="0" rIns="0" bIns="0" rtlCol="0" anchor="ctr"/>
          <a:lstStyle/>
          <a:p>
            <a:pPr indent="0" marL="0">
              <a:buNone/>
            </a:pPr>
            <a:r>
              <a:rPr lang="en-US" sz="1000" spc="300" kern="0" dirty="0">
                <a:solidFill>
                  <a:srgbClr val="6B7494"/>
                </a:solidFill>
                <a:latin typeface="Consolas" pitchFamily="34" charset="0"/>
                <a:ea typeface="Consolas" pitchFamily="34" charset="-122"/>
                <a:cs typeface="Consolas" pitchFamily="34" charset="-120"/>
              </a:rPr>
              <a:t>GAME FLOW</a:t>
            </a:r>
            <a:endParaRPr lang="en-US" sz="1000" dirty="0"/>
          </a:p>
        </p:txBody>
      </p:sp>
      <p:sp>
        <p:nvSpPr>
          <p:cNvPr id="38" name="Text 36"/>
          <p:cNvSpPr/>
          <p:nvPr/>
        </p:nvSpPr>
        <p:spPr>
          <a:xfrm>
            <a:off x="10362895" y="6446520"/>
            <a:ext cx="1371600" cy="274320"/>
          </a:xfrm>
          <a:prstGeom prst="rect">
            <a:avLst/>
          </a:prstGeom>
          <a:noFill/>
          <a:ln/>
        </p:spPr>
        <p:txBody>
          <a:bodyPr wrap="square" lIns="0" tIns="0" rIns="0" bIns="0" rtlCol="0" anchor="ctr"/>
          <a:lstStyle/>
          <a:p>
            <a:pPr algn="r" indent="0" marL="0">
              <a:buNone/>
            </a:pPr>
            <a:r>
              <a:rPr lang="en-US" sz="1000" spc="200" kern="0" dirty="0">
                <a:solidFill>
                  <a:srgbClr val="00F0FF"/>
                </a:solidFill>
                <a:latin typeface="Consolas" pitchFamily="34" charset="0"/>
                <a:ea typeface="Consolas" pitchFamily="34" charset="-122"/>
                <a:cs typeface="Consolas" pitchFamily="34" charset="-120"/>
              </a:rPr>
              <a:t>10 / 14</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E27"/>
        </a:solidFill>
      </p:bgPr>
    </p:bg>
    <p:spTree>
      <p:nvGrpSpPr>
        <p:cNvPr id="1" name=""/>
        <p:cNvGrpSpPr/>
        <p:nvPr/>
      </p:nvGrpSpPr>
      <p:grpSpPr>
        <a:xfrm>
          <a:off x="0" y="0"/>
          <a:ext cx="0" cy="0"/>
          <a:chOff x="0" y="0"/>
          <a:chExt cx="0" cy="0"/>
        </a:xfrm>
      </p:grpSpPr>
      <p:sp>
        <p:nvSpPr>
          <p:cNvPr id="2" name="Shape 0"/>
          <p:cNvSpPr/>
          <p:nvPr/>
        </p:nvSpPr>
        <p:spPr>
          <a:xfrm>
            <a:off x="12027103" y="0"/>
            <a:ext cx="164592" cy="6858000"/>
          </a:xfrm>
          <a:prstGeom prst="rect">
            <a:avLst/>
          </a:prstGeom>
          <a:solidFill>
            <a:srgbClr val="FF2A6D"/>
          </a:solidFill>
          <a:ln/>
        </p:spPr>
      </p:sp>
      <p:sp>
        <p:nvSpPr>
          <p:cNvPr id="3" name="Shape 1"/>
          <p:cNvSpPr/>
          <p:nvPr/>
        </p:nvSpPr>
        <p:spPr>
          <a:xfrm>
            <a:off x="0" y="0"/>
            <a:ext cx="164592" cy="914400"/>
          </a:xfrm>
          <a:prstGeom prst="rect">
            <a:avLst/>
          </a:prstGeom>
          <a:solidFill>
            <a:srgbClr val="00F0FF"/>
          </a:solidFill>
          <a:ln/>
        </p:spPr>
      </p:sp>
      <p:sp>
        <p:nvSpPr>
          <p:cNvPr id="4" name="Text 2"/>
          <p:cNvSpPr/>
          <p:nvPr/>
        </p:nvSpPr>
        <p:spPr>
          <a:xfrm>
            <a:off x="548640" y="457200"/>
            <a:ext cx="1828800" cy="365760"/>
          </a:xfrm>
          <a:prstGeom prst="rect">
            <a:avLst/>
          </a:prstGeom>
          <a:noFill/>
          <a:ln/>
        </p:spPr>
        <p:txBody>
          <a:bodyPr wrap="square" lIns="0" tIns="0" rIns="0" bIns="0" rtlCol="0" anchor="ctr"/>
          <a:lstStyle/>
          <a:p>
            <a:pPr indent="0" marL="0">
              <a:buNone/>
            </a:pPr>
            <a:r>
              <a:rPr lang="en-US" sz="1400" b="1" dirty="0">
                <a:solidFill>
                  <a:srgbClr val="FF2A6D"/>
                </a:solidFill>
                <a:latin typeface="Consolas" pitchFamily="34" charset="0"/>
                <a:ea typeface="Consolas" pitchFamily="34" charset="-122"/>
                <a:cs typeface="Consolas" pitchFamily="34" charset="-120"/>
              </a:rPr>
              <a:t>// 10</a:t>
            </a:r>
            <a:endParaRPr lang="en-US" sz="1400" dirty="0"/>
          </a:p>
        </p:txBody>
      </p:sp>
      <p:sp>
        <p:nvSpPr>
          <p:cNvPr id="5" name="Text 3"/>
          <p:cNvSpPr/>
          <p:nvPr/>
        </p:nvSpPr>
        <p:spPr>
          <a:xfrm>
            <a:off x="548640" y="777240"/>
            <a:ext cx="10972800" cy="731520"/>
          </a:xfrm>
          <a:prstGeom prst="rect">
            <a:avLst/>
          </a:prstGeom>
          <a:noFill/>
          <a:ln/>
        </p:spPr>
        <p:txBody>
          <a:bodyPr wrap="square" lIns="0" tIns="0" rIns="0" bIns="0" rtlCol="0" anchor="ctr"/>
          <a:lstStyle/>
          <a:p>
            <a:pPr indent="0" marL="0">
              <a:buNone/>
            </a:pPr>
            <a:r>
              <a:rPr lang="en-US" sz="4000" b="1" spc="200" kern="0" dirty="0">
                <a:solidFill>
                  <a:srgbClr val="FFFFFF"/>
                </a:solidFill>
                <a:latin typeface="Impact" pitchFamily="34" charset="0"/>
                <a:ea typeface="Impact" pitchFamily="34" charset="-122"/>
                <a:cs typeface="Impact" pitchFamily="34" charset="-120"/>
              </a:rPr>
              <a:t>TESTING &amp; VALIDATION</a:t>
            </a:r>
            <a:endParaRPr lang="en-US" sz="4000" dirty="0"/>
          </a:p>
        </p:txBody>
      </p:sp>
      <p:sp>
        <p:nvSpPr>
          <p:cNvPr id="6" name="Shape 4"/>
          <p:cNvSpPr/>
          <p:nvPr/>
        </p:nvSpPr>
        <p:spPr>
          <a:xfrm>
            <a:off x="548640" y="1554480"/>
            <a:ext cx="640080" cy="36576"/>
          </a:xfrm>
          <a:prstGeom prst="rect">
            <a:avLst/>
          </a:prstGeom>
          <a:solidFill>
            <a:srgbClr val="00F0FF"/>
          </a:solidFill>
          <a:ln/>
        </p:spPr>
      </p:sp>
      <p:sp>
        <p:nvSpPr>
          <p:cNvPr id="7" name="Text 5"/>
          <p:cNvSpPr/>
          <p:nvPr/>
        </p:nvSpPr>
        <p:spPr>
          <a:xfrm>
            <a:off x="548640" y="1691640"/>
            <a:ext cx="10972800" cy="365760"/>
          </a:xfrm>
          <a:prstGeom prst="rect">
            <a:avLst/>
          </a:prstGeom>
          <a:noFill/>
          <a:ln/>
        </p:spPr>
        <p:txBody>
          <a:bodyPr wrap="square" lIns="0" tIns="0" rIns="0" bIns="0" rtlCol="0" anchor="ctr"/>
          <a:lstStyle/>
          <a:p>
            <a:pPr indent="0" marL="0">
              <a:buNone/>
            </a:pPr>
            <a:r>
              <a:rPr lang="en-US" sz="1400" i="1" dirty="0">
                <a:solidFill>
                  <a:srgbClr val="A8B2D1"/>
                </a:solidFill>
                <a:latin typeface="Georgia" pitchFamily="34" charset="0"/>
                <a:ea typeface="Georgia" pitchFamily="34" charset="-122"/>
                <a:cs typeface="Georgia" pitchFamily="34" charset="-120"/>
              </a:rPr>
              <a:t>Four tiers of testing — every subsystem confirmed in isolation before being connected to the rest.</a:t>
            </a:r>
            <a:endParaRPr lang="en-US" sz="1400" dirty="0"/>
          </a:p>
        </p:txBody>
      </p:sp>
      <p:sp>
        <p:nvSpPr>
          <p:cNvPr id="8" name="Shape 6"/>
          <p:cNvSpPr/>
          <p:nvPr/>
        </p:nvSpPr>
        <p:spPr>
          <a:xfrm>
            <a:off x="548640" y="2377440"/>
            <a:ext cx="2834640" cy="3840480"/>
          </a:xfrm>
          <a:prstGeom prst="rect">
            <a:avLst/>
          </a:prstGeom>
          <a:solidFill>
            <a:srgbClr val="141938"/>
          </a:solidFill>
          <a:ln/>
        </p:spPr>
      </p:sp>
      <p:sp>
        <p:nvSpPr>
          <p:cNvPr id="9" name="Shape 7"/>
          <p:cNvSpPr/>
          <p:nvPr/>
        </p:nvSpPr>
        <p:spPr>
          <a:xfrm>
            <a:off x="548640" y="2377440"/>
            <a:ext cx="2834640" cy="73152"/>
          </a:xfrm>
          <a:prstGeom prst="rect">
            <a:avLst/>
          </a:prstGeom>
          <a:solidFill>
            <a:srgbClr val="00F0FF"/>
          </a:solidFill>
          <a:ln/>
        </p:spPr>
      </p:sp>
      <p:sp>
        <p:nvSpPr>
          <p:cNvPr id="10" name="Shape 8"/>
          <p:cNvSpPr/>
          <p:nvPr/>
        </p:nvSpPr>
        <p:spPr>
          <a:xfrm>
            <a:off x="1508760" y="2834640"/>
            <a:ext cx="914400" cy="914400"/>
          </a:xfrm>
          <a:prstGeom prst="ellipse">
            <a:avLst/>
          </a:prstGeom>
          <a:solidFill>
            <a:srgbClr val="1C2347"/>
          </a:solidFill>
          <a:ln w="19050">
            <a:solidFill>
              <a:srgbClr val="00F0FF"/>
            </a:solidFill>
            <a:prstDash val="solid"/>
          </a:ln>
        </p:spPr>
      </p:sp>
      <p:pic>
        <p:nvPicPr>
          <p:cNvPr id="11" name="Image 0" descr="preencoded.png"/>
          <p:cNvPicPr>
            <a:picLocks noChangeAspect="1"/>
          </p:cNvPicPr>
          <p:nvPr/>
        </p:nvPicPr>
        <p:blipFill>
          <a:blip r:embed="rId1"/>
          <a:stretch>
            <a:fillRect/>
          </a:stretch>
        </p:blipFill>
        <p:spPr>
          <a:xfrm>
            <a:off x="1714500" y="3035808"/>
            <a:ext cx="502920" cy="502920"/>
          </a:xfrm>
          <a:prstGeom prst="rect">
            <a:avLst/>
          </a:prstGeom>
        </p:spPr>
      </p:pic>
      <p:sp>
        <p:nvSpPr>
          <p:cNvPr id="12" name="Text 9"/>
          <p:cNvSpPr/>
          <p:nvPr/>
        </p:nvSpPr>
        <p:spPr>
          <a:xfrm>
            <a:off x="548640" y="3931920"/>
            <a:ext cx="2834640" cy="411480"/>
          </a:xfrm>
          <a:prstGeom prst="rect">
            <a:avLst/>
          </a:prstGeom>
          <a:noFill/>
          <a:ln/>
        </p:spPr>
        <p:txBody>
          <a:bodyPr wrap="square" lIns="0" tIns="0" rIns="0" bIns="0" rtlCol="0" anchor="ctr"/>
          <a:lstStyle/>
          <a:p>
            <a:pPr algn="ctr" indent="0" marL="0">
              <a:buNone/>
            </a:pPr>
            <a:r>
              <a:rPr lang="en-US" sz="1800" b="1" spc="200" kern="0" dirty="0">
                <a:solidFill>
                  <a:srgbClr val="FFFFFF"/>
                </a:solidFill>
                <a:latin typeface="Impact" pitchFamily="34" charset="0"/>
                <a:ea typeface="Impact" pitchFamily="34" charset="-122"/>
                <a:cs typeface="Impact" pitchFamily="34" charset="-120"/>
              </a:rPr>
              <a:t>Unit Testing</a:t>
            </a:r>
            <a:endParaRPr lang="en-US" sz="1800" dirty="0"/>
          </a:p>
        </p:txBody>
      </p:sp>
      <p:sp>
        <p:nvSpPr>
          <p:cNvPr id="13" name="Shape 10"/>
          <p:cNvSpPr/>
          <p:nvPr/>
        </p:nvSpPr>
        <p:spPr>
          <a:xfrm>
            <a:off x="1737360" y="4389120"/>
            <a:ext cx="457200" cy="36576"/>
          </a:xfrm>
          <a:prstGeom prst="rect">
            <a:avLst/>
          </a:prstGeom>
          <a:solidFill>
            <a:srgbClr val="00F0FF"/>
          </a:solidFill>
          <a:ln/>
        </p:spPr>
      </p:sp>
      <p:sp>
        <p:nvSpPr>
          <p:cNvPr id="14" name="Text 11"/>
          <p:cNvSpPr/>
          <p:nvPr/>
        </p:nvSpPr>
        <p:spPr>
          <a:xfrm>
            <a:off x="777240" y="4572000"/>
            <a:ext cx="2377440" cy="1463040"/>
          </a:xfrm>
          <a:prstGeom prst="rect">
            <a:avLst/>
          </a:prstGeom>
          <a:noFill/>
          <a:ln/>
        </p:spPr>
        <p:txBody>
          <a:bodyPr wrap="square" lIns="0" tIns="0" rIns="0" bIns="0" rtlCol="0" anchor="ctr"/>
          <a:lstStyle/>
          <a:p>
            <a:pPr algn="l" indent="0" marL="0">
              <a:buNone/>
            </a:pPr>
            <a:r>
              <a:rPr lang="en-US" sz="1100" dirty="0">
                <a:solidFill>
                  <a:srgbClr val="A8B2D1"/>
                </a:solidFill>
                <a:latin typeface="Calibri" pitchFamily="34" charset="0"/>
                <a:ea typeface="Calibri" pitchFamily="34" charset="-122"/>
                <a:cs typeface="Calibri" pitchFamily="34" charset="-120"/>
              </a:rPr>
              <a:t>Individual scripts evaluated in standalone conditions. Controller put through every available movement mode. Health logic verified via direct TakeDamage() invocations. Invincibility duration recorded and confirmed against expected timings.</a:t>
            </a:r>
            <a:endParaRPr lang="en-US" sz="1100" dirty="0"/>
          </a:p>
        </p:txBody>
      </p:sp>
      <p:sp>
        <p:nvSpPr>
          <p:cNvPr id="15" name="Shape 12"/>
          <p:cNvSpPr/>
          <p:nvPr/>
        </p:nvSpPr>
        <p:spPr>
          <a:xfrm>
            <a:off x="3502152" y="2377440"/>
            <a:ext cx="2834640" cy="3840480"/>
          </a:xfrm>
          <a:prstGeom prst="rect">
            <a:avLst/>
          </a:prstGeom>
          <a:solidFill>
            <a:srgbClr val="141938"/>
          </a:solidFill>
          <a:ln/>
        </p:spPr>
      </p:sp>
      <p:sp>
        <p:nvSpPr>
          <p:cNvPr id="16" name="Shape 13"/>
          <p:cNvSpPr/>
          <p:nvPr/>
        </p:nvSpPr>
        <p:spPr>
          <a:xfrm>
            <a:off x="3502152" y="2377440"/>
            <a:ext cx="2834640" cy="73152"/>
          </a:xfrm>
          <a:prstGeom prst="rect">
            <a:avLst/>
          </a:prstGeom>
          <a:solidFill>
            <a:srgbClr val="FF2A6D"/>
          </a:solidFill>
          <a:ln/>
        </p:spPr>
      </p:sp>
      <p:sp>
        <p:nvSpPr>
          <p:cNvPr id="17" name="Shape 14"/>
          <p:cNvSpPr/>
          <p:nvPr/>
        </p:nvSpPr>
        <p:spPr>
          <a:xfrm>
            <a:off x="4462272" y="2834640"/>
            <a:ext cx="914400" cy="914400"/>
          </a:xfrm>
          <a:prstGeom prst="ellipse">
            <a:avLst/>
          </a:prstGeom>
          <a:solidFill>
            <a:srgbClr val="1C2347"/>
          </a:solidFill>
          <a:ln w="19050">
            <a:solidFill>
              <a:srgbClr val="FF2A6D"/>
            </a:solidFill>
            <a:prstDash val="solid"/>
          </a:ln>
        </p:spPr>
      </p:sp>
      <p:pic>
        <p:nvPicPr>
          <p:cNvPr id="18" name="Image 1" descr="preencoded.png"/>
          <p:cNvPicPr>
            <a:picLocks noChangeAspect="1"/>
          </p:cNvPicPr>
          <p:nvPr/>
        </p:nvPicPr>
        <p:blipFill>
          <a:blip r:embed="rId2"/>
          <a:stretch>
            <a:fillRect/>
          </a:stretch>
        </p:blipFill>
        <p:spPr>
          <a:xfrm>
            <a:off x="4668012" y="3035808"/>
            <a:ext cx="502920" cy="502920"/>
          </a:xfrm>
          <a:prstGeom prst="rect">
            <a:avLst/>
          </a:prstGeom>
        </p:spPr>
      </p:pic>
      <p:sp>
        <p:nvSpPr>
          <p:cNvPr id="19" name="Text 15"/>
          <p:cNvSpPr/>
          <p:nvPr/>
        </p:nvSpPr>
        <p:spPr>
          <a:xfrm>
            <a:off x="3502152" y="3931920"/>
            <a:ext cx="2834640" cy="411480"/>
          </a:xfrm>
          <a:prstGeom prst="rect">
            <a:avLst/>
          </a:prstGeom>
          <a:noFill/>
          <a:ln/>
        </p:spPr>
        <p:txBody>
          <a:bodyPr wrap="square" lIns="0" tIns="0" rIns="0" bIns="0" rtlCol="0" anchor="ctr"/>
          <a:lstStyle/>
          <a:p>
            <a:pPr algn="ctr" indent="0" marL="0">
              <a:buNone/>
            </a:pPr>
            <a:r>
              <a:rPr lang="en-US" sz="1800" b="1" spc="200" kern="0" dirty="0">
                <a:solidFill>
                  <a:srgbClr val="FFFFFF"/>
                </a:solidFill>
                <a:latin typeface="Impact" pitchFamily="34" charset="0"/>
                <a:ea typeface="Impact" pitchFamily="34" charset="-122"/>
                <a:cs typeface="Impact" pitchFamily="34" charset="-120"/>
              </a:rPr>
              <a:t>Integration</a:t>
            </a:r>
            <a:endParaRPr lang="en-US" sz="1800" dirty="0"/>
          </a:p>
        </p:txBody>
      </p:sp>
      <p:sp>
        <p:nvSpPr>
          <p:cNvPr id="20" name="Shape 16"/>
          <p:cNvSpPr/>
          <p:nvPr/>
        </p:nvSpPr>
        <p:spPr>
          <a:xfrm>
            <a:off x="4690872" y="4389120"/>
            <a:ext cx="457200" cy="36576"/>
          </a:xfrm>
          <a:prstGeom prst="rect">
            <a:avLst/>
          </a:prstGeom>
          <a:solidFill>
            <a:srgbClr val="FF2A6D"/>
          </a:solidFill>
          <a:ln/>
        </p:spPr>
      </p:sp>
      <p:sp>
        <p:nvSpPr>
          <p:cNvPr id="21" name="Text 17"/>
          <p:cNvSpPr/>
          <p:nvPr/>
        </p:nvSpPr>
        <p:spPr>
          <a:xfrm>
            <a:off x="3730752" y="4572000"/>
            <a:ext cx="2377440" cy="1463040"/>
          </a:xfrm>
          <a:prstGeom prst="rect">
            <a:avLst/>
          </a:prstGeom>
          <a:noFill/>
          <a:ln/>
        </p:spPr>
        <p:txBody>
          <a:bodyPr wrap="square" lIns="0" tIns="0" rIns="0" bIns="0" rtlCol="0" anchor="ctr"/>
          <a:lstStyle/>
          <a:p>
            <a:pPr algn="l" indent="0" marL="0">
              <a:buNone/>
            </a:pPr>
            <a:r>
              <a:rPr lang="en-US" sz="1100" dirty="0">
                <a:solidFill>
                  <a:srgbClr val="A8B2D1"/>
                </a:solidFill>
                <a:latin typeface="Calibri" pitchFamily="34" charset="0"/>
                <a:ea typeface="Calibri" pitchFamily="34" charset="-122"/>
                <a:cs typeface="Calibri" pitchFamily="34" charset="-120"/>
              </a:rPr>
              <a:t>All modules assembled in a dedicated test scene containing a single player and multiple enemies. Score accumulation, death event propagation, and UI screen switching all confirmed working.</a:t>
            </a:r>
            <a:endParaRPr lang="en-US" sz="1100" dirty="0"/>
          </a:p>
        </p:txBody>
      </p:sp>
      <p:sp>
        <p:nvSpPr>
          <p:cNvPr id="22" name="Shape 18"/>
          <p:cNvSpPr/>
          <p:nvPr/>
        </p:nvSpPr>
        <p:spPr>
          <a:xfrm>
            <a:off x="6455664" y="2377440"/>
            <a:ext cx="2834640" cy="3840480"/>
          </a:xfrm>
          <a:prstGeom prst="rect">
            <a:avLst/>
          </a:prstGeom>
          <a:solidFill>
            <a:srgbClr val="141938"/>
          </a:solidFill>
          <a:ln/>
        </p:spPr>
      </p:sp>
      <p:sp>
        <p:nvSpPr>
          <p:cNvPr id="23" name="Shape 19"/>
          <p:cNvSpPr/>
          <p:nvPr/>
        </p:nvSpPr>
        <p:spPr>
          <a:xfrm>
            <a:off x="6455664" y="2377440"/>
            <a:ext cx="2834640" cy="73152"/>
          </a:xfrm>
          <a:prstGeom prst="rect">
            <a:avLst/>
          </a:prstGeom>
          <a:solidFill>
            <a:srgbClr val="FFD60A"/>
          </a:solidFill>
          <a:ln/>
        </p:spPr>
      </p:sp>
      <p:sp>
        <p:nvSpPr>
          <p:cNvPr id="24" name="Shape 20"/>
          <p:cNvSpPr/>
          <p:nvPr/>
        </p:nvSpPr>
        <p:spPr>
          <a:xfrm>
            <a:off x="7415784" y="2834640"/>
            <a:ext cx="914400" cy="914400"/>
          </a:xfrm>
          <a:prstGeom prst="ellipse">
            <a:avLst/>
          </a:prstGeom>
          <a:solidFill>
            <a:srgbClr val="1C2347"/>
          </a:solidFill>
          <a:ln w="19050">
            <a:solidFill>
              <a:srgbClr val="FFD60A"/>
            </a:solidFill>
            <a:prstDash val="solid"/>
          </a:ln>
        </p:spPr>
      </p:sp>
      <p:pic>
        <p:nvPicPr>
          <p:cNvPr id="25" name="Image 2" descr="preencoded.png"/>
          <p:cNvPicPr>
            <a:picLocks noChangeAspect="1"/>
          </p:cNvPicPr>
          <p:nvPr/>
        </p:nvPicPr>
        <p:blipFill>
          <a:blip r:embed="rId3"/>
          <a:stretch>
            <a:fillRect/>
          </a:stretch>
        </p:blipFill>
        <p:spPr>
          <a:xfrm>
            <a:off x="7621524" y="3035808"/>
            <a:ext cx="502920" cy="502920"/>
          </a:xfrm>
          <a:prstGeom prst="rect">
            <a:avLst/>
          </a:prstGeom>
        </p:spPr>
      </p:pic>
      <p:sp>
        <p:nvSpPr>
          <p:cNvPr id="26" name="Text 21"/>
          <p:cNvSpPr/>
          <p:nvPr/>
        </p:nvSpPr>
        <p:spPr>
          <a:xfrm>
            <a:off x="6455664" y="3931920"/>
            <a:ext cx="2834640" cy="411480"/>
          </a:xfrm>
          <a:prstGeom prst="rect">
            <a:avLst/>
          </a:prstGeom>
          <a:noFill/>
          <a:ln/>
        </p:spPr>
        <p:txBody>
          <a:bodyPr wrap="square" lIns="0" tIns="0" rIns="0" bIns="0" rtlCol="0" anchor="ctr"/>
          <a:lstStyle/>
          <a:p>
            <a:pPr algn="ctr" indent="0" marL="0">
              <a:buNone/>
            </a:pPr>
            <a:r>
              <a:rPr lang="en-US" sz="1800" b="1" spc="200" kern="0" dirty="0">
                <a:solidFill>
                  <a:srgbClr val="FFFFFF"/>
                </a:solidFill>
                <a:latin typeface="Impact" pitchFamily="34" charset="0"/>
                <a:ea typeface="Impact" pitchFamily="34" charset="-122"/>
                <a:cs typeface="Impact" pitchFamily="34" charset="-120"/>
              </a:rPr>
              <a:t>Functional</a:t>
            </a:r>
            <a:endParaRPr lang="en-US" sz="1800" dirty="0"/>
          </a:p>
        </p:txBody>
      </p:sp>
      <p:sp>
        <p:nvSpPr>
          <p:cNvPr id="27" name="Shape 22"/>
          <p:cNvSpPr/>
          <p:nvPr/>
        </p:nvSpPr>
        <p:spPr>
          <a:xfrm>
            <a:off x="7644384" y="4389120"/>
            <a:ext cx="457200" cy="36576"/>
          </a:xfrm>
          <a:prstGeom prst="rect">
            <a:avLst/>
          </a:prstGeom>
          <a:solidFill>
            <a:srgbClr val="FFD60A"/>
          </a:solidFill>
          <a:ln/>
        </p:spPr>
      </p:sp>
      <p:sp>
        <p:nvSpPr>
          <p:cNvPr id="28" name="Text 23"/>
          <p:cNvSpPr/>
          <p:nvPr/>
        </p:nvSpPr>
        <p:spPr>
          <a:xfrm>
            <a:off x="6684264" y="4572000"/>
            <a:ext cx="2377440" cy="1463040"/>
          </a:xfrm>
          <a:prstGeom prst="rect">
            <a:avLst/>
          </a:prstGeom>
          <a:noFill/>
          <a:ln/>
        </p:spPr>
        <p:txBody>
          <a:bodyPr wrap="square" lIns="0" tIns="0" rIns="0" bIns="0" rtlCol="0" anchor="ctr"/>
          <a:lstStyle/>
          <a:p>
            <a:pPr algn="l" indent="0" marL="0">
              <a:buNone/>
            </a:pPr>
            <a:r>
              <a:rPr lang="en-US" sz="1100" dirty="0">
                <a:solidFill>
                  <a:srgbClr val="A8B2D1"/>
                </a:solidFill>
                <a:latin typeface="Calibri" pitchFamily="34" charset="0"/>
                <a:ea typeface="Calibri" pitchFamily="34" charset="-122"/>
                <a:cs typeface="Calibri" pitchFamily="34" charset="-120"/>
              </a:rPr>
              <a:t>Complete gameplay loop exercised end-to-end from spawn through to win and loss states. Scrolling enemy waypoint transitions confirmed. Camera boundary clamping validated by deliberately moving to screen edges.</a:t>
            </a:r>
            <a:endParaRPr lang="en-US" sz="1100" dirty="0"/>
          </a:p>
        </p:txBody>
      </p:sp>
      <p:sp>
        <p:nvSpPr>
          <p:cNvPr id="29" name="Shape 24"/>
          <p:cNvSpPr/>
          <p:nvPr/>
        </p:nvSpPr>
        <p:spPr>
          <a:xfrm>
            <a:off x="9409176" y="2377440"/>
            <a:ext cx="2834640" cy="3840480"/>
          </a:xfrm>
          <a:prstGeom prst="rect">
            <a:avLst/>
          </a:prstGeom>
          <a:solidFill>
            <a:srgbClr val="141938"/>
          </a:solidFill>
          <a:ln/>
        </p:spPr>
      </p:sp>
      <p:sp>
        <p:nvSpPr>
          <p:cNvPr id="30" name="Shape 25"/>
          <p:cNvSpPr/>
          <p:nvPr/>
        </p:nvSpPr>
        <p:spPr>
          <a:xfrm>
            <a:off x="9409176" y="2377440"/>
            <a:ext cx="2834640" cy="73152"/>
          </a:xfrm>
          <a:prstGeom prst="rect">
            <a:avLst/>
          </a:prstGeom>
          <a:solidFill>
            <a:srgbClr val="9D4EDD"/>
          </a:solidFill>
          <a:ln/>
        </p:spPr>
      </p:sp>
      <p:sp>
        <p:nvSpPr>
          <p:cNvPr id="31" name="Shape 26"/>
          <p:cNvSpPr/>
          <p:nvPr/>
        </p:nvSpPr>
        <p:spPr>
          <a:xfrm>
            <a:off x="10369296" y="2834640"/>
            <a:ext cx="914400" cy="914400"/>
          </a:xfrm>
          <a:prstGeom prst="ellipse">
            <a:avLst/>
          </a:prstGeom>
          <a:solidFill>
            <a:srgbClr val="1C2347"/>
          </a:solidFill>
          <a:ln w="19050">
            <a:solidFill>
              <a:srgbClr val="9D4EDD"/>
            </a:solidFill>
            <a:prstDash val="solid"/>
          </a:ln>
        </p:spPr>
      </p:sp>
      <p:pic>
        <p:nvPicPr>
          <p:cNvPr id="32" name="Image 3" descr="preencoded.png"/>
          <p:cNvPicPr>
            <a:picLocks noChangeAspect="1"/>
          </p:cNvPicPr>
          <p:nvPr/>
        </p:nvPicPr>
        <p:blipFill>
          <a:blip r:embed="rId4"/>
          <a:stretch>
            <a:fillRect/>
          </a:stretch>
        </p:blipFill>
        <p:spPr>
          <a:xfrm>
            <a:off x="10575036" y="3035808"/>
            <a:ext cx="502920" cy="502920"/>
          </a:xfrm>
          <a:prstGeom prst="rect">
            <a:avLst/>
          </a:prstGeom>
        </p:spPr>
      </p:pic>
      <p:sp>
        <p:nvSpPr>
          <p:cNvPr id="33" name="Text 27"/>
          <p:cNvSpPr/>
          <p:nvPr/>
        </p:nvSpPr>
        <p:spPr>
          <a:xfrm>
            <a:off x="9409176" y="3931920"/>
            <a:ext cx="2834640" cy="411480"/>
          </a:xfrm>
          <a:prstGeom prst="rect">
            <a:avLst/>
          </a:prstGeom>
          <a:noFill/>
          <a:ln/>
        </p:spPr>
        <p:txBody>
          <a:bodyPr wrap="square" lIns="0" tIns="0" rIns="0" bIns="0" rtlCol="0" anchor="ctr"/>
          <a:lstStyle/>
          <a:p>
            <a:pPr algn="ctr" indent="0" marL="0">
              <a:buNone/>
            </a:pPr>
            <a:r>
              <a:rPr lang="en-US" sz="1800" b="1" spc="200" kern="0" dirty="0">
                <a:solidFill>
                  <a:srgbClr val="FFFFFF"/>
                </a:solidFill>
                <a:latin typeface="Impact" pitchFamily="34" charset="0"/>
                <a:ea typeface="Impact" pitchFamily="34" charset="-122"/>
                <a:cs typeface="Impact" pitchFamily="34" charset="-120"/>
              </a:rPr>
              <a:t>User Testing</a:t>
            </a:r>
            <a:endParaRPr lang="en-US" sz="1800" dirty="0"/>
          </a:p>
        </p:txBody>
      </p:sp>
      <p:sp>
        <p:nvSpPr>
          <p:cNvPr id="34" name="Shape 28"/>
          <p:cNvSpPr/>
          <p:nvPr/>
        </p:nvSpPr>
        <p:spPr>
          <a:xfrm>
            <a:off x="10597896" y="4389120"/>
            <a:ext cx="457200" cy="36576"/>
          </a:xfrm>
          <a:prstGeom prst="rect">
            <a:avLst/>
          </a:prstGeom>
          <a:solidFill>
            <a:srgbClr val="9D4EDD"/>
          </a:solidFill>
          <a:ln/>
        </p:spPr>
      </p:sp>
      <p:sp>
        <p:nvSpPr>
          <p:cNvPr id="35" name="Text 29"/>
          <p:cNvSpPr/>
          <p:nvPr/>
        </p:nvSpPr>
        <p:spPr>
          <a:xfrm>
            <a:off x="9637776" y="4572000"/>
            <a:ext cx="2377440" cy="1463040"/>
          </a:xfrm>
          <a:prstGeom prst="rect">
            <a:avLst/>
          </a:prstGeom>
          <a:noFill/>
          <a:ln/>
        </p:spPr>
        <p:txBody>
          <a:bodyPr wrap="square" lIns="0" tIns="0" rIns="0" bIns="0" rtlCol="0" anchor="ctr"/>
          <a:lstStyle/>
          <a:p>
            <a:pPr algn="l" indent="0" marL="0">
              <a:buNone/>
            </a:pPr>
            <a:r>
              <a:rPr lang="en-US" sz="1100" dirty="0">
                <a:solidFill>
                  <a:srgbClr val="A8B2D1"/>
                </a:solidFill>
                <a:latin typeface="Calibri" pitchFamily="34" charset="0"/>
                <a:ea typeface="Calibri" pitchFamily="34" charset="-122"/>
                <a:cs typeface="Calibri" pitchFamily="34" charset="-120"/>
              </a:rPr>
              <a:t>External playtesters provided feedback covering input feel, enemy challenge balance, and interface readability. Both keyboard-and-mouse and gamepad control schemes successfully confirmed.</a:t>
            </a:r>
            <a:endParaRPr lang="en-US" sz="1100" dirty="0"/>
          </a:p>
        </p:txBody>
      </p:sp>
      <p:sp>
        <p:nvSpPr>
          <p:cNvPr id="36" name="Text 30"/>
          <p:cNvSpPr/>
          <p:nvPr/>
        </p:nvSpPr>
        <p:spPr>
          <a:xfrm>
            <a:off x="457200" y="6446520"/>
            <a:ext cx="5486400" cy="274320"/>
          </a:xfrm>
          <a:prstGeom prst="rect">
            <a:avLst/>
          </a:prstGeom>
          <a:noFill/>
          <a:ln/>
        </p:spPr>
        <p:txBody>
          <a:bodyPr wrap="square" lIns="0" tIns="0" rIns="0" bIns="0" rtlCol="0" anchor="ctr"/>
          <a:lstStyle/>
          <a:p>
            <a:pPr indent="0" marL="0">
              <a:buNone/>
            </a:pPr>
            <a:r>
              <a:rPr lang="en-US" sz="1000" spc="300" kern="0" dirty="0">
                <a:solidFill>
                  <a:srgbClr val="6B7494"/>
                </a:solidFill>
                <a:latin typeface="Consolas" pitchFamily="34" charset="0"/>
                <a:ea typeface="Consolas" pitchFamily="34" charset="-122"/>
                <a:cs typeface="Consolas" pitchFamily="34" charset="-120"/>
              </a:rPr>
              <a:t>TESTING &amp; VALIDATION</a:t>
            </a:r>
            <a:endParaRPr lang="en-US" sz="1000" dirty="0"/>
          </a:p>
        </p:txBody>
      </p:sp>
      <p:sp>
        <p:nvSpPr>
          <p:cNvPr id="37" name="Text 31"/>
          <p:cNvSpPr/>
          <p:nvPr/>
        </p:nvSpPr>
        <p:spPr>
          <a:xfrm>
            <a:off x="10362895" y="6446520"/>
            <a:ext cx="1371600" cy="274320"/>
          </a:xfrm>
          <a:prstGeom prst="rect">
            <a:avLst/>
          </a:prstGeom>
          <a:noFill/>
          <a:ln/>
        </p:spPr>
        <p:txBody>
          <a:bodyPr wrap="square" lIns="0" tIns="0" rIns="0" bIns="0" rtlCol="0" anchor="ctr"/>
          <a:lstStyle/>
          <a:p>
            <a:pPr algn="r" indent="0" marL="0">
              <a:buNone/>
            </a:pPr>
            <a:r>
              <a:rPr lang="en-US" sz="1000" spc="200" kern="0" dirty="0">
                <a:solidFill>
                  <a:srgbClr val="00F0FF"/>
                </a:solidFill>
                <a:latin typeface="Consolas" pitchFamily="34" charset="0"/>
                <a:ea typeface="Consolas" pitchFamily="34" charset="-122"/>
                <a:cs typeface="Consolas" pitchFamily="34" charset="-120"/>
              </a:rPr>
              <a:t>11 / 14</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E27"/>
        </a:solidFill>
      </p:bgPr>
    </p:bg>
    <p:spTree>
      <p:nvGrpSpPr>
        <p:cNvPr id="1" name=""/>
        <p:cNvGrpSpPr/>
        <p:nvPr/>
      </p:nvGrpSpPr>
      <p:grpSpPr>
        <a:xfrm>
          <a:off x="0" y="0"/>
          <a:ext cx="0" cy="0"/>
          <a:chOff x="0" y="0"/>
          <a:chExt cx="0" cy="0"/>
        </a:xfrm>
      </p:grpSpPr>
      <p:sp>
        <p:nvSpPr>
          <p:cNvPr id="2" name="Shape 0"/>
          <p:cNvSpPr/>
          <p:nvPr/>
        </p:nvSpPr>
        <p:spPr>
          <a:xfrm>
            <a:off x="12027103" y="0"/>
            <a:ext cx="164592" cy="6858000"/>
          </a:xfrm>
          <a:prstGeom prst="rect">
            <a:avLst/>
          </a:prstGeom>
          <a:solidFill>
            <a:srgbClr val="FF2A6D"/>
          </a:solidFill>
          <a:ln/>
        </p:spPr>
      </p:sp>
      <p:sp>
        <p:nvSpPr>
          <p:cNvPr id="3" name="Shape 1"/>
          <p:cNvSpPr/>
          <p:nvPr/>
        </p:nvSpPr>
        <p:spPr>
          <a:xfrm>
            <a:off x="0" y="0"/>
            <a:ext cx="164592" cy="914400"/>
          </a:xfrm>
          <a:prstGeom prst="rect">
            <a:avLst/>
          </a:prstGeom>
          <a:solidFill>
            <a:srgbClr val="00F0FF"/>
          </a:solidFill>
          <a:ln/>
        </p:spPr>
      </p:sp>
      <p:sp>
        <p:nvSpPr>
          <p:cNvPr id="4" name="Text 2"/>
          <p:cNvSpPr/>
          <p:nvPr/>
        </p:nvSpPr>
        <p:spPr>
          <a:xfrm>
            <a:off x="548640" y="457200"/>
            <a:ext cx="1828800" cy="365760"/>
          </a:xfrm>
          <a:prstGeom prst="rect">
            <a:avLst/>
          </a:prstGeom>
          <a:noFill/>
          <a:ln/>
        </p:spPr>
        <p:txBody>
          <a:bodyPr wrap="square" lIns="0" tIns="0" rIns="0" bIns="0" rtlCol="0" anchor="ctr"/>
          <a:lstStyle/>
          <a:p>
            <a:pPr indent="0" marL="0">
              <a:buNone/>
            </a:pPr>
            <a:r>
              <a:rPr lang="en-US" sz="1400" b="1" dirty="0">
                <a:solidFill>
                  <a:srgbClr val="FF2A6D"/>
                </a:solidFill>
                <a:latin typeface="Consolas" pitchFamily="34" charset="0"/>
                <a:ea typeface="Consolas" pitchFamily="34" charset="-122"/>
                <a:cs typeface="Consolas" pitchFamily="34" charset="-120"/>
              </a:rPr>
              <a:t>// 11</a:t>
            </a:r>
            <a:endParaRPr lang="en-US" sz="1400" dirty="0"/>
          </a:p>
        </p:txBody>
      </p:sp>
      <p:sp>
        <p:nvSpPr>
          <p:cNvPr id="5" name="Text 3"/>
          <p:cNvSpPr/>
          <p:nvPr/>
        </p:nvSpPr>
        <p:spPr>
          <a:xfrm>
            <a:off x="548640" y="777240"/>
            <a:ext cx="10972800" cy="731520"/>
          </a:xfrm>
          <a:prstGeom prst="rect">
            <a:avLst/>
          </a:prstGeom>
          <a:noFill/>
          <a:ln/>
        </p:spPr>
        <p:txBody>
          <a:bodyPr wrap="square" lIns="0" tIns="0" rIns="0" bIns="0" rtlCol="0" anchor="ctr"/>
          <a:lstStyle/>
          <a:p>
            <a:pPr indent="0" marL="0">
              <a:buNone/>
            </a:pPr>
            <a:r>
              <a:rPr lang="en-US" sz="4000" b="1" spc="200" kern="0" dirty="0">
                <a:solidFill>
                  <a:srgbClr val="FFFFFF"/>
                </a:solidFill>
                <a:latin typeface="Impact" pitchFamily="34" charset="0"/>
                <a:ea typeface="Impact" pitchFamily="34" charset="-122"/>
                <a:cs typeface="Impact" pitchFamily="34" charset="-120"/>
              </a:rPr>
              <a:t>OUTCOMES &amp; ACHIEVEMENTS</a:t>
            </a:r>
            <a:endParaRPr lang="en-US" sz="4000" dirty="0"/>
          </a:p>
        </p:txBody>
      </p:sp>
      <p:sp>
        <p:nvSpPr>
          <p:cNvPr id="6" name="Shape 4"/>
          <p:cNvSpPr/>
          <p:nvPr/>
        </p:nvSpPr>
        <p:spPr>
          <a:xfrm>
            <a:off x="548640" y="1554480"/>
            <a:ext cx="640080" cy="36576"/>
          </a:xfrm>
          <a:prstGeom prst="rect">
            <a:avLst/>
          </a:prstGeom>
          <a:solidFill>
            <a:srgbClr val="00F0FF"/>
          </a:solidFill>
          <a:ln/>
        </p:spPr>
      </p:sp>
      <p:sp>
        <p:nvSpPr>
          <p:cNvPr id="7" name="Shape 5"/>
          <p:cNvSpPr/>
          <p:nvPr/>
        </p:nvSpPr>
        <p:spPr>
          <a:xfrm>
            <a:off x="548640" y="1828800"/>
            <a:ext cx="2697480" cy="1371600"/>
          </a:xfrm>
          <a:prstGeom prst="rect">
            <a:avLst/>
          </a:prstGeom>
          <a:solidFill>
            <a:srgbClr val="141938"/>
          </a:solidFill>
          <a:ln/>
        </p:spPr>
      </p:sp>
      <p:sp>
        <p:nvSpPr>
          <p:cNvPr id="8" name="Shape 6"/>
          <p:cNvSpPr/>
          <p:nvPr/>
        </p:nvSpPr>
        <p:spPr>
          <a:xfrm>
            <a:off x="548640" y="1828800"/>
            <a:ext cx="2697480" cy="54864"/>
          </a:xfrm>
          <a:prstGeom prst="rect">
            <a:avLst/>
          </a:prstGeom>
          <a:solidFill>
            <a:srgbClr val="00F0FF"/>
          </a:solidFill>
          <a:ln/>
        </p:spPr>
      </p:sp>
      <p:sp>
        <p:nvSpPr>
          <p:cNvPr id="9" name="Text 7"/>
          <p:cNvSpPr/>
          <p:nvPr/>
        </p:nvSpPr>
        <p:spPr>
          <a:xfrm>
            <a:off x="548640" y="1965960"/>
            <a:ext cx="2697480" cy="777240"/>
          </a:xfrm>
          <a:prstGeom prst="rect">
            <a:avLst/>
          </a:prstGeom>
          <a:noFill/>
          <a:ln/>
        </p:spPr>
        <p:txBody>
          <a:bodyPr wrap="square" lIns="0" tIns="0" rIns="0" bIns="0" rtlCol="0" anchor="ctr"/>
          <a:lstStyle/>
          <a:p>
            <a:pPr algn="ctr" indent="0" marL="0">
              <a:buNone/>
            </a:pPr>
            <a:r>
              <a:rPr lang="en-US" sz="5600" b="1" dirty="0">
                <a:solidFill>
                  <a:srgbClr val="00F0FF"/>
                </a:solidFill>
                <a:latin typeface="Impact" pitchFamily="34" charset="0"/>
                <a:ea typeface="Impact" pitchFamily="34" charset="-122"/>
                <a:cs typeface="Impact" pitchFamily="34" charset="-120"/>
              </a:rPr>
              <a:t>4</a:t>
            </a:r>
            <a:endParaRPr lang="en-US" sz="5600" dirty="0"/>
          </a:p>
        </p:txBody>
      </p:sp>
      <p:sp>
        <p:nvSpPr>
          <p:cNvPr id="10" name="Text 8"/>
          <p:cNvSpPr/>
          <p:nvPr/>
        </p:nvSpPr>
        <p:spPr>
          <a:xfrm>
            <a:off x="548640" y="2743200"/>
            <a:ext cx="2697480" cy="365760"/>
          </a:xfrm>
          <a:prstGeom prst="rect">
            <a:avLst/>
          </a:prstGeom>
          <a:noFill/>
          <a:ln/>
        </p:spPr>
        <p:txBody>
          <a:bodyPr wrap="square" lIns="0" tIns="0" rIns="0" bIns="0" rtlCol="0" anchor="ctr"/>
          <a:lstStyle/>
          <a:p>
            <a:pPr algn="ctr" indent="0" marL="0">
              <a:buNone/>
            </a:pPr>
            <a:r>
              <a:rPr lang="en-US" sz="1100" b="1" spc="300" kern="0" dirty="0">
                <a:solidFill>
                  <a:srgbClr val="FFFFFF"/>
                </a:solidFill>
                <a:latin typeface="Consolas" pitchFamily="34" charset="0"/>
                <a:ea typeface="Consolas" pitchFamily="34" charset="-122"/>
                <a:cs typeface="Consolas" pitchFamily="34" charset="-120"/>
              </a:rPr>
              <a:t>MOVEMENT MODES</a:t>
            </a:r>
            <a:endParaRPr lang="en-US" sz="1100" dirty="0"/>
          </a:p>
        </p:txBody>
      </p:sp>
      <p:sp>
        <p:nvSpPr>
          <p:cNvPr id="11" name="Shape 9"/>
          <p:cNvSpPr/>
          <p:nvPr/>
        </p:nvSpPr>
        <p:spPr>
          <a:xfrm>
            <a:off x="3410712" y="1828800"/>
            <a:ext cx="2697480" cy="1371600"/>
          </a:xfrm>
          <a:prstGeom prst="rect">
            <a:avLst/>
          </a:prstGeom>
          <a:solidFill>
            <a:srgbClr val="141938"/>
          </a:solidFill>
          <a:ln/>
        </p:spPr>
      </p:sp>
      <p:sp>
        <p:nvSpPr>
          <p:cNvPr id="12" name="Shape 10"/>
          <p:cNvSpPr/>
          <p:nvPr/>
        </p:nvSpPr>
        <p:spPr>
          <a:xfrm>
            <a:off x="3410712" y="1828800"/>
            <a:ext cx="2697480" cy="54864"/>
          </a:xfrm>
          <a:prstGeom prst="rect">
            <a:avLst/>
          </a:prstGeom>
          <a:solidFill>
            <a:srgbClr val="FF2A6D"/>
          </a:solidFill>
          <a:ln/>
        </p:spPr>
      </p:sp>
      <p:sp>
        <p:nvSpPr>
          <p:cNvPr id="13" name="Text 11"/>
          <p:cNvSpPr/>
          <p:nvPr/>
        </p:nvSpPr>
        <p:spPr>
          <a:xfrm>
            <a:off x="3410712" y="1965960"/>
            <a:ext cx="2697480" cy="777240"/>
          </a:xfrm>
          <a:prstGeom prst="rect">
            <a:avLst/>
          </a:prstGeom>
          <a:noFill/>
          <a:ln/>
        </p:spPr>
        <p:txBody>
          <a:bodyPr wrap="square" lIns="0" tIns="0" rIns="0" bIns="0" rtlCol="0" anchor="ctr"/>
          <a:lstStyle/>
          <a:p>
            <a:pPr algn="ctr" indent="0" marL="0">
              <a:buNone/>
            </a:pPr>
            <a:r>
              <a:rPr lang="en-US" sz="5600" b="1" dirty="0">
                <a:solidFill>
                  <a:srgbClr val="FF2A6D"/>
                </a:solidFill>
                <a:latin typeface="Impact" pitchFamily="34" charset="0"/>
                <a:ea typeface="Impact" pitchFamily="34" charset="-122"/>
                <a:cs typeface="Impact" pitchFamily="34" charset="-120"/>
              </a:rPr>
              <a:t>3</a:t>
            </a:r>
            <a:endParaRPr lang="en-US" sz="5600" dirty="0"/>
          </a:p>
        </p:txBody>
      </p:sp>
      <p:sp>
        <p:nvSpPr>
          <p:cNvPr id="14" name="Text 12"/>
          <p:cNvSpPr/>
          <p:nvPr/>
        </p:nvSpPr>
        <p:spPr>
          <a:xfrm>
            <a:off x="3410712" y="2743200"/>
            <a:ext cx="2697480" cy="365760"/>
          </a:xfrm>
          <a:prstGeom prst="rect">
            <a:avLst/>
          </a:prstGeom>
          <a:noFill/>
          <a:ln/>
        </p:spPr>
        <p:txBody>
          <a:bodyPr wrap="square" lIns="0" tIns="0" rIns="0" bIns="0" rtlCol="0" anchor="ctr"/>
          <a:lstStyle/>
          <a:p>
            <a:pPr algn="ctr" indent="0" marL="0">
              <a:buNone/>
            </a:pPr>
            <a:r>
              <a:rPr lang="en-US" sz="1100" b="1" spc="300" kern="0" dirty="0">
                <a:solidFill>
                  <a:srgbClr val="FFFFFF"/>
                </a:solidFill>
                <a:latin typeface="Consolas" pitchFamily="34" charset="0"/>
                <a:ea typeface="Consolas" pitchFamily="34" charset="-122"/>
                <a:cs typeface="Consolas" pitchFamily="34" charset="-120"/>
              </a:rPr>
              <a:t>ENEMY BEHAVIOURS</a:t>
            </a:r>
            <a:endParaRPr lang="en-US" sz="1100" dirty="0"/>
          </a:p>
        </p:txBody>
      </p:sp>
      <p:sp>
        <p:nvSpPr>
          <p:cNvPr id="15" name="Shape 13"/>
          <p:cNvSpPr/>
          <p:nvPr/>
        </p:nvSpPr>
        <p:spPr>
          <a:xfrm>
            <a:off x="6272784" y="1828800"/>
            <a:ext cx="2697480" cy="1371600"/>
          </a:xfrm>
          <a:prstGeom prst="rect">
            <a:avLst/>
          </a:prstGeom>
          <a:solidFill>
            <a:srgbClr val="141938"/>
          </a:solidFill>
          <a:ln/>
        </p:spPr>
      </p:sp>
      <p:sp>
        <p:nvSpPr>
          <p:cNvPr id="16" name="Shape 14"/>
          <p:cNvSpPr/>
          <p:nvPr/>
        </p:nvSpPr>
        <p:spPr>
          <a:xfrm>
            <a:off x="6272784" y="1828800"/>
            <a:ext cx="2697480" cy="54864"/>
          </a:xfrm>
          <a:prstGeom prst="rect">
            <a:avLst/>
          </a:prstGeom>
          <a:solidFill>
            <a:srgbClr val="FFD60A"/>
          </a:solidFill>
          <a:ln/>
        </p:spPr>
      </p:sp>
      <p:sp>
        <p:nvSpPr>
          <p:cNvPr id="17" name="Text 15"/>
          <p:cNvSpPr/>
          <p:nvPr/>
        </p:nvSpPr>
        <p:spPr>
          <a:xfrm>
            <a:off x="6272784" y="1965960"/>
            <a:ext cx="2697480" cy="777240"/>
          </a:xfrm>
          <a:prstGeom prst="rect">
            <a:avLst/>
          </a:prstGeom>
          <a:noFill/>
          <a:ln/>
        </p:spPr>
        <p:txBody>
          <a:bodyPr wrap="square" lIns="0" tIns="0" rIns="0" bIns="0" rtlCol="0" anchor="ctr"/>
          <a:lstStyle/>
          <a:p>
            <a:pPr algn="ctr" indent="0" marL="0">
              <a:buNone/>
            </a:pPr>
            <a:r>
              <a:rPr lang="en-US" sz="5600" b="1" dirty="0">
                <a:solidFill>
                  <a:srgbClr val="FFD60A"/>
                </a:solidFill>
                <a:latin typeface="Impact" pitchFamily="34" charset="0"/>
                <a:ea typeface="Impact" pitchFamily="34" charset="-122"/>
                <a:cs typeface="Impact" pitchFamily="34" charset="-120"/>
              </a:rPr>
              <a:t>2</a:t>
            </a:r>
            <a:endParaRPr lang="en-US" sz="5600" dirty="0"/>
          </a:p>
        </p:txBody>
      </p:sp>
      <p:sp>
        <p:nvSpPr>
          <p:cNvPr id="18" name="Text 16"/>
          <p:cNvSpPr/>
          <p:nvPr/>
        </p:nvSpPr>
        <p:spPr>
          <a:xfrm>
            <a:off x="6272784" y="2743200"/>
            <a:ext cx="2697480" cy="365760"/>
          </a:xfrm>
          <a:prstGeom prst="rect">
            <a:avLst/>
          </a:prstGeom>
          <a:noFill/>
          <a:ln/>
        </p:spPr>
        <p:txBody>
          <a:bodyPr wrap="square" lIns="0" tIns="0" rIns="0" bIns="0" rtlCol="0" anchor="ctr"/>
          <a:lstStyle/>
          <a:p>
            <a:pPr algn="ctr" indent="0" marL="0">
              <a:buNone/>
            </a:pPr>
            <a:r>
              <a:rPr lang="en-US" sz="1100" b="1" spc="300" kern="0" dirty="0">
                <a:solidFill>
                  <a:srgbClr val="FFFFFF"/>
                </a:solidFill>
                <a:latin typeface="Consolas" pitchFamily="34" charset="0"/>
                <a:ea typeface="Consolas" pitchFamily="34" charset="-122"/>
                <a:cs typeface="Consolas" pitchFamily="34" charset="-120"/>
              </a:rPr>
              <a:t>AIMING MODES</a:t>
            </a:r>
            <a:endParaRPr lang="en-US" sz="1100" dirty="0"/>
          </a:p>
        </p:txBody>
      </p:sp>
      <p:sp>
        <p:nvSpPr>
          <p:cNvPr id="19" name="Shape 17"/>
          <p:cNvSpPr/>
          <p:nvPr/>
        </p:nvSpPr>
        <p:spPr>
          <a:xfrm>
            <a:off x="9134856" y="1828800"/>
            <a:ext cx="2697480" cy="1371600"/>
          </a:xfrm>
          <a:prstGeom prst="rect">
            <a:avLst/>
          </a:prstGeom>
          <a:solidFill>
            <a:srgbClr val="141938"/>
          </a:solidFill>
          <a:ln/>
        </p:spPr>
      </p:sp>
      <p:sp>
        <p:nvSpPr>
          <p:cNvPr id="20" name="Shape 18"/>
          <p:cNvSpPr/>
          <p:nvPr/>
        </p:nvSpPr>
        <p:spPr>
          <a:xfrm>
            <a:off x="9134856" y="1828800"/>
            <a:ext cx="2697480" cy="54864"/>
          </a:xfrm>
          <a:prstGeom prst="rect">
            <a:avLst/>
          </a:prstGeom>
          <a:solidFill>
            <a:srgbClr val="9D4EDD"/>
          </a:solidFill>
          <a:ln/>
        </p:spPr>
      </p:sp>
      <p:sp>
        <p:nvSpPr>
          <p:cNvPr id="21" name="Text 19"/>
          <p:cNvSpPr/>
          <p:nvPr/>
        </p:nvSpPr>
        <p:spPr>
          <a:xfrm>
            <a:off x="9134856" y="1965960"/>
            <a:ext cx="2697480" cy="777240"/>
          </a:xfrm>
          <a:prstGeom prst="rect">
            <a:avLst/>
          </a:prstGeom>
          <a:noFill/>
          <a:ln/>
        </p:spPr>
        <p:txBody>
          <a:bodyPr wrap="square" lIns="0" tIns="0" rIns="0" bIns="0" rtlCol="0" anchor="ctr"/>
          <a:lstStyle/>
          <a:p>
            <a:pPr algn="ctr" indent="0" marL="0">
              <a:buNone/>
            </a:pPr>
            <a:r>
              <a:rPr lang="en-US" sz="5600" b="1" dirty="0">
                <a:solidFill>
                  <a:srgbClr val="9D4EDD"/>
                </a:solidFill>
                <a:latin typeface="Impact" pitchFamily="34" charset="0"/>
                <a:ea typeface="Impact" pitchFamily="34" charset="-122"/>
                <a:cs typeface="Impact" pitchFamily="34" charset="-120"/>
              </a:rPr>
              <a:t>7+</a:t>
            </a:r>
            <a:endParaRPr lang="en-US" sz="5600" dirty="0"/>
          </a:p>
        </p:txBody>
      </p:sp>
      <p:sp>
        <p:nvSpPr>
          <p:cNvPr id="22" name="Text 20"/>
          <p:cNvSpPr/>
          <p:nvPr/>
        </p:nvSpPr>
        <p:spPr>
          <a:xfrm>
            <a:off x="9134856" y="2743200"/>
            <a:ext cx="2697480" cy="365760"/>
          </a:xfrm>
          <a:prstGeom prst="rect">
            <a:avLst/>
          </a:prstGeom>
          <a:noFill/>
          <a:ln/>
        </p:spPr>
        <p:txBody>
          <a:bodyPr wrap="square" lIns="0" tIns="0" rIns="0" bIns="0" rtlCol="0" anchor="ctr"/>
          <a:lstStyle/>
          <a:p>
            <a:pPr algn="ctr" indent="0" marL="0">
              <a:buNone/>
            </a:pPr>
            <a:r>
              <a:rPr lang="en-US" sz="1100" b="1" spc="300" kern="0" dirty="0">
                <a:solidFill>
                  <a:srgbClr val="FFFFFF"/>
                </a:solidFill>
                <a:latin typeface="Consolas" pitchFamily="34" charset="0"/>
                <a:ea typeface="Consolas" pitchFamily="34" charset="-122"/>
                <a:cs typeface="Consolas" pitchFamily="34" charset="-120"/>
              </a:rPr>
              <a:t>CORE MODULES</a:t>
            </a:r>
            <a:endParaRPr lang="en-US" sz="1100" dirty="0"/>
          </a:p>
        </p:txBody>
      </p:sp>
      <p:sp>
        <p:nvSpPr>
          <p:cNvPr id="23" name="Text 21"/>
          <p:cNvSpPr/>
          <p:nvPr/>
        </p:nvSpPr>
        <p:spPr>
          <a:xfrm>
            <a:off x="548640" y="3429000"/>
            <a:ext cx="10972800" cy="365760"/>
          </a:xfrm>
          <a:prstGeom prst="rect">
            <a:avLst/>
          </a:prstGeom>
          <a:noFill/>
          <a:ln/>
        </p:spPr>
        <p:txBody>
          <a:bodyPr wrap="square" lIns="0" tIns="0" rIns="0" bIns="0" rtlCol="0" anchor="ctr"/>
          <a:lstStyle/>
          <a:p>
            <a:pPr indent="0" marL="0">
              <a:buNone/>
            </a:pPr>
            <a:r>
              <a:rPr lang="en-US" sz="1400" b="1" spc="400" kern="0" dirty="0">
                <a:solidFill>
                  <a:srgbClr val="00F0FF"/>
                </a:solidFill>
                <a:latin typeface="Consolas" pitchFamily="34" charset="0"/>
                <a:ea typeface="Consolas" pitchFamily="34" charset="-122"/>
                <a:cs typeface="Consolas" pitchFamily="34" charset="-120"/>
              </a:rPr>
              <a:t>KEY ACHIEVEMENTS</a:t>
            </a:r>
            <a:endParaRPr lang="en-US" sz="1400" dirty="0"/>
          </a:p>
        </p:txBody>
      </p:sp>
      <p:pic>
        <p:nvPicPr>
          <p:cNvPr id="24" name="Image 0" descr="preencoded.png"/>
          <p:cNvPicPr>
            <a:picLocks noChangeAspect="1"/>
          </p:cNvPicPr>
          <p:nvPr/>
        </p:nvPicPr>
        <p:blipFill>
          <a:blip r:embed="rId1"/>
          <a:stretch>
            <a:fillRect/>
          </a:stretch>
        </p:blipFill>
        <p:spPr>
          <a:xfrm>
            <a:off x="548640" y="3931920"/>
            <a:ext cx="256032" cy="256032"/>
          </a:xfrm>
          <a:prstGeom prst="rect">
            <a:avLst/>
          </a:prstGeom>
        </p:spPr>
      </p:pic>
      <p:sp>
        <p:nvSpPr>
          <p:cNvPr id="25" name="Text 22"/>
          <p:cNvSpPr/>
          <p:nvPr/>
        </p:nvSpPr>
        <p:spPr>
          <a:xfrm>
            <a:off x="914400" y="3886200"/>
            <a:ext cx="5120640" cy="411480"/>
          </a:xfrm>
          <a:prstGeom prst="rect">
            <a:avLst/>
          </a:prstGeom>
          <a:noFill/>
          <a:ln/>
        </p:spPr>
        <p:txBody>
          <a:bodyPr wrap="square" lIns="0" tIns="0" rIns="0" bIns="0" rtlCol="0" anchor="ctr"/>
          <a:lstStyle/>
          <a:p>
            <a:pPr indent="0" marL="0">
              <a:buNone/>
            </a:pPr>
            <a:r>
              <a:rPr lang="en-US" sz="1200" dirty="0">
                <a:solidFill>
                  <a:srgbClr val="A8B2D1"/>
                </a:solidFill>
                <a:latin typeface="Calibri" pitchFamily="34" charset="0"/>
                <a:ea typeface="Calibri" pitchFamily="34" charset="-122"/>
                <a:cs typeface="Calibri" pitchFamily="34" charset="-120"/>
              </a:rPr>
              <a:t>Complete top-down 2D shooter developed from the ground up using Unity and C#</a:t>
            </a:r>
            <a:endParaRPr lang="en-US" sz="1200" dirty="0"/>
          </a:p>
        </p:txBody>
      </p:sp>
      <p:pic>
        <p:nvPicPr>
          <p:cNvPr id="26" name="Image 1" descr="preencoded.png"/>
          <p:cNvPicPr>
            <a:picLocks noChangeAspect="1"/>
          </p:cNvPicPr>
          <p:nvPr/>
        </p:nvPicPr>
        <p:blipFill>
          <a:blip r:embed="rId2"/>
          <a:stretch>
            <a:fillRect/>
          </a:stretch>
        </p:blipFill>
        <p:spPr>
          <a:xfrm>
            <a:off x="548640" y="4343400"/>
            <a:ext cx="256032" cy="256032"/>
          </a:xfrm>
          <a:prstGeom prst="rect">
            <a:avLst/>
          </a:prstGeom>
        </p:spPr>
      </p:pic>
      <p:sp>
        <p:nvSpPr>
          <p:cNvPr id="27" name="Text 23"/>
          <p:cNvSpPr/>
          <p:nvPr/>
        </p:nvSpPr>
        <p:spPr>
          <a:xfrm>
            <a:off x="914400" y="4297680"/>
            <a:ext cx="5120640" cy="411480"/>
          </a:xfrm>
          <a:prstGeom prst="rect">
            <a:avLst/>
          </a:prstGeom>
          <a:noFill/>
          <a:ln/>
        </p:spPr>
        <p:txBody>
          <a:bodyPr wrap="square" lIns="0" tIns="0" rIns="0" bIns="0" rtlCol="0" anchor="ctr"/>
          <a:lstStyle/>
          <a:p>
            <a:pPr indent="0" marL="0">
              <a:buNone/>
            </a:pPr>
            <a:r>
              <a:rPr lang="en-US" sz="1200" dirty="0">
                <a:solidFill>
                  <a:srgbClr val="A8B2D1"/>
                </a:solidFill>
                <a:latin typeface="Calibri" pitchFamily="34" charset="0"/>
                <a:ea typeface="Calibri" pitchFamily="34" charset="-122"/>
                <a:cs typeface="Calibri" pitchFamily="34" charset="-120"/>
              </a:rPr>
              <a:t>Four distinct player movement styles enabling diverse gameplay experiences</a:t>
            </a:r>
            <a:endParaRPr lang="en-US" sz="1200" dirty="0"/>
          </a:p>
        </p:txBody>
      </p:sp>
      <p:pic>
        <p:nvPicPr>
          <p:cNvPr id="28" name="Image 2" descr="preencoded.png"/>
          <p:cNvPicPr>
            <a:picLocks noChangeAspect="1"/>
          </p:cNvPicPr>
          <p:nvPr/>
        </p:nvPicPr>
        <p:blipFill>
          <a:blip r:embed="rId3"/>
          <a:stretch>
            <a:fillRect/>
          </a:stretch>
        </p:blipFill>
        <p:spPr>
          <a:xfrm>
            <a:off x="548640" y="4754880"/>
            <a:ext cx="256032" cy="256032"/>
          </a:xfrm>
          <a:prstGeom prst="rect">
            <a:avLst/>
          </a:prstGeom>
        </p:spPr>
      </p:pic>
      <p:sp>
        <p:nvSpPr>
          <p:cNvPr id="29" name="Text 24"/>
          <p:cNvSpPr/>
          <p:nvPr/>
        </p:nvSpPr>
        <p:spPr>
          <a:xfrm>
            <a:off x="914400" y="4709160"/>
            <a:ext cx="5120640" cy="411480"/>
          </a:xfrm>
          <a:prstGeom prst="rect">
            <a:avLst/>
          </a:prstGeom>
          <a:noFill/>
          <a:ln/>
        </p:spPr>
        <p:txBody>
          <a:bodyPr wrap="square" lIns="0" tIns="0" rIns="0" bIns="0" rtlCol="0" anchor="ctr"/>
          <a:lstStyle/>
          <a:p>
            <a:pPr indent="0" marL="0">
              <a:buNone/>
            </a:pPr>
            <a:r>
              <a:rPr lang="en-US" sz="1200" dirty="0">
                <a:solidFill>
                  <a:srgbClr val="A8B2D1"/>
                </a:solidFill>
                <a:latin typeface="Calibri" pitchFamily="34" charset="0"/>
                <a:ea typeface="Calibri" pitchFamily="34" charset="-122"/>
                <a:cs typeface="Calibri" pitchFamily="34" charset="-120"/>
              </a:rPr>
              <a:t>Enemy AI featuring FollowTarget pursuit, Scroll patrolling, and independent firing capability</a:t>
            </a:r>
            <a:endParaRPr lang="en-US" sz="1200" dirty="0"/>
          </a:p>
        </p:txBody>
      </p:sp>
      <p:pic>
        <p:nvPicPr>
          <p:cNvPr id="30" name="Image 3" descr="preencoded.png"/>
          <p:cNvPicPr>
            <a:picLocks noChangeAspect="1"/>
          </p:cNvPicPr>
          <p:nvPr/>
        </p:nvPicPr>
        <p:blipFill>
          <a:blip r:embed="rId4"/>
          <a:stretch>
            <a:fillRect/>
          </a:stretch>
        </p:blipFill>
        <p:spPr>
          <a:xfrm>
            <a:off x="548640" y="5166360"/>
            <a:ext cx="256032" cy="256032"/>
          </a:xfrm>
          <a:prstGeom prst="rect">
            <a:avLst/>
          </a:prstGeom>
        </p:spPr>
      </p:pic>
      <p:sp>
        <p:nvSpPr>
          <p:cNvPr id="31" name="Text 25"/>
          <p:cNvSpPr/>
          <p:nvPr/>
        </p:nvSpPr>
        <p:spPr>
          <a:xfrm>
            <a:off x="914400" y="5120640"/>
            <a:ext cx="5120640" cy="411480"/>
          </a:xfrm>
          <a:prstGeom prst="rect">
            <a:avLst/>
          </a:prstGeom>
          <a:noFill/>
          <a:ln/>
        </p:spPr>
        <p:txBody>
          <a:bodyPr wrap="square" lIns="0" tIns="0" rIns="0" bIns="0" rtlCol="0" anchor="ctr"/>
          <a:lstStyle/>
          <a:p>
            <a:pPr indent="0" marL="0">
              <a:buNone/>
            </a:pPr>
            <a:r>
              <a:rPr lang="en-US" sz="1200" dirty="0">
                <a:solidFill>
                  <a:srgbClr val="A8B2D1"/>
                </a:solidFill>
                <a:latin typeface="Calibri" pitchFamily="34" charset="0"/>
                <a:ea typeface="Calibri" pitchFamily="34" charset="-122"/>
                <a:cs typeface="Calibri" pitchFamily="34" charset="-120"/>
              </a:rPr>
              <a:t>Faction-filtered damage system incorporating post-hit invincibility and a lives mechanic</a:t>
            </a:r>
            <a:endParaRPr lang="en-US" sz="1200" dirty="0"/>
          </a:p>
        </p:txBody>
      </p:sp>
      <p:pic>
        <p:nvPicPr>
          <p:cNvPr id="32" name="Image 4" descr="preencoded.png"/>
          <p:cNvPicPr>
            <a:picLocks noChangeAspect="1"/>
          </p:cNvPicPr>
          <p:nvPr/>
        </p:nvPicPr>
        <p:blipFill>
          <a:blip r:embed="rId5"/>
          <a:stretch>
            <a:fillRect/>
          </a:stretch>
        </p:blipFill>
        <p:spPr>
          <a:xfrm>
            <a:off x="548640" y="5577840"/>
            <a:ext cx="256032" cy="256032"/>
          </a:xfrm>
          <a:prstGeom prst="rect">
            <a:avLst/>
          </a:prstGeom>
        </p:spPr>
      </p:pic>
      <p:sp>
        <p:nvSpPr>
          <p:cNvPr id="33" name="Text 26"/>
          <p:cNvSpPr/>
          <p:nvPr/>
        </p:nvSpPr>
        <p:spPr>
          <a:xfrm>
            <a:off x="914400" y="5532120"/>
            <a:ext cx="5120640" cy="411480"/>
          </a:xfrm>
          <a:prstGeom prst="rect">
            <a:avLst/>
          </a:prstGeom>
          <a:noFill/>
          <a:ln/>
        </p:spPr>
        <p:txBody>
          <a:bodyPr wrap="square" lIns="0" tIns="0" rIns="0" bIns="0" rtlCol="0" anchor="ctr"/>
          <a:lstStyle/>
          <a:p>
            <a:pPr indent="0" marL="0">
              <a:buNone/>
            </a:pPr>
            <a:r>
              <a:rPr lang="en-US" sz="1200" dirty="0">
                <a:solidFill>
                  <a:srgbClr val="A8B2D1"/>
                </a:solidFill>
                <a:latin typeface="Calibri" pitchFamily="34" charset="0"/>
                <a:ea typeface="Calibri" pitchFamily="34" charset="-122"/>
                <a:cs typeface="Calibri" pitchFamily="34" charset="-120"/>
              </a:rPr>
              <a:t>Adjustable projectile framework fully integrated with the damage resolution pipeline</a:t>
            </a:r>
            <a:endParaRPr lang="en-US" sz="1200" dirty="0"/>
          </a:p>
        </p:txBody>
      </p:sp>
      <p:pic>
        <p:nvPicPr>
          <p:cNvPr id="34" name="Image 5" descr="preencoded.png"/>
          <p:cNvPicPr>
            <a:picLocks noChangeAspect="1"/>
          </p:cNvPicPr>
          <p:nvPr/>
        </p:nvPicPr>
        <p:blipFill>
          <a:blip r:embed="rId6"/>
          <a:stretch>
            <a:fillRect/>
          </a:stretch>
        </p:blipFill>
        <p:spPr>
          <a:xfrm>
            <a:off x="6172200" y="3931920"/>
            <a:ext cx="256032" cy="256032"/>
          </a:xfrm>
          <a:prstGeom prst="rect">
            <a:avLst/>
          </a:prstGeom>
        </p:spPr>
      </p:pic>
      <p:sp>
        <p:nvSpPr>
          <p:cNvPr id="35" name="Text 27"/>
          <p:cNvSpPr/>
          <p:nvPr/>
        </p:nvSpPr>
        <p:spPr>
          <a:xfrm>
            <a:off x="6537960" y="3886200"/>
            <a:ext cx="5120640" cy="411480"/>
          </a:xfrm>
          <a:prstGeom prst="rect">
            <a:avLst/>
          </a:prstGeom>
          <a:noFill/>
          <a:ln/>
        </p:spPr>
        <p:txBody>
          <a:bodyPr wrap="square" lIns="0" tIns="0" rIns="0" bIns="0" rtlCol="0" anchor="ctr"/>
          <a:lstStyle/>
          <a:p>
            <a:pPr indent="0" marL="0">
              <a:buNone/>
            </a:pPr>
            <a:r>
              <a:rPr lang="en-US" sz="1200" dirty="0">
                <a:solidFill>
                  <a:srgbClr val="A8B2D1"/>
                </a:solidFill>
                <a:latin typeface="Calibri" pitchFamily="34" charset="0"/>
                <a:ea typeface="Calibri" pitchFamily="34" charset="-122"/>
                <a:cs typeface="Calibri" pitchFamily="34" charset="-120"/>
              </a:rPr>
              <a:t>Session-persistent high score retention implemented through PlayerPrefs</a:t>
            </a:r>
            <a:endParaRPr lang="en-US" sz="1200" dirty="0"/>
          </a:p>
        </p:txBody>
      </p:sp>
      <p:pic>
        <p:nvPicPr>
          <p:cNvPr id="36" name="Image 6" descr="preencoded.png"/>
          <p:cNvPicPr>
            <a:picLocks noChangeAspect="1"/>
          </p:cNvPicPr>
          <p:nvPr/>
        </p:nvPicPr>
        <p:blipFill>
          <a:blip r:embed="rId7"/>
          <a:stretch>
            <a:fillRect/>
          </a:stretch>
        </p:blipFill>
        <p:spPr>
          <a:xfrm>
            <a:off x="6172200" y="4343400"/>
            <a:ext cx="256032" cy="256032"/>
          </a:xfrm>
          <a:prstGeom prst="rect">
            <a:avLst/>
          </a:prstGeom>
        </p:spPr>
      </p:pic>
      <p:sp>
        <p:nvSpPr>
          <p:cNvPr id="37" name="Text 28"/>
          <p:cNvSpPr/>
          <p:nvPr/>
        </p:nvSpPr>
        <p:spPr>
          <a:xfrm>
            <a:off x="6537960" y="4297680"/>
            <a:ext cx="5120640" cy="411480"/>
          </a:xfrm>
          <a:prstGeom prst="rect">
            <a:avLst/>
          </a:prstGeom>
          <a:noFill/>
          <a:ln/>
        </p:spPr>
        <p:txBody>
          <a:bodyPr wrap="square" lIns="0" tIns="0" rIns="0" bIns="0" rtlCol="0" anchor="ctr"/>
          <a:lstStyle/>
          <a:p>
            <a:pPr indent="0" marL="0">
              <a:buNone/>
            </a:pPr>
            <a:r>
              <a:rPr lang="en-US" sz="1200" dirty="0">
                <a:solidFill>
                  <a:srgbClr val="A8B2D1"/>
                </a:solidFill>
                <a:latin typeface="Calibri" pitchFamily="34" charset="0"/>
                <a:ea typeface="Calibri" pitchFamily="34" charset="-122"/>
                <a:cs typeface="Calibri" pitchFamily="34" charset="-120"/>
              </a:rPr>
              <a:t>Win and loss state detection backed by debug-logged enemy count verification</a:t>
            </a:r>
            <a:endParaRPr lang="en-US" sz="1200" dirty="0"/>
          </a:p>
        </p:txBody>
      </p:sp>
      <p:pic>
        <p:nvPicPr>
          <p:cNvPr id="38" name="Image 7" descr="preencoded.png"/>
          <p:cNvPicPr>
            <a:picLocks noChangeAspect="1"/>
          </p:cNvPicPr>
          <p:nvPr/>
        </p:nvPicPr>
        <p:blipFill>
          <a:blip r:embed="rId8"/>
          <a:stretch>
            <a:fillRect/>
          </a:stretch>
        </p:blipFill>
        <p:spPr>
          <a:xfrm>
            <a:off x="6172200" y="4754880"/>
            <a:ext cx="256032" cy="256032"/>
          </a:xfrm>
          <a:prstGeom prst="rect">
            <a:avLst/>
          </a:prstGeom>
        </p:spPr>
      </p:pic>
      <p:sp>
        <p:nvSpPr>
          <p:cNvPr id="39" name="Text 29"/>
          <p:cNvSpPr/>
          <p:nvPr/>
        </p:nvSpPr>
        <p:spPr>
          <a:xfrm>
            <a:off x="6537960" y="4709160"/>
            <a:ext cx="5120640" cy="411480"/>
          </a:xfrm>
          <a:prstGeom prst="rect">
            <a:avLst/>
          </a:prstGeom>
          <a:noFill/>
          <a:ln/>
        </p:spPr>
        <p:txBody>
          <a:bodyPr wrap="square" lIns="0" tIns="0" rIns="0" bIns="0" rtlCol="0" anchor="ctr"/>
          <a:lstStyle/>
          <a:p>
            <a:pPr indent="0" marL="0">
              <a:buNone/>
            </a:pPr>
            <a:r>
              <a:rPr lang="en-US" sz="1200" dirty="0">
                <a:solidFill>
                  <a:srgbClr val="A8B2D1"/>
                </a:solidFill>
                <a:latin typeface="Calibri" pitchFamily="34" charset="0"/>
                <a:ea typeface="Calibri" pitchFamily="34" charset="-122"/>
                <a:cs typeface="Calibri" pitchFamily="34" charset="-120"/>
              </a:rPr>
              <a:t>Full interface suite covering in-game HUD, pause menu, game-over screen, and victory display</a:t>
            </a:r>
            <a:endParaRPr lang="en-US" sz="1200" dirty="0"/>
          </a:p>
        </p:txBody>
      </p:sp>
      <p:pic>
        <p:nvPicPr>
          <p:cNvPr id="40" name="Image 8" descr="preencoded.png"/>
          <p:cNvPicPr>
            <a:picLocks noChangeAspect="1"/>
          </p:cNvPicPr>
          <p:nvPr/>
        </p:nvPicPr>
        <p:blipFill>
          <a:blip r:embed="rId9"/>
          <a:stretch>
            <a:fillRect/>
          </a:stretch>
        </p:blipFill>
        <p:spPr>
          <a:xfrm>
            <a:off x="6172200" y="5166360"/>
            <a:ext cx="256032" cy="256032"/>
          </a:xfrm>
          <a:prstGeom prst="rect">
            <a:avLst/>
          </a:prstGeom>
        </p:spPr>
      </p:pic>
      <p:sp>
        <p:nvSpPr>
          <p:cNvPr id="41" name="Text 30"/>
          <p:cNvSpPr/>
          <p:nvPr/>
        </p:nvSpPr>
        <p:spPr>
          <a:xfrm>
            <a:off x="6537960" y="5120640"/>
            <a:ext cx="5120640" cy="411480"/>
          </a:xfrm>
          <a:prstGeom prst="rect">
            <a:avLst/>
          </a:prstGeom>
          <a:noFill/>
          <a:ln/>
        </p:spPr>
        <p:txBody>
          <a:bodyPr wrap="square" lIns="0" tIns="0" rIns="0" bIns="0" rtlCol="0" anchor="ctr"/>
          <a:lstStyle/>
          <a:p>
            <a:pPr indent="0" marL="0">
              <a:buNone/>
            </a:pPr>
            <a:r>
              <a:rPr lang="en-US" sz="1200" dirty="0">
                <a:solidFill>
                  <a:srgbClr val="A8B2D1"/>
                </a:solidFill>
                <a:latin typeface="Calibri" pitchFamily="34" charset="0"/>
                <a:ea typeface="Calibri" pitchFamily="34" charset="-122"/>
                <a:cs typeface="Calibri" pitchFamily="34" charset="-120"/>
              </a:rPr>
              <a:t>Adaptive camera system supporting Locked, Overhead, and Free-follow tracking styles</a:t>
            </a:r>
            <a:endParaRPr lang="en-US" sz="1200" dirty="0"/>
          </a:p>
        </p:txBody>
      </p:sp>
      <p:pic>
        <p:nvPicPr>
          <p:cNvPr id="42" name="Image 9" descr="preencoded.png"/>
          <p:cNvPicPr>
            <a:picLocks noChangeAspect="1"/>
          </p:cNvPicPr>
          <p:nvPr/>
        </p:nvPicPr>
        <p:blipFill>
          <a:blip r:embed="rId10"/>
          <a:stretch>
            <a:fillRect/>
          </a:stretch>
        </p:blipFill>
        <p:spPr>
          <a:xfrm>
            <a:off x="6172200" y="5577840"/>
            <a:ext cx="256032" cy="256032"/>
          </a:xfrm>
          <a:prstGeom prst="rect">
            <a:avLst/>
          </a:prstGeom>
        </p:spPr>
      </p:pic>
      <p:sp>
        <p:nvSpPr>
          <p:cNvPr id="43" name="Text 31"/>
          <p:cNvSpPr/>
          <p:nvPr/>
        </p:nvSpPr>
        <p:spPr>
          <a:xfrm>
            <a:off x="6537960" y="5532120"/>
            <a:ext cx="5120640" cy="411480"/>
          </a:xfrm>
          <a:prstGeom prst="rect">
            <a:avLst/>
          </a:prstGeom>
          <a:noFill/>
          <a:ln/>
        </p:spPr>
        <p:txBody>
          <a:bodyPr wrap="square" lIns="0" tIns="0" rIns="0" bIns="0" rtlCol="0" anchor="ctr"/>
          <a:lstStyle/>
          <a:p>
            <a:pPr indent="0" marL="0">
              <a:buNone/>
            </a:pPr>
            <a:r>
              <a:rPr lang="en-US" sz="1200" dirty="0">
                <a:solidFill>
                  <a:srgbClr val="A8B2D1"/>
                </a:solidFill>
                <a:latin typeface="Calibri" pitchFamily="34" charset="0"/>
                <a:ea typeface="Calibri" pitchFamily="34" charset="-122"/>
                <a:cs typeface="Calibri" pitchFamily="34" charset="-120"/>
              </a:rPr>
              <a:t>Compiled and released as a native standalone Windows application</a:t>
            </a:r>
            <a:endParaRPr lang="en-US" sz="1200" dirty="0"/>
          </a:p>
        </p:txBody>
      </p:sp>
      <p:sp>
        <p:nvSpPr>
          <p:cNvPr id="44" name="Text 32"/>
          <p:cNvSpPr/>
          <p:nvPr/>
        </p:nvSpPr>
        <p:spPr>
          <a:xfrm>
            <a:off x="457200" y="6446520"/>
            <a:ext cx="5486400" cy="274320"/>
          </a:xfrm>
          <a:prstGeom prst="rect">
            <a:avLst/>
          </a:prstGeom>
          <a:noFill/>
          <a:ln/>
        </p:spPr>
        <p:txBody>
          <a:bodyPr wrap="square" lIns="0" tIns="0" rIns="0" bIns="0" rtlCol="0" anchor="ctr"/>
          <a:lstStyle/>
          <a:p>
            <a:pPr indent="0" marL="0">
              <a:buNone/>
            </a:pPr>
            <a:r>
              <a:rPr lang="en-US" sz="1000" spc="300" kern="0" dirty="0">
                <a:solidFill>
                  <a:srgbClr val="6B7494"/>
                </a:solidFill>
                <a:latin typeface="Consolas" pitchFamily="34" charset="0"/>
                <a:ea typeface="Consolas" pitchFamily="34" charset="-122"/>
                <a:cs typeface="Consolas" pitchFamily="34" charset="-120"/>
              </a:rPr>
              <a:t>OUTCOMES</a:t>
            </a:r>
            <a:endParaRPr lang="en-US" sz="1000" dirty="0"/>
          </a:p>
        </p:txBody>
      </p:sp>
      <p:sp>
        <p:nvSpPr>
          <p:cNvPr id="45" name="Text 33"/>
          <p:cNvSpPr/>
          <p:nvPr/>
        </p:nvSpPr>
        <p:spPr>
          <a:xfrm>
            <a:off x="10362895" y="6446520"/>
            <a:ext cx="1371600" cy="274320"/>
          </a:xfrm>
          <a:prstGeom prst="rect">
            <a:avLst/>
          </a:prstGeom>
          <a:noFill/>
          <a:ln/>
        </p:spPr>
        <p:txBody>
          <a:bodyPr wrap="square" lIns="0" tIns="0" rIns="0" bIns="0" rtlCol="0" anchor="ctr"/>
          <a:lstStyle/>
          <a:p>
            <a:pPr algn="r" indent="0" marL="0">
              <a:buNone/>
            </a:pPr>
            <a:r>
              <a:rPr lang="en-US" sz="1000" spc="200" kern="0" dirty="0">
                <a:solidFill>
                  <a:srgbClr val="00F0FF"/>
                </a:solidFill>
                <a:latin typeface="Consolas" pitchFamily="34" charset="0"/>
                <a:ea typeface="Consolas" pitchFamily="34" charset="-122"/>
                <a:cs typeface="Consolas" pitchFamily="34" charset="-120"/>
              </a:rPr>
              <a:t>12 / 14</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E27"/>
        </a:solidFill>
      </p:bgPr>
    </p:bg>
    <p:spTree>
      <p:nvGrpSpPr>
        <p:cNvPr id="1" name=""/>
        <p:cNvGrpSpPr/>
        <p:nvPr/>
      </p:nvGrpSpPr>
      <p:grpSpPr>
        <a:xfrm>
          <a:off x="0" y="0"/>
          <a:ext cx="0" cy="0"/>
          <a:chOff x="0" y="0"/>
          <a:chExt cx="0" cy="0"/>
        </a:xfrm>
      </p:grpSpPr>
      <p:sp>
        <p:nvSpPr>
          <p:cNvPr id="2" name="Shape 0"/>
          <p:cNvSpPr/>
          <p:nvPr/>
        </p:nvSpPr>
        <p:spPr>
          <a:xfrm>
            <a:off x="12027103" y="0"/>
            <a:ext cx="164592" cy="6858000"/>
          </a:xfrm>
          <a:prstGeom prst="rect">
            <a:avLst/>
          </a:prstGeom>
          <a:solidFill>
            <a:srgbClr val="FF2A6D"/>
          </a:solidFill>
          <a:ln/>
        </p:spPr>
      </p:sp>
      <p:sp>
        <p:nvSpPr>
          <p:cNvPr id="3" name="Shape 1"/>
          <p:cNvSpPr/>
          <p:nvPr/>
        </p:nvSpPr>
        <p:spPr>
          <a:xfrm>
            <a:off x="0" y="0"/>
            <a:ext cx="164592" cy="914400"/>
          </a:xfrm>
          <a:prstGeom prst="rect">
            <a:avLst/>
          </a:prstGeom>
          <a:solidFill>
            <a:srgbClr val="00F0FF"/>
          </a:solidFill>
          <a:ln/>
        </p:spPr>
      </p:sp>
      <p:sp>
        <p:nvSpPr>
          <p:cNvPr id="4" name="Text 2"/>
          <p:cNvSpPr/>
          <p:nvPr/>
        </p:nvSpPr>
        <p:spPr>
          <a:xfrm>
            <a:off x="548640" y="457200"/>
            <a:ext cx="1828800" cy="365760"/>
          </a:xfrm>
          <a:prstGeom prst="rect">
            <a:avLst/>
          </a:prstGeom>
          <a:noFill/>
          <a:ln/>
        </p:spPr>
        <p:txBody>
          <a:bodyPr wrap="square" lIns="0" tIns="0" rIns="0" bIns="0" rtlCol="0" anchor="ctr"/>
          <a:lstStyle/>
          <a:p>
            <a:pPr indent="0" marL="0">
              <a:buNone/>
            </a:pPr>
            <a:r>
              <a:rPr lang="en-US" sz="1400" b="1" dirty="0">
                <a:solidFill>
                  <a:srgbClr val="FF2A6D"/>
                </a:solidFill>
                <a:latin typeface="Consolas" pitchFamily="34" charset="0"/>
                <a:ea typeface="Consolas" pitchFamily="34" charset="-122"/>
                <a:cs typeface="Consolas" pitchFamily="34" charset="-120"/>
              </a:rPr>
              <a:t>// 12</a:t>
            </a:r>
            <a:endParaRPr lang="en-US" sz="1400" dirty="0"/>
          </a:p>
        </p:txBody>
      </p:sp>
      <p:sp>
        <p:nvSpPr>
          <p:cNvPr id="5" name="Text 3"/>
          <p:cNvSpPr/>
          <p:nvPr/>
        </p:nvSpPr>
        <p:spPr>
          <a:xfrm>
            <a:off x="548640" y="777240"/>
            <a:ext cx="10972800" cy="731520"/>
          </a:xfrm>
          <a:prstGeom prst="rect">
            <a:avLst/>
          </a:prstGeom>
          <a:noFill/>
          <a:ln/>
        </p:spPr>
        <p:txBody>
          <a:bodyPr wrap="square" lIns="0" tIns="0" rIns="0" bIns="0" rtlCol="0" anchor="ctr"/>
          <a:lstStyle/>
          <a:p>
            <a:pPr indent="0" marL="0">
              <a:buNone/>
            </a:pPr>
            <a:r>
              <a:rPr lang="en-US" sz="4000" b="1" spc="200" kern="0" dirty="0">
                <a:solidFill>
                  <a:srgbClr val="FFFFFF"/>
                </a:solidFill>
                <a:latin typeface="Impact" pitchFamily="34" charset="0"/>
                <a:ea typeface="Impact" pitchFamily="34" charset="-122"/>
                <a:cs typeface="Impact" pitchFamily="34" charset="-120"/>
              </a:rPr>
              <a:t>CONCLUSION &amp; FUTURE WORK</a:t>
            </a:r>
            <a:endParaRPr lang="en-US" sz="4000" dirty="0"/>
          </a:p>
        </p:txBody>
      </p:sp>
      <p:sp>
        <p:nvSpPr>
          <p:cNvPr id="6" name="Shape 4"/>
          <p:cNvSpPr/>
          <p:nvPr/>
        </p:nvSpPr>
        <p:spPr>
          <a:xfrm>
            <a:off x="548640" y="1554480"/>
            <a:ext cx="640080" cy="36576"/>
          </a:xfrm>
          <a:prstGeom prst="rect">
            <a:avLst/>
          </a:prstGeom>
          <a:solidFill>
            <a:srgbClr val="00F0FF"/>
          </a:solidFill>
          <a:ln/>
        </p:spPr>
      </p:sp>
      <p:sp>
        <p:nvSpPr>
          <p:cNvPr id="7" name="Shape 5"/>
          <p:cNvSpPr/>
          <p:nvPr/>
        </p:nvSpPr>
        <p:spPr>
          <a:xfrm>
            <a:off x="548640" y="1874520"/>
            <a:ext cx="5760720" cy="4434840"/>
          </a:xfrm>
          <a:prstGeom prst="rect">
            <a:avLst/>
          </a:prstGeom>
          <a:solidFill>
            <a:srgbClr val="141938"/>
          </a:solidFill>
          <a:ln/>
        </p:spPr>
      </p:sp>
      <p:sp>
        <p:nvSpPr>
          <p:cNvPr id="8" name="Shape 6"/>
          <p:cNvSpPr/>
          <p:nvPr/>
        </p:nvSpPr>
        <p:spPr>
          <a:xfrm>
            <a:off x="548640" y="1874520"/>
            <a:ext cx="73152" cy="4434840"/>
          </a:xfrm>
          <a:prstGeom prst="rect">
            <a:avLst/>
          </a:prstGeom>
          <a:solidFill>
            <a:srgbClr val="00F0FF"/>
          </a:solidFill>
          <a:ln/>
        </p:spPr>
      </p:sp>
      <p:pic>
        <p:nvPicPr>
          <p:cNvPr id="9" name="Image 0" descr="preencoded.png"/>
          <p:cNvPicPr>
            <a:picLocks noChangeAspect="1"/>
          </p:cNvPicPr>
          <p:nvPr/>
        </p:nvPicPr>
        <p:blipFill>
          <a:blip r:embed="rId1"/>
          <a:stretch>
            <a:fillRect/>
          </a:stretch>
        </p:blipFill>
        <p:spPr>
          <a:xfrm>
            <a:off x="868680" y="2103120"/>
            <a:ext cx="457200" cy="457200"/>
          </a:xfrm>
          <a:prstGeom prst="rect">
            <a:avLst/>
          </a:prstGeom>
        </p:spPr>
      </p:pic>
      <p:sp>
        <p:nvSpPr>
          <p:cNvPr id="10" name="Text 7"/>
          <p:cNvSpPr/>
          <p:nvPr/>
        </p:nvSpPr>
        <p:spPr>
          <a:xfrm>
            <a:off x="1417320" y="2103120"/>
            <a:ext cx="4572000" cy="457200"/>
          </a:xfrm>
          <a:prstGeom prst="rect">
            <a:avLst/>
          </a:prstGeom>
          <a:noFill/>
          <a:ln/>
        </p:spPr>
        <p:txBody>
          <a:bodyPr wrap="square" lIns="0" tIns="0" rIns="0" bIns="0" rtlCol="0" anchor="ctr"/>
          <a:lstStyle/>
          <a:p>
            <a:pPr indent="0" marL="0">
              <a:buNone/>
            </a:pPr>
            <a:r>
              <a:rPr lang="en-US" sz="1800" b="1" spc="300" kern="0" dirty="0">
                <a:solidFill>
                  <a:srgbClr val="00F0FF"/>
                </a:solidFill>
                <a:latin typeface="Impact" pitchFamily="34" charset="0"/>
                <a:ea typeface="Impact" pitchFamily="34" charset="-122"/>
                <a:cs typeface="Impact" pitchFamily="34" charset="-120"/>
              </a:rPr>
              <a:t>CONCLUSION</a:t>
            </a:r>
            <a:endParaRPr lang="en-US" sz="1800" dirty="0"/>
          </a:p>
        </p:txBody>
      </p:sp>
      <p:sp>
        <p:nvSpPr>
          <p:cNvPr id="11" name="Text 8"/>
          <p:cNvSpPr/>
          <p:nvPr/>
        </p:nvSpPr>
        <p:spPr>
          <a:xfrm>
            <a:off x="868680" y="2697480"/>
            <a:ext cx="5349240" cy="1463040"/>
          </a:xfrm>
          <a:prstGeom prst="rect">
            <a:avLst/>
          </a:prstGeom>
          <a:noFill/>
          <a:ln/>
        </p:spPr>
        <p:txBody>
          <a:bodyPr wrap="square" lIns="0" tIns="0" rIns="0" bIns="0" rtlCol="0" anchor="ctr"/>
          <a:lstStyle/>
          <a:p>
            <a:pPr indent="0" marL="0">
              <a:spcAft>
                <a:spcPts val="400"/>
              </a:spcAft>
              <a:buNone/>
            </a:pPr>
            <a:r>
              <a:rPr lang="en-US" sz="1300" dirty="0">
                <a:solidFill>
                  <a:srgbClr val="A8B2D1"/>
                </a:solidFill>
                <a:latin typeface="Calibri" pitchFamily="34" charset="0"/>
                <a:ea typeface="Calibri" pitchFamily="34" charset="-122"/>
                <a:cs typeface="Calibri" pitchFamily="34" charset="-120"/>
              </a:rPr>
              <a:t>This project effectively illustrates the planning and development of a modular 2D Shooter built with Unity and C#. It demonstrates physics-driven and direct player movement, intelligent enemy behaviour, collision-triggered damage handling, scene and UI management, persistent data storage, and adaptable camera control.</a:t>
            </a:r>
            <a:endParaRPr lang="en-US" sz="1300" dirty="0"/>
          </a:p>
        </p:txBody>
      </p:sp>
      <p:sp>
        <p:nvSpPr>
          <p:cNvPr id="12" name="Text 9"/>
          <p:cNvSpPr/>
          <p:nvPr/>
        </p:nvSpPr>
        <p:spPr>
          <a:xfrm>
            <a:off x="868680" y="4206240"/>
            <a:ext cx="5349240" cy="1371600"/>
          </a:xfrm>
          <a:prstGeom prst="rect">
            <a:avLst/>
          </a:prstGeom>
          <a:noFill/>
          <a:ln/>
        </p:spPr>
        <p:txBody>
          <a:bodyPr wrap="square" lIns="0" tIns="0" rIns="0" bIns="0" rtlCol="0" anchor="ctr"/>
          <a:lstStyle/>
          <a:p>
            <a:pPr indent="0" marL="0">
              <a:spcAft>
                <a:spcPts val="400"/>
              </a:spcAft>
              <a:buNone/>
            </a:pPr>
            <a:r>
              <a:rPr lang="en-US" sz="1300" dirty="0">
                <a:solidFill>
                  <a:srgbClr val="A8B2D1"/>
                </a:solidFill>
                <a:latin typeface="Calibri" pitchFamily="34" charset="0"/>
                <a:ea typeface="Calibri" pitchFamily="34" charset="-122"/>
                <a:cs typeface="Calibri" pitchFamily="34" charset="-120"/>
              </a:rPr>
              <a:t>Unity's component-driven design enabled every subsystem to be built and validated on its own — minimising tight coupling and making the codebase far easier to maintain. The singleton pattern applied to GameManager and UIManager provided clean centralised control over global state without requiring intricate dependency injection.</a:t>
            </a:r>
            <a:endParaRPr lang="en-US" sz="1300" dirty="0"/>
          </a:p>
        </p:txBody>
      </p:sp>
      <p:sp>
        <p:nvSpPr>
          <p:cNvPr id="13" name="Shape 10"/>
          <p:cNvSpPr/>
          <p:nvPr/>
        </p:nvSpPr>
        <p:spPr>
          <a:xfrm>
            <a:off x="868680" y="5715000"/>
            <a:ext cx="45720" cy="457200"/>
          </a:xfrm>
          <a:prstGeom prst="rect">
            <a:avLst/>
          </a:prstGeom>
          <a:solidFill>
            <a:srgbClr val="00F0FF"/>
          </a:solidFill>
          <a:ln/>
        </p:spPr>
      </p:sp>
      <p:sp>
        <p:nvSpPr>
          <p:cNvPr id="14" name="Text 11"/>
          <p:cNvSpPr/>
          <p:nvPr/>
        </p:nvSpPr>
        <p:spPr>
          <a:xfrm>
            <a:off x="1005840" y="5715000"/>
            <a:ext cx="5212080" cy="457200"/>
          </a:xfrm>
          <a:prstGeom prst="rect">
            <a:avLst/>
          </a:prstGeom>
          <a:noFill/>
          <a:ln/>
        </p:spPr>
        <p:txBody>
          <a:bodyPr wrap="square" lIns="0" tIns="0" rIns="0" bIns="0" rtlCol="0" anchor="ctr"/>
          <a:lstStyle/>
          <a:p>
            <a:pPr indent="0" marL="0">
              <a:buNone/>
            </a:pPr>
            <a:r>
              <a:rPr lang="en-US" sz="1300" i="1" dirty="0">
                <a:solidFill>
                  <a:srgbClr val="FFFFFF"/>
                </a:solidFill>
                <a:latin typeface="Georgia" pitchFamily="34" charset="0"/>
                <a:ea typeface="Georgia" pitchFamily="34" charset="-122"/>
                <a:cs typeface="Georgia" pitchFamily="34" charset="-120"/>
              </a:rPr>
              <a:t>Fulfils all defined project requirements and delivers a fully functional, end-to-end playable game loop.</a:t>
            </a:r>
            <a:endParaRPr lang="en-US" sz="1300" dirty="0"/>
          </a:p>
        </p:txBody>
      </p:sp>
      <p:sp>
        <p:nvSpPr>
          <p:cNvPr id="15" name="Shape 12"/>
          <p:cNvSpPr/>
          <p:nvPr/>
        </p:nvSpPr>
        <p:spPr>
          <a:xfrm>
            <a:off x="6446520" y="1874520"/>
            <a:ext cx="5166360" cy="4434840"/>
          </a:xfrm>
          <a:prstGeom prst="rect">
            <a:avLst/>
          </a:prstGeom>
          <a:solidFill>
            <a:srgbClr val="141938"/>
          </a:solidFill>
          <a:ln/>
        </p:spPr>
      </p:sp>
      <p:sp>
        <p:nvSpPr>
          <p:cNvPr id="16" name="Shape 13"/>
          <p:cNvSpPr/>
          <p:nvPr/>
        </p:nvSpPr>
        <p:spPr>
          <a:xfrm>
            <a:off x="6446520" y="1874520"/>
            <a:ext cx="73152" cy="4434840"/>
          </a:xfrm>
          <a:prstGeom prst="rect">
            <a:avLst/>
          </a:prstGeom>
          <a:solidFill>
            <a:srgbClr val="FF2A6D"/>
          </a:solidFill>
          <a:ln/>
        </p:spPr>
      </p:sp>
      <p:pic>
        <p:nvPicPr>
          <p:cNvPr id="17" name="Image 1" descr="preencoded.png"/>
          <p:cNvPicPr>
            <a:picLocks noChangeAspect="1"/>
          </p:cNvPicPr>
          <p:nvPr/>
        </p:nvPicPr>
        <p:blipFill>
          <a:blip r:embed="rId2"/>
          <a:stretch>
            <a:fillRect/>
          </a:stretch>
        </p:blipFill>
        <p:spPr>
          <a:xfrm>
            <a:off x="6766560" y="2103120"/>
            <a:ext cx="457200" cy="457200"/>
          </a:xfrm>
          <a:prstGeom prst="rect">
            <a:avLst/>
          </a:prstGeom>
        </p:spPr>
      </p:pic>
      <p:sp>
        <p:nvSpPr>
          <p:cNvPr id="18" name="Text 14"/>
          <p:cNvSpPr/>
          <p:nvPr/>
        </p:nvSpPr>
        <p:spPr>
          <a:xfrm>
            <a:off x="7315200" y="2103120"/>
            <a:ext cx="4114800" cy="457200"/>
          </a:xfrm>
          <a:prstGeom prst="rect">
            <a:avLst/>
          </a:prstGeom>
          <a:noFill/>
          <a:ln/>
        </p:spPr>
        <p:txBody>
          <a:bodyPr wrap="square" lIns="0" tIns="0" rIns="0" bIns="0" rtlCol="0" anchor="ctr"/>
          <a:lstStyle/>
          <a:p>
            <a:pPr indent="0" marL="0">
              <a:buNone/>
            </a:pPr>
            <a:r>
              <a:rPr lang="en-US" sz="1800" b="1" spc="300" kern="0" dirty="0">
                <a:solidFill>
                  <a:srgbClr val="FF2A6D"/>
                </a:solidFill>
                <a:latin typeface="Impact" pitchFamily="34" charset="0"/>
                <a:ea typeface="Impact" pitchFamily="34" charset="-122"/>
                <a:cs typeface="Impact" pitchFamily="34" charset="-120"/>
              </a:rPr>
              <a:t>FUTURE WORK</a:t>
            </a:r>
            <a:endParaRPr lang="en-US" sz="1800" dirty="0"/>
          </a:p>
        </p:txBody>
      </p:sp>
      <p:sp>
        <p:nvSpPr>
          <p:cNvPr id="19" name="Shape 15"/>
          <p:cNvSpPr/>
          <p:nvPr/>
        </p:nvSpPr>
        <p:spPr>
          <a:xfrm>
            <a:off x="6766560" y="2834640"/>
            <a:ext cx="201168" cy="201168"/>
          </a:xfrm>
          <a:prstGeom prst="ellipse">
            <a:avLst/>
          </a:prstGeom>
          <a:solidFill>
            <a:srgbClr val="FF2A6D"/>
          </a:solidFill>
          <a:ln/>
        </p:spPr>
      </p:sp>
      <p:sp>
        <p:nvSpPr>
          <p:cNvPr id="20" name="Text 16"/>
          <p:cNvSpPr/>
          <p:nvPr/>
        </p:nvSpPr>
        <p:spPr>
          <a:xfrm>
            <a:off x="7086600" y="2743200"/>
            <a:ext cx="4434840" cy="5486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Additional enemy types</a:t>
            </a:r>
            <a:endParaRPr lang="en-US" sz="1300" dirty="0"/>
          </a:p>
          <a:p>
            <a:pPr indent="0" marL="0">
              <a:buNone/>
            </a:pPr>
            <a:r>
              <a:rPr lang="en-US" sz="1100" dirty="0">
                <a:solidFill>
                  <a:srgbClr val="A8B2D1"/>
                </a:solidFill>
                <a:latin typeface="Calibri" pitchFamily="34" charset="0"/>
                <a:ea typeface="Calibri" pitchFamily="34" charset="-122"/>
                <a:cs typeface="Calibri" pitchFamily="34" charset="-120"/>
              </a:rPr>
              <a:t>Diverse enemy patterns, new weapon types, and boss encounters</a:t>
            </a:r>
            <a:endParaRPr lang="en-US" sz="1300" dirty="0"/>
          </a:p>
        </p:txBody>
      </p:sp>
      <p:sp>
        <p:nvSpPr>
          <p:cNvPr id="21" name="Shape 17"/>
          <p:cNvSpPr/>
          <p:nvPr/>
        </p:nvSpPr>
        <p:spPr>
          <a:xfrm>
            <a:off x="6766560" y="3401568"/>
            <a:ext cx="201168" cy="201168"/>
          </a:xfrm>
          <a:prstGeom prst="ellipse">
            <a:avLst/>
          </a:prstGeom>
          <a:solidFill>
            <a:srgbClr val="FF2A6D"/>
          </a:solidFill>
          <a:ln/>
        </p:spPr>
      </p:sp>
      <p:sp>
        <p:nvSpPr>
          <p:cNvPr id="22" name="Text 18"/>
          <p:cNvSpPr/>
          <p:nvPr/>
        </p:nvSpPr>
        <p:spPr>
          <a:xfrm>
            <a:off x="7086600" y="3310128"/>
            <a:ext cx="4434840" cy="5486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Power-ups &amp; pickups</a:t>
            </a:r>
            <a:endParaRPr lang="en-US" sz="1300" dirty="0"/>
          </a:p>
          <a:p>
            <a:pPr indent="0" marL="0">
              <a:buNone/>
            </a:pPr>
            <a:r>
              <a:rPr lang="en-US" sz="1100" dirty="0">
                <a:solidFill>
                  <a:srgbClr val="A8B2D1"/>
                </a:solidFill>
                <a:latin typeface="Calibri" pitchFamily="34" charset="0"/>
                <a:ea typeface="Calibri" pitchFamily="34" charset="-122"/>
                <a:cs typeface="Calibri" pitchFamily="34" charset="-120"/>
              </a:rPr>
              <a:t>Short-term ability boosts, firearm enhancements, and health restoration collectibles</a:t>
            </a:r>
            <a:endParaRPr lang="en-US" sz="1300" dirty="0"/>
          </a:p>
        </p:txBody>
      </p:sp>
      <p:sp>
        <p:nvSpPr>
          <p:cNvPr id="23" name="Shape 19"/>
          <p:cNvSpPr/>
          <p:nvPr/>
        </p:nvSpPr>
        <p:spPr>
          <a:xfrm>
            <a:off x="6766560" y="3968496"/>
            <a:ext cx="201168" cy="201168"/>
          </a:xfrm>
          <a:prstGeom prst="ellipse">
            <a:avLst/>
          </a:prstGeom>
          <a:solidFill>
            <a:srgbClr val="FF2A6D"/>
          </a:solidFill>
          <a:ln/>
        </p:spPr>
      </p:sp>
      <p:sp>
        <p:nvSpPr>
          <p:cNvPr id="24" name="Text 20"/>
          <p:cNvSpPr/>
          <p:nvPr/>
        </p:nvSpPr>
        <p:spPr>
          <a:xfrm>
            <a:off x="7086600" y="3877056"/>
            <a:ext cx="4434840" cy="5486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Animated sprite sheets</a:t>
            </a:r>
            <a:endParaRPr lang="en-US" sz="1300" dirty="0"/>
          </a:p>
          <a:p>
            <a:pPr indent="0" marL="0">
              <a:buNone/>
            </a:pPr>
            <a:r>
              <a:rPr lang="en-US" sz="1100" dirty="0">
                <a:solidFill>
                  <a:srgbClr val="A8B2D1"/>
                </a:solidFill>
                <a:latin typeface="Calibri" pitchFamily="34" charset="0"/>
                <a:ea typeface="Calibri" pitchFamily="34" charset="-122"/>
                <a:cs typeface="Calibri" pitchFamily="34" charset="-120"/>
              </a:rPr>
              <a:t>Movement animations, weapon discharge sequences, and damage reaction frames</a:t>
            </a:r>
            <a:endParaRPr lang="en-US" sz="1300" dirty="0"/>
          </a:p>
        </p:txBody>
      </p:sp>
      <p:sp>
        <p:nvSpPr>
          <p:cNvPr id="25" name="Shape 21"/>
          <p:cNvSpPr/>
          <p:nvPr/>
        </p:nvSpPr>
        <p:spPr>
          <a:xfrm>
            <a:off x="6766560" y="4535424"/>
            <a:ext cx="201168" cy="201168"/>
          </a:xfrm>
          <a:prstGeom prst="ellipse">
            <a:avLst/>
          </a:prstGeom>
          <a:solidFill>
            <a:srgbClr val="FF2A6D"/>
          </a:solidFill>
          <a:ln/>
        </p:spPr>
      </p:sp>
      <p:sp>
        <p:nvSpPr>
          <p:cNvPr id="26" name="Text 22"/>
          <p:cNvSpPr/>
          <p:nvPr/>
        </p:nvSpPr>
        <p:spPr>
          <a:xfrm>
            <a:off x="7086600" y="4443984"/>
            <a:ext cx="4434840" cy="5486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Multiple levels</a:t>
            </a:r>
            <a:endParaRPr lang="en-US" sz="1300" dirty="0"/>
          </a:p>
          <a:p>
            <a:pPr indent="0" marL="0">
              <a:buNone/>
            </a:pPr>
            <a:r>
              <a:rPr lang="en-US" sz="1100" dirty="0">
                <a:solidFill>
                  <a:srgbClr val="A8B2D1"/>
                </a:solidFill>
                <a:latin typeface="Calibri" pitchFamily="34" charset="0"/>
                <a:ea typeface="Calibri" pitchFamily="34" charset="-122"/>
                <a:cs typeface="Calibri" pitchFamily="34" charset="-120"/>
              </a:rPr>
              <a:t>Progressively harder stages set across visually distinct environments</a:t>
            </a:r>
            <a:endParaRPr lang="en-US" sz="1300" dirty="0"/>
          </a:p>
        </p:txBody>
      </p:sp>
      <p:sp>
        <p:nvSpPr>
          <p:cNvPr id="27" name="Shape 23"/>
          <p:cNvSpPr/>
          <p:nvPr/>
        </p:nvSpPr>
        <p:spPr>
          <a:xfrm>
            <a:off x="6766560" y="5102352"/>
            <a:ext cx="201168" cy="201168"/>
          </a:xfrm>
          <a:prstGeom prst="ellipse">
            <a:avLst/>
          </a:prstGeom>
          <a:solidFill>
            <a:srgbClr val="FF2A6D"/>
          </a:solidFill>
          <a:ln/>
        </p:spPr>
      </p:sp>
      <p:sp>
        <p:nvSpPr>
          <p:cNvPr id="28" name="Text 24"/>
          <p:cNvSpPr/>
          <p:nvPr/>
        </p:nvSpPr>
        <p:spPr>
          <a:xfrm>
            <a:off x="7086600" y="5010912"/>
            <a:ext cx="4434840" cy="5486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Online leaderboards</a:t>
            </a:r>
            <a:endParaRPr lang="en-US" sz="1300" dirty="0"/>
          </a:p>
          <a:p>
            <a:pPr indent="0" marL="0">
              <a:buNone/>
            </a:pPr>
            <a:r>
              <a:rPr lang="en-US" sz="1100" dirty="0">
                <a:solidFill>
                  <a:srgbClr val="A8B2D1"/>
                </a:solidFill>
                <a:latin typeface="Calibri" pitchFamily="34" charset="0"/>
                <a:ea typeface="Calibri" pitchFamily="34" charset="-122"/>
                <a:cs typeface="Calibri" pitchFamily="34" charset="-120"/>
              </a:rPr>
              <a:t>Server-side score tracking extending beyond local PlayerPrefs storage</a:t>
            </a:r>
            <a:endParaRPr lang="en-US" sz="1300" dirty="0"/>
          </a:p>
        </p:txBody>
      </p:sp>
      <p:sp>
        <p:nvSpPr>
          <p:cNvPr id="29" name="Shape 25"/>
          <p:cNvSpPr/>
          <p:nvPr/>
        </p:nvSpPr>
        <p:spPr>
          <a:xfrm>
            <a:off x="6766560" y="5669280"/>
            <a:ext cx="201168" cy="201168"/>
          </a:xfrm>
          <a:prstGeom prst="ellipse">
            <a:avLst/>
          </a:prstGeom>
          <a:solidFill>
            <a:srgbClr val="FF2A6D"/>
          </a:solidFill>
          <a:ln/>
        </p:spPr>
      </p:sp>
      <p:sp>
        <p:nvSpPr>
          <p:cNvPr id="30" name="Text 26"/>
          <p:cNvSpPr/>
          <p:nvPr/>
        </p:nvSpPr>
        <p:spPr>
          <a:xfrm>
            <a:off x="7086600" y="5577840"/>
            <a:ext cx="4434840" cy="5486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Sound effects &amp; music</a:t>
            </a:r>
            <a:endParaRPr lang="en-US" sz="1300" dirty="0"/>
          </a:p>
          <a:p>
            <a:pPr indent="0" marL="0">
              <a:buNone/>
            </a:pPr>
            <a:r>
              <a:rPr lang="en-US" sz="1100" dirty="0">
                <a:solidFill>
                  <a:srgbClr val="A8B2D1"/>
                </a:solidFill>
                <a:latin typeface="Calibri" pitchFamily="34" charset="0"/>
                <a:ea typeface="Calibri" pitchFamily="34" charset="-122"/>
                <a:cs typeface="Calibri" pitchFamily="34" charset="-120"/>
              </a:rPr>
              <a:t>In-game action audio, background music, and interface interaction sounds</a:t>
            </a:r>
            <a:endParaRPr lang="en-US" sz="1300" dirty="0"/>
          </a:p>
        </p:txBody>
      </p:sp>
      <p:sp>
        <p:nvSpPr>
          <p:cNvPr id="31" name="Text 27"/>
          <p:cNvSpPr/>
          <p:nvPr/>
        </p:nvSpPr>
        <p:spPr>
          <a:xfrm>
            <a:off x="457200" y="6446520"/>
            <a:ext cx="5486400" cy="274320"/>
          </a:xfrm>
          <a:prstGeom prst="rect">
            <a:avLst/>
          </a:prstGeom>
          <a:noFill/>
          <a:ln/>
        </p:spPr>
        <p:txBody>
          <a:bodyPr wrap="square" lIns="0" tIns="0" rIns="0" bIns="0" rtlCol="0" anchor="ctr"/>
          <a:lstStyle/>
          <a:p>
            <a:pPr indent="0" marL="0">
              <a:buNone/>
            </a:pPr>
            <a:r>
              <a:rPr lang="en-US" sz="1000" spc="300" kern="0" dirty="0">
                <a:solidFill>
                  <a:srgbClr val="6B7494"/>
                </a:solidFill>
                <a:latin typeface="Consolas" pitchFamily="34" charset="0"/>
                <a:ea typeface="Consolas" pitchFamily="34" charset="-122"/>
                <a:cs typeface="Consolas" pitchFamily="34" charset="-120"/>
              </a:rPr>
              <a:t>CONCLUSION</a:t>
            </a:r>
            <a:endParaRPr lang="en-US" sz="1000" dirty="0"/>
          </a:p>
        </p:txBody>
      </p:sp>
      <p:sp>
        <p:nvSpPr>
          <p:cNvPr id="32" name="Text 28"/>
          <p:cNvSpPr/>
          <p:nvPr/>
        </p:nvSpPr>
        <p:spPr>
          <a:xfrm>
            <a:off x="10362895" y="6446520"/>
            <a:ext cx="1371600" cy="274320"/>
          </a:xfrm>
          <a:prstGeom prst="rect">
            <a:avLst/>
          </a:prstGeom>
          <a:noFill/>
          <a:ln/>
        </p:spPr>
        <p:txBody>
          <a:bodyPr wrap="square" lIns="0" tIns="0" rIns="0" bIns="0" rtlCol="0" anchor="ctr"/>
          <a:lstStyle/>
          <a:p>
            <a:pPr algn="r" indent="0" marL="0">
              <a:buNone/>
            </a:pPr>
            <a:r>
              <a:rPr lang="en-US" sz="1000" spc="200" kern="0" dirty="0">
                <a:solidFill>
                  <a:srgbClr val="00F0FF"/>
                </a:solidFill>
                <a:latin typeface="Consolas" pitchFamily="34" charset="0"/>
                <a:ea typeface="Consolas" pitchFamily="34" charset="-122"/>
                <a:cs typeface="Consolas" pitchFamily="34" charset="-120"/>
              </a:rPr>
              <a:t>13 / 14</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E27"/>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00F0FF"/>
          </a:solidFill>
          <a:ln/>
        </p:spPr>
      </p:sp>
      <p:sp>
        <p:nvSpPr>
          <p:cNvPr id="3" name="Shape 1"/>
          <p:cNvSpPr/>
          <p:nvPr/>
        </p:nvSpPr>
        <p:spPr>
          <a:xfrm>
            <a:off x="11871655" y="0"/>
            <a:ext cx="320040" cy="6858000"/>
          </a:xfrm>
          <a:prstGeom prst="rect">
            <a:avLst/>
          </a:prstGeom>
          <a:solidFill>
            <a:srgbClr val="FF2A6D"/>
          </a:solidFill>
          <a:ln/>
        </p:spPr>
      </p:sp>
      <p:sp>
        <p:nvSpPr>
          <p:cNvPr id="4" name="Text 2"/>
          <p:cNvSpPr/>
          <p:nvPr/>
        </p:nvSpPr>
        <p:spPr>
          <a:xfrm>
            <a:off x="731520" y="457200"/>
            <a:ext cx="10972800" cy="1371600"/>
          </a:xfrm>
          <a:prstGeom prst="rect">
            <a:avLst/>
          </a:prstGeom>
          <a:noFill/>
          <a:ln/>
        </p:spPr>
        <p:txBody>
          <a:bodyPr wrap="square" lIns="0" tIns="0" rIns="0" bIns="0" rtlCol="0" anchor="ctr"/>
          <a:lstStyle/>
          <a:p>
            <a:pPr indent="0" marL="0">
              <a:buNone/>
            </a:pPr>
            <a:r>
              <a:rPr lang="en-US" sz="11000" b="1" spc="600" kern="0" dirty="0">
                <a:solidFill>
                  <a:srgbClr val="FFFFFF"/>
                </a:solidFill>
                <a:latin typeface="Impact" pitchFamily="34" charset="0"/>
                <a:ea typeface="Impact" pitchFamily="34" charset="-122"/>
                <a:cs typeface="Impact" pitchFamily="34" charset="-120"/>
              </a:rPr>
              <a:t>THANK</a:t>
            </a:r>
            <a:endParaRPr lang="en-US" sz="11000" dirty="0"/>
          </a:p>
        </p:txBody>
      </p:sp>
      <p:sp>
        <p:nvSpPr>
          <p:cNvPr id="5" name="Text 3"/>
          <p:cNvSpPr/>
          <p:nvPr/>
        </p:nvSpPr>
        <p:spPr>
          <a:xfrm>
            <a:off x="731520" y="1691640"/>
            <a:ext cx="10972800" cy="1371600"/>
          </a:xfrm>
          <a:prstGeom prst="rect">
            <a:avLst/>
          </a:prstGeom>
          <a:noFill/>
          <a:ln/>
        </p:spPr>
        <p:txBody>
          <a:bodyPr wrap="square" lIns="0" tIns="0" rIns="0" bIns="0" rtlCol="0" anchor="ctr"/>
          <a:lstStyle/>
          <a:p>
            <a:pPr indent="0" marL="0">
              <a:buNone/>
            </a:pPr>
            <a:r>
              <a:rPr lang="en-US" sz="11000" b="1" spc="600" kern="0" dirty="0">
                <a:solidFill>
                  <a:srgbClr val="00F0FF"/>
                </a:solidFill>
                <a:latin typeface="Impact" pitchFamily="34" charset="0"/>
                <a:ea typeface="Impact" pitchFamily="34" charset="-122"/>
                <a:cs typeface="Impact" pitchFamily="34" charset="-120"/>
              </a:rPr>
              <a:t>YOU.</a:t>
            </a:r>
            <a:endParaRPr lang="en-US" sz="11000" dirty="0"/>
          </a:p>
        </p:txBody>
      </p:sp>
      <p:sp>
        <p:nvSpPr>
          <p:cNvPr id="6" name="Shape 4"/>
          <p:cNvSpPr/>
          <p:nvPr/>
        </p:nvSpPr>
        <p:spPr>
          <a:xfrm>
            <a:off x="731520" y="3108960"/>
            <a:ext cx="731520" cy="36576"/>
          </a:xfrm>
          <a:prstGeom prst="rect">
            <a:avLst/>
          </a:prstGeom>
          <a:solidFill>
            <a:srgbClr val="FF2A6D"/>
          </a:solidFill>
          <a:ln/>
        </p:spPr>
      </p:sp>
      <p:sp>
        <p:nvSpPr>
          <p:cNvPr id="7" name="Text 5"/>
          <p:cNvSpPr/>
          <p:nvPr/>
        </p:nvSpPr>
        <p:spPr>
          <a:xfrm>
            <a:off x="731520" y="3291840"/>
            <a:ext cx="5486400" cy="365760"/>
          </a:xfrm>
          <a:prstGeom prst="rect">
            <a:avLst/>
          </a:prstGeom>
          <a:noFill/>
          <a:ln/>
        </p:spPr>
        <p:txBody>
          <a:bodyPr wrap="square" lIns="0" tIns="0" rIns="0" bIns="0" rtlCol="0" anchor="ctr"/>
          <a:lstStyle/>
          <a:p>
            <a:pPr indent="0" marL="0">
              <a:buNone/>
            </a:pPr>
            <a:r>
              <a:rPr lang="en-US" sz="1300" b="1" spc="500" kern="0" dirty="0">
                <a:solidFill>
                  <a:srgbClr val="FF2A6D"/>
                </a:solidFill>
                <a:latin typeface="Consolas" pitchFamily="34" charset="0"/>
                <a:ea typeface="Consolas" pitchFamily="34" charset="-122"/>
                <a:cs typeface="Consolas" pitchFamily="34" charset="-120"/>
              </a:rPr>
              <a:t>REFERENCES</a:t>
            </a:r>
            <a:endParaRPr lang="en-US" sz="1300" dirty="0"/>
          </a:p>
        </p:txBody>
      </p:sp>
      <p:sp>
        <p:nvSpPr>
          <p:cNvPr id="8" name="Shape 6"/>
          <p:cNvSpPr/>
          <p:nvPr/>
        </p:nvSpPr>
        <p:spPr>
          <a:xfrm>
            <a:off x="731520" y="3822192"/>
            <a:ext cx="109728" cy="109728"/>
          </a:xfrm>
          <a:prstGeom prst="rect">
            <a:avLst/>
          </a:prstGeom>
          <a:solidFill>
            <a:srgbClr val="00F0FF"/>
          </a:solidFill>
          <a:ln/>
        </p:spPr>
      </p:sp>
      <p:sp>
        <p:nvSpPr>
          <p:cNvPr id="9" name="Text 7"/>
          <p:cNvSpPr/>
          <p:nvPr/>
        </p:nvSpPr>
        <p:spPr>
          <a:xfrm>
            <a:off x="960120" y="3703320"/>
            <a:ext cx="5349240" cy="365760"/>
          </a:xfrm>
          <a:prstGeom prst="rect">
            <a:avLst/>
          </a:prstGeom>
          <a:noFill/>
          <a:ln/>
        </p:spPr>
        <p:txBody>
          <a:bodyPr wrap="square" lIns="0" tIns="0" rIns="0" bIns="0" rtlCol="0" anchor="ctr"/>
          <a:lstStyle/>
          <a:p>
            <a:pPr indent="0" marL="0">
              <a:buNone/>
            </a:pPr>
            <a:r>
              <a:rPr lang="en-US" sz="1100" dirty="0">
                <a:solidFill>
                  <a:srgbClr val="A8B2D1"/>
                </a:solidFill>
                <a:latin typeface="Calibri" pitchFamily="34" charset="0"/>
                <a:ea typeface="Calibri" pitchFamily="34" charset="-122"/>
                <a:cs typeface="Calibri" pitchFamily="34" charset="-120"/>
              </a:rPr>
              <a:t>Unity Technologies — Unity Manual: 2D Game Development</a:t>
            </a:r>
            <a:endParaRPr lang="en-US" sz="1100" dirty="0"/>
          </a:p>
        </p:txBody>
      </p:sp>
      <p:sp>
        <p:nvSpPr>
          <p:cNvPr id="10" name="Shape 8"/>
          <p:cNvSpPr/>
          <p:nvPr/>
        </p:nvSpPr>
        <p:spPr>
          <a:xfrm>
            <a:off x="731520" y="4206240"/>
            <a:ext cx="109728" cy="109728"/>
          </a:xfrm>
          <a:prstGeom prst="rect">
            <a:avLst/>
          </a:prstGeom>
          <a:solidFill>
            <a:srgbClr val="00F0FF"/>
          </a:solidFill>
          <a:ln/>
        </p:spPr>
      </p:sp>
      <p:sp>
        <p:nvSpPr>
          <p:cNvPr id="11" name="Text 9"/>
          <p:cNvSpPr/>
          <p:nvPr/>
        </p:nvSpPr>
        <p:spPr>
          <a:xfrm>
            <a:off x="960120" y="4087368"/>
            <a:ext cx="5349240" cy="365760"/>
          </a:xfrm>
          <a:prstGeom prst="rect">
            <a:avLst/>
          </a:prstGeom>
          <a:noFill/>
          <a:ln/>
        </p:spPr>
        <p:txBody>
          <a:bodyPr wrap="square" lIns="0" tIns="0" rIns="0" bIns="0" rtlCol="0" anchor="ctr"/>
          <a:lstStyle/>
          <a:p>
            <a:pPr indent="0" marL="0">
              <a:buNone/>
            </a:pPr>
            <a:r>
              <a:rPr lang="en-US" sz="1100" dirty="0">
                <a:solidFill>
                  <a:srgbClr val="A8B2D1"/>
                </a:solidFill>
                <a:latin typeface="Calibri" pitchFamily="34" charset="0"/>
                <a:ea typeface="Calibri" pitchFamily="34" charset="-122"/>
                <a:cs typeface="Calibri" pitchFamily="34" charset="-120"/>
              </a:rPr>
              <a:t>Unity Technologies — Scripting API: MonoBehaviour, Rigidbody2D, PlayerPrefs</a:t>
            </a:r>
            <a:endParaRPr lang="en-US" sz="1100" dirty="0"/>
          </a:p>
        </p:txBody>
      </p:sp>
      <p:sp>
        <p:nvSpPr>
          <p:cNvPr id="12" name="Shape 10"/>
          <p:cNvSpPr/>
          <p:nvPr/>
        </p:nvSpPr>
        <p:spPr>
          <a:xfrm>
            <a:off x="731520" y="4590288"/>
            <a:ext cx="109728" cy="109728"/>
          </a:xfrm>
          <a:prstGeom prst="rect">
            <a:avLst/>
          </a:prstGeom>
          <a:solidFill>
            <a:srgbClr val="00F0FF"/>
          </a:solidFill>
          <a:ln/>
        </p:spPr>
      </p:sp>
      <p:sp>
        <p:nvSpPr>
          <p:cNvPr id="13" name="Text 11"/>
          <p:cNvSpPr/>
          <p:nvPr/>
        </p:nvSpPr>
        <p:spPr>
          <a:xfrm>
            <a:off x="960120" y="4471416"/>
            <a:ext cx="5349240" cy="365760"/>
          </a:xfrm>
          <a:prstGeom prst="rect">
            <a:avLst/>
          </a:prstGeom>
          <a:noFill/>
          <a:ln/>
        </p:spPr>
        <p:txBody>
          <a:bodyPr wrap="square" lIns="0" tIns="0" rIns="0" bIns="0" rtlCol="0" anchor="ctr"/>
          <a:lstStyle/>
          <a:p>
            <a:pPr indent="0" marL="0">
              <a:buNone/>
            </a:pPr>
            <a:r>
              <a:rPr lang="en-US" sz="1100" dirty="0">
                <a:solidFill>
                  <a:srgbClr val="A8B2D1"/>
                </a:solidFill>
                <a:latin typeface="Calibri" pitchFamily="34" charset="0"/>
                <a:ea typeface="Calibri" pitchFamily="34" charset="-122"/>
                <a:cs typeface="Calibri" pitchFamily="34" charset="-120"/>
              </a:rPr>
              <a:t>Unity Technologies — Input System Package Documentation</a:t>
            </a:r>
            <a:endParaRPr lang="en-US" sz="1100" dirty="0"/>
          </a:p>
        </p:txBody>
      </p:sp>
      <p:sp>
        <p:nvSpPr>
          <p:cNvPr id="14" name="Shape 12"/>
          <p:cNvSpPr/>
          <p:nvPr/>
        </p:nvSpPr>
        <p:spPr>
          <a:xfrm>
            <a:off x="6309360" y="3822192"/>
            <a:ext cx="109728" cy="109728"/>
          </a:xfrm>
          <a:prstGeom prst="rect">
            <a:avLst/>
          </a:prstGeom>
          <a:solidFill>
            <a:srgbClr val="00F0FF"/>
          </a:solidFill>
          <a:ln/>
        </p:spPr>
      </p:sp>
      <p:sp>
        <p:nvSpPr>
          <p:cNvPr id="15" name="Text 13"/>
          <p:cNvSpPr/>
          <p:nvPr/>
        </p:nvSpPr>
        <p:spPr>
          <a:xfrm>
            <a:off x="6537960" y="3703320"/>
            <a:ext cx="5349240" cy="365760"/>
          </a:xfrm>
          <a:prstGeom prst="rect">
            <a:avLst/>
          </a:prstGeom>
          <a:noFill/>
          <a:ln/>
        </p:spPr>
        <p:txBody>
          <a:bodyPr wrap="square" lIns="0" tIns="0" rIns="0" bIns="0" rtlCol="0" anchor="ctr"/>
          <a:lstStyle/>
          <a:p>
            <a:pPr indent="0" marL="0">
              <a:buNone/>
            </a:pPr>
            <a:r>
              <a:rPr lang="en-US" sz="1100" dirty="0">
                <a:solidFill>
                  <a:srgbClr val="A8B2D1"/>
                </a:solidFill>
                <a:latin typeface="Calibri" pitchFamily="34" charset="0"/>
                <a:ea typeface="Calibri" pitchFamily="34" charset="-122"/>
                <a:cs typeface="Calibri" pitchFamily="34" charset="-120"/>
              </a:rPr>
              <a:t>Microsoft — C# Language Reference</a:t>
            </a:r>
            <a:endParaRPr lang="en-US" sz="1100" dirty="0"/>
          </a:p>
        </p:txBody>
      </p:sp>
      <p:sp>
        <p:nvSpPr>
          <p:cNvPr id="16" name="Shape 14"/>
          <p:cNvSpPr/>
          <p:nvPr/>
        </p:nvSpPr>
        <p:spPr>
          <a:xfrm>
            <a:off x="6309360" y="4206240"/>
            <a:ext cx="109728" cy="109728"/>
          </a:xfrm>
          <a:prstGeom prst="rect">
            <a:avLst/>
          </a:prstGeom>
          <a:solidFill>
            <a:srgbClr val="00F0FF"/>
          </a:solidFill>
          <a:ln/>
        </p:spPr>
      </p:sp>
      <p:sp>
        <p:nvSpPr>
          <p:cNvPr id="17" name="Text 15"/>
          <p:cNvSpPr/>
          <p:nvPr/>
        </p:nvSpPr>
        <p:spPr>
          <a:xfrm>
            <a:off x="6537960" y="4087368"/>
            <a:ext cx="5349240" cy="365760"/>
          </a:xfrm>
          <a:prstGeom prst="rect">
            <a:avLst/>
          </a:prstGeom>
          <a:noFill/>
          <a:ln/>
        </p:spPr>
        <p:txBody>
          <a:bodyPr wrap="square" lIns="0" tIns="0" rIns="0" bIns="0" rtlCol="0" anchor="ctr"/>
          <a:lstStyle/>
          <a:p>
            <a:pPr indent="0" marL="0">
              <a:buNone/>
            </a:pPr>
            <a:r>
              <a:rPr lang="en-US" sz="1100" dirty="0">
                <a:solidFill>
                  <a:srgbClr val="A8B2D1"/>
                </a:solidFill>
                <a:latin typeface="Calibri" pitchFamily="34" charset="0"/>
                <a:ea typeface="Calibri" pitchFamily="34" charset="-122"/>
                <a:cs typeface="Calibri" pitchFamily="34" charset="-120"/>
              </a:rPr>
              <a:t>Brackeys (2020) — How to make a 2D Shooter in Unity (YouTube series)</a:t>
            </a:r>
            <a:endParaRPr lang="en-US" sz="1100" dirty="0"/>
          </a:p>
        </p:txBody>
      </p:sp>
      <p:sp>
        <p:nvSpPr>
          <p:cNvPr id="18" name="Shape 16"/>
          <p:cNvSpPr/>
          <p:nvPr/>
        </p:nvSpPr>
        <p:spPr>
          <a:xfrm>
            <a:off x="6309360" y="4590288"/>
            <a:ext cx="109728" cy="109728"/>
          </a:xfrm>
          <a:prstGeom prst="rect">
            <a:avLst/>
          </a:prstGeom>
          <a:solidFill>
            <a:srgbClr val="00F0FF"/>
          </a:solidFill>
          <a:ln/>
        </p:spPr>
      </p:sp>
      <p:sp>
        <p:nvSpPr>
          <p:cNvPr id="19" name="Text 17"/>
          <p:cNvSpPr/>
          <p:nvPr/>
        </p:nvSpPr>
        <p:spPr>
          <a:xfrm>
            <a:off x="6537960" y="4471416"/>
            <a:ext cx="5349240" cy="365760"/>
          </a:xfrm>
          <a:prstGeom prst="rect">
            <a:avLst/>
          </a:prstGeom>
          <a:noFill/>
          <a:ln/>
        </p:spPr>
        <p:txBody>
          <a:bodyPr wrap="square" lIns="0" tIns="0" rIns="0" bIns="0" rtlCol="0" anchor="ctr"/>
          <a:lstStyle/>
          <a:p>
            <a:pPr indent="0" marL="0">
              <a:buNone/>
            </a:pPr>
            <a:r>
              <a:rPr lang="en-US" sz="1100" dirty="0">
                <a:solidFill>
                  <a:srgbClr val="A8B2D1"/>
                </a:solidFill>
                <a:latin typeface="Calibri" pitchFamily="34" charset="0"/>
                <a:ea typeface="Calibri" pitchFamily="34" charset="-122"/>
                <a:cs typeface="Calibri" pitchFamily="34" charset="-120"/>
              </a:rPr>
              <a:t>Gregory, J. (2018) — Game Engine Architecture (3rd ed.), CRC Press</a:t>
            </a:r>
            <a:endParaRPr lang="en-US" sz="1100" dirty="0"/>
          </a:p>
        </p:txBody>
      </p:sp>
      <p:sp>
        <p:nvSpPr>
          <p:cNvPr id="20" name="Shape 18"/>
          <p:cNvSpPr/>
          <p:nvPr/>
        </p:nvSpPr>
        <p:spPr>
          <a:xfrm>
            <a:off x="731520" y="5669280"/>
            <a:ext cx="10728655" cy="36576"/>
          </a:xfrm>
          <a:prstGeom prst="rect">
            <a:avLst/>
          </a:prstGeom>
          <a:solidFill>
            <a:srgbClr val="2A3360"/>
          </a:solidFill>
          <a:ln/>
        </p:spPr>
      </p:sp>
      <p:sp>
        <p:nvSpPr>
          <p:cNvPr id="21" name="Text 19"/>
          <p:cNvSpPr/>
          <p:nvPr/>
        </p:nvSpPr>
        <p:spPr>
          <a:xfrm>
            <a:off x="731520" y="5852160"/>
            <a:ext cx="640080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Manasvi  •  Kavya Mital  •  Divyanshu Sharma</a:t>
            </a:r>
            <a:endParaRPr lang="en-US" sz="1400" dirty="0"/>
          </a:p>
        </p:txBody>
      </p:sp>
      <p:sp>
        <p:nvSpPr>
          <p:cNvPr id="22" name="Text 20"/>
          <p:cNvSpPr/>
          <p:nvPr/>
        </p:nvSpPr>
        <p:spPr>
          <a:xfrm>
            <a:off x="731520" y="6172200"/>
            <a:ext cx="6400800" cy="274320"/>
          </a:xfrm>
          <a:prstGeom prst="rect">
            <a:avLst/>
          </a:prstGeom>
          <a:noFill/>
          <a:ln/>
        </p:spPr>
        <p:txBody>
          <a:bodyPr wrap="square" lIns="0" tIns="0" rIns="0" bIns="0" rtlCol="0" anchor="ctr"/>
          <a:lstStyle/>
          <a:p>
            <a:pPr indent="0" marL="0">
              <a:buNone/>
            </a:pPr>
            <a:r>
              <a:rPr lang="en-US" sz="1100" i="1" dirty="0">
                <a:solidFill>
                  <a:srgbClr val="6B7494"/>
                </a:solidFill>
                <a:latin typeface="Calibri" pitchFamily="34" charset="0"/>
                <a:ea typeface="Calibri" pitchFamily="34" charset="-122"/>
                <a:cs typeface="Calibri" pitchFamily="34" charset="-120"/>
              </a:rPr>
              <a:t>Department of CSE, Chitkara University</a:t>
            </a:r>
            <a:endParaRPr lang="en-US" sz="1100" dirty="0"/>
          </a:p>
        </p:txBody>
      </p:sp>
      <p:pic>
        <p:nvPicPr>
          <p:cNvPr id="23" name="Image 0" descr="preencoded.png"/>
          <p:cNvPicPr>
            <a:picLocks noChangeAspect="1"/>
          </p:cNvPicPr>
          <p:nvPr/>
        </p:nvPicPr>
        <p:blipFill>
          <a:blip r:embed="rId1"/>
          <a:stretch>
            <a:fillRect/>
          </a:stretch>
        </p:blipFill>
        <p:spPr>
          <a:xfrm>
            <a:off x="6858000" y="5852160"/>
            <a:ext cx="292608" cy="292608"/>
          </a:xfrm>
          <a:prstGeom prst="rect">
            <a:avLst/>
          </a:prstGeom>
        </p:spPr>
      </p:pic>
      <p:sp>
        <p:nvSpPr>
          <p:cNvPr id="24" name="Text 21"/>
          <p:cNvSpPr/>
          <p:nvPr/>
        </p:nvSpPr>
        <p:spPr>
          <a:xfrm>
            <a:off x="7223760" y="5852160"/>
            <a:ext cx="4937760" cy="292608"/>
          </a:xfrm>
          <a:prstGeom prst="rect">
            <a:avLst/>
          </a:prstGeom>
          <a:noFill/>
          <a:ln/>
        </p:spPr>
        <p:txBody>
          <a:bodyPr wrap="square" lIns="0" tIns="0" rIns="0" bIns="0" rtlCol="0" anchor="ctr"/>
          <a:lstStyle/>
          <a:p>
            <a:pPr indent="0" marL="0">
              <a:buNone/>
            </a:pPr>
            <a:r>
              <a:rPr lang="en-US" sz="1200" b="1" dirty="0">
                <a:solidFill>
                  <a:srgbClr val="00F0FF"/>
                </a:solidFill>
                <a:latin typeface="Consolas" pitchFamily="34" charset="0"/>
                <a:ea typeface="Consolas" pitchFamily="34" charset="-122"/>
                <a:cs typeface="Consolas" pitchFamily="34" charset="-120"/>
              </a:rPr>
              <a:t>manasvi8274.itch.io/2d-shooter-game</a:t>
            </a:r>
            <a:endParaRPr lang="en-US" sz="1200" dirty="0"/>
          </a:p>
        </p:txBody>
      </p:sp>
      <p:sp>
        <p:nvSpPr>
          <p:cNvPr id="25" name="Text 22"/>
          <p:cNvSpPr/>
          <p:nvPr/>
        </p:nvSpPr>
        <p:spPr>
          <a:xfrm>
            <a:off x="7223760" y="6126480"/>
            <a:ext cx="4937760" cy="256032"/>
          </a:xfrm>
          <a:prstGeom prst="rect">
            <a:avLst/>
          </a:prstGeom>
          <a:noFill/>
          <a:ln/>
        </p:spPr>
        <p:txBody>
          <a:bodyPr wrap="square" lIns="0" tIns="0" rIns="0" bIns="0" rtlCol="0" anchor="ctr"/>
          <a:lstStyle/>
          <a:p>
            <a:pPr indent="0" marL="0">
              <a:buNone/>
            </a:pPr>
            <a:r>
              <a:rPr lang="en-US" sz="900" b="1" spc="200" kern="0" dirty="0">
                <a:solidFill>
                  <a:srgbClr val="FF2A6D"/>
                </a:solidFill>
                <a:latin typeface="Consolas" pitchFamily="34" charset="0"/>
                <a:ea typeface="Consolas" pitchFamily="34" charset="-122"/>
                <a:cs typeface="Consolas" pitchFamily="34" charset="-120"/>
              </a:rPr>
              <a:t>PLAY NOW   •   WebGL build hosted on itch.io</a:t>
            </a:r>
            <a:endParaRPr lang="en-US" sz="900" dirty="0"/>
          </a:p>
        </p:txBody>
      </p:sp>
      <p:pic>
        <p:nvPicPr>
          <p:cNvPr id="26" name="Image 1" descr="preencoded.png"/>
          <p:cNvPicPr>
            <a:picLocks noChangeAspect="1"/>
          </p:cNvPicPr>
          <p:nvPr/>
        </p:nvPicPr>
        <p:blipFill>
          <a:blip r:embed="rId2"/>
          <a:stretch>
            <a:fillRect/>
          </a:stretch>
        </p:blipFill>
        <p:spPr>
          <a:xfrm>
            <a:off x="6858000" y="6446520"/>
            <a:ext cx="219456" cy="219456"/>
          </a:xfrm>
          <a:prstGeom prst="rect">
            <a:avLst/>
          </a:prstGeom>
        </p:spPr>
      </p:pic>
      <p:sp>
        <p:nvSpPr>
          <p:cNvPr id="27" name="Text 23"/>
          <p:cNvSpPr/>
          <p:nvPr/>
        </p:nvSpPr>
        <p:spPr>
          <a:xfrm>
            <a:off x="7223760" y="6446520"/>
            <a:ext cx="4937760" cy="256032"/>
          </a:xfrm>
          <a:prstGeom prst="rect">
            <a:avLst/>
          </a:prstGeom>
          <a:noFill/>
          <a:ln/>
        </p:spPr>
        <p:txBody>
          <a:bodyPr wrap="square" lIns="0" tIns="0" rIns="0" bIns="0" rtlCol="0" anchor="ctr"/>
          <a:lstStyle/>
          <a:p>
            <a:pPr indent="0" marL="0">
              <a:buNone/>
            </a:pPr>
            <a:r>
              <a:rPr lang="en-US" sz="1000" dirty="0">
                <a:solidFill>
                  <a:srgbClr val="A8B2D1"/>
                </a:solidFill>
                <a:latin typeface="Consolas" pitchFamily="34" charset="0"/>
                <a:ea typeface="Consolas" pitchFamily="34" charset="-122"/>
                <a:cs typeface="Consolas" pitchFamily="34" charset="-120"/>
              </a:rPr>
              <a:t>github.com/Manasvi8274/2DshooterGame-...</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2D Shooter Game — Project Report</dc:title>
  <dc:subject>PptxGenJS Presentation</dc:subject>
  <dc:creator>Manasvi, Kavya Mital, Divyanshu Sharma</dc:creator>
  <cp:lastModifiedBy>Manasvi, Kavya Mital, Divyanshu Sharma</cp:lastModifiedBy>
  <cp:revision>1</cp:revision>
  <dcterms:created xsi:type="dcterms:W3CDTF">2026-05-05T16:14:17Z</dcterms:created>
  <dcterms:modified xsi:type="dcterms:W3CDTF">2026-05-05T16:14:17Z</dcterms:modified>
</cp:coreProperties>
</file>